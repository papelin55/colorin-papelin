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Lst>
  <p:sldSz cy="6858000" cx="12192000"/>
  <p:notesSz cx="6858000" cy="9144000"/>
  <p:embeddedFontLst>
    <p:embeddedFont>
      <p:font typeface="Cabin"/>
      <p:regular r:id="rId60"/>
      <p:bold r:id="rId61"/>
      <p:italic r:id="rId62"/>
      <p:boldItalic r:id="rId63"/>
    </p:embeddedFont>
    <p:embeddedFont>
      <p:font typeface="Work Sans"/>
      <p:regular r:id="rId64"/>
      <p:bold r:id="rId65"/>
      <p:italic r:id="rId66"/>
      <p:boldItalic r:id="rId6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568">
          <p15:clr>
            <a:srgbClr val="A4A3A4"/>
          </p15:clr>
        </p15:guide>
        <p15:guide id="2" pos="3840">
          <p15:clr>
            <a:srgbClr val="A4A3A4"/>
          </p15:clr>
        </p15:guide>
        <p15:guide id="3" orient="horz" pos="187">
          <p15:clr>
            <a:srgbClr val="A4A3A4"/>
          </p15:clr>
        </p15:guide>
      </p15:sldGuideLst>
    </p:ext>
    <p:ext uri="GoogleSlidesCustomDataVersion2">
      <go:slidesCustomData xmlns:go="http://customooxmlschemas.google.com/" r:id="rId68" roundtripDataSignature="AMtx7mj/9IBlrekUlos11xFxzvBU+zmJE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E162717-495E-49A1-95A1-FCD24B269607}">
  <a:tblStyle styleId="{9E162717-495E-49A1-95A1-FCD24B269607}"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1F3786CA-8E7E-46C4-8C7D-C98C2926EA20}" styleName="Table_1">
    <a:wholeTbl>
      <a:tcTxStyle b="off" i="off">
        <a:font>
          <a:latin typeface="Arial"/>
          <a:ea typeface="Arial"/>
          <a:cs typeface="Arial"/>
        </a:font>
        <a:srgbClr val="000000"/>
      </a:tcTxStyle>
      <a:tcStyle>
        <a:tcBdr>
          <a:left>
            <a:ln cap="flat" cmpd="sng" w="9525">
              <a:solidFill>
                <a:srgbClr val="000000"/>
              </a:solidFill>
              <a:prstDash val="solid"/>
              <a:round/>
              <a:headEnd len="sm" w="sm" type="none"/>
              <a:tailEnd len="sm" w="sm" type="none"/>
            </a:ln>
          </a:left>
          <a:right>
            <a:ln cap="flat" cmpd="sng" w="9525">
              <a:solidFill>
                <a:srgbClr val="000000"/>
              </a:solidFill>
              <a:prstDash val="solid"/>
              <a:round/>
              <a:headEnd len="sm" w="sm" type="none"/>
              <a:tailEnd len="sm" w="sm" type="none"/>
            </a:ln>
          </a:right>
          <a:top>
            <a:ln cap="flat" cmpd="sng" w="9525">
              <a:solidFill>
                <a:srgbClr val="000000"/>
              </a:solidFill>
              <a:prstDash val="solid"/>
              <a:round/>
              <a:headEnd len="sm" w="sm" type="none"/>
              <a:tailEnd len="sm" w="sm" type="none"/>
            </a:ln>
          </a:top>
          <a:bottom>
            <a:ln cap="flat" cmpd="sng" w="9525">
              <a:solidFill>
                <a:srgbClr val="000000"/>
              </a:solidFill>
              <a:prstDash val="solid"/>
              <a:round/>
              <a:headEnd len="sm" w="sm" type="none"/>
              <a:tailEnd len="sm" w="sm" type="none"/>
            </a:ln>
          </a:bottom>
          <a:insideH>
            <a:ln cap="flat" cmpd="sng" w="9525">
              <a:solidFill>
                <a:srgbClr val="000000"/>
              </a:solidFill>
              <a:prstDash val="solid"/>
              <a:round/>
              <a:headEnd len="sm" w="sm" type="none"/>
              <a:tailEnd len="sm" w="sm" type="none"/>
            </a:ln>
          </a:insideH>
          <a:insideV>
            <a:ln cap="flat" cmpd="sng" w="9525">
              <a:solidFill>
                <a:srgbClr val="000000"/>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568" orient="horz"/>
        <p:guide pos="3840"/>
        <p:guide pos="187"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Cabin-italic.fntdata"/><Relationship Id="rId61" Type="http://schemas.openxmlformats.org/officeDocument/2006/relationships/font" Target="fonts/Cabin-bold.fntdata"/><Relationship Id="rId20" Type="http://schemas.openxmlformats.org/officeDocument/2006/relationships/slide" Target="slides/slide14.xml"/><Relationship Id="rId64" Type="http://schemas.openxmlformats.org/officeDocument/2006/relationships/font" Target="fonts/WorkSans-regular.fntdata"/><Relationship Id="rId63" Type="http://schemas.openxmlformats.org/officeDocument/2006/relationships/font" Target="fonts/Cabin-boldItalic.fntdata"/><Relationship Id="rId22" Type="http://schemas.openxmlformats.org/officeDocument/2006/relationships/slide" Target="slides/slide16.xml"/><Relationship Id="rId66" Type="http://schemas.openxmlformats.org/officeDocument/2006/relationships/font" Target="fonts/WorkSans-italic.fntdata"/><Relationship Id="rId21" Type="http://schemas.openxmlformats.org/officeDocument/2006/relationships/slide" Target="slides/slide15.xml"/><Relationship Id="rId65" Type="http://schemas.openxmlformats.org/officeDocument/2006/relationships/font" Target="fonts/WorkSans-bold.fntdata"/><Relationship Id="rId24" Type="http://schemas.openxmlformats.org/officeDocument/2006/relationships/slide" Target="slides/slide18.xml"/><Relationship Id="rId68" Type="http://customschemas.google.com/relationships/presentationmetadata" Target="metadata"/><Relationship Id="rId23" Type="http://schemas.openxmlformats.org/officeDocument/2006/relationships/slide" Target="slides/slide17.xml"/><Relationship Id="rId67" Type="http://schemas.openxmlformats.org/officeDocument/2006/relationships/font" Target="fonts/WorkSans-boldItalic.fntdata"/><Relationship Id="rId60" Type="http://schemas.openxmlformats.org/officeDocument/2006/relationships/font" Target="fonts/Cabin-regular.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s-MX"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79" name="Google Shape;79;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85" name="Google Shape;8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 name="Google Shape;92;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 name="Google Shape;99;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 name="Google Shape;105;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113" name="Google Shape;11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120" name="Google Shape;12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8" name="Google Shape;12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7" name="Google Shape;13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146" name="Google Shape;14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152" name="Google Shape;15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158" name="Google Shape;15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165" name="Google Shape;16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172" name="Google Shape;17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8" name="Google Shape;178;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4" name="Google Shape;194;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202" name="Google Shape;202;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8" name="Google Shape;208;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3" name="Google Shape;223;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241" name="Google Shape;241;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7" name="Google Shape;247;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263" name="Google Shape;263;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9" name="Google Shape;269;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275" name="Google Shape;275;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281" name="Google Shape;281;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290" name="Google Shape;290;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299" name="Google Shape;299;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307" name="Google Shape;307;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316" name="Google Shape;316;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324" name="Google Shape;324;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0" name="Google Shape;330;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0" name="Google Shape;340;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2" name="Google Shape;352;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5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7" name="Google Shape;357;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5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2" name="Google Shape;362;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5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8" name="Google Shape;368;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2" name="Google Shape;382;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5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7" name="Google Shape;387;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5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3" name="Google Shape;393;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5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8" name="Google Shape;398;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5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4" name="Google Shape;404;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5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5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7" name="Google Shape;417;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3ed651dca4a_1_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3" name="Google Shape;423;g3ed651dca4a_1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3ed651dca4a_1_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9" name="Google Shape;429;g3ed651dca4a_1_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3ed651dca4a_1_5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8" name="Google Shape;438;g3ed651dca4a_1_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3ed651dca4a_1_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4" name="Google Shape;444;g3ed651dca4a_1_5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5" name="Google Shape;445;g3ed651dca4a_1_5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s-MX"/>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3fb872700b3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1" name="Google Shape;451;g3fb872700b3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2" name="Google Shape;452;g3fb872700b3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s-MX"/>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4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7" name="Google Shape;457;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462" name="Google Shape;46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15" name="Shape 15"/>
        <p:cNvGrpSpPr/>
        <p:nvPr/>
      </p:nvGrpSpPr>
      <p:grpSpPr>
        <a:xfrm>
          <a:off x="0" y="0"/>
          <a:ext cx="0" cy="0"/>
          <a:chOff x="0" y="0"/>
          <a:chExt cx="0" cy="0"/>
        </a:xfrm>
      </p:grpSpPr>
      <p:sp>
        <p:nvSpPr>
          <p:cNvPr id="16" name="Google Shape;16;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19" name="Shape 19"/>
        <p:cNvGrpSpPr/>
        <p:nvPr/>
      </p:nvGrpSpPr>
      <p:grpSpPr>
        <a:xfrm>
          <a:off x="0" y="0"/>
          <a:ext cx="0" cy="0"/>
          <a:chOff x="0" y="0"/>
          <a:chExt cx="0" cy="0"/>
        </a:xfrm>
      </p:grpSpPr>
      <p:sp>
        <p:nvSpPr>
          <p:cNvPr id="20" name="Google Shape;20;p1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2" name="Google Shape;22;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25" name="Shape 25"/>
        <p:cNvGrpSpPr/>
        <p:nvPr/>
      </p:nvGrpSpPr>
      <p:grpSpPr>
        <a:xfrm>
          <a:off x="0" y="0"/>
          <a:ext cx="0" cy="0"/>
          <a:chOff x="0" y="0"/>
          <a:chExt cx="0" cy="0"/>
        </a:xfrm>
      </p:grpSpPr>
      <p:sp>
        <p:nvSpPr>
          <p:cNvPr id="26" name="Google Shape;26;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1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32" name="Shape 32"/>
        <p:cNvGrpSpPr/>
        <p:nvPr/>
      </p:nvGrpSpPr>
      <p:grpSpPr>
        <a:xfrm>
          <a:off x="0" y="0"/>
          <a:ext cx="0" cy="0"/>
          <a:chOff x="0" y="0"/>
          <a:chExt cx="0" cy="0"/>
        </a:xfrm>
      </p:grpSpPr>
      <p:sp>
        <p:nvSpPr>
          <p:cNvPr id="33" name="Google Shape;33;p1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1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5" name="Google Shape;35;p1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1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7" name="Google Shape;37;p1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41" name="Shape 41"/>
        <p:cNvGrpSpPr/>
        <p:nvPr/>
      </p:nvGrpSpPr>
      <p:grpSpPr>
        <a:xfrm>
          <a:off x="0" y="0"/>
          <a:ext cx="0" cy="0"/>
          <a:chOff x="0" y="0"/>
          <a:chExt cx="0" cy="0"/>
        </a:xfrm>
      </p:grpSpPr>
      <p:sp>
        <p:nvSpPr>
          <p:cNvPr id="42" name="Google Shape;42;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46" name="Shape 46"/>
        <p:cNvGrpSpPr/>
        <p:nvPr/>
      </p:nvGrpSpPr>
      <p:grpSpPr>
        <a:xfrm>
          <a:off x="0" y="0"/>
          <a:ext cx="0" cy="0"/>
          <a:chOff x="0" y="0"/>
          <a:chExt cx="0" cy="0"/>
        </a:xfrm>
      </p:grpSpPr>
      <p:sp>
        <p:nvSpPr>
          <p:cNvPr id="47" name="Google Shape;47;p1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49" name="Google Shape;49;p1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0" name="Google Shape;50;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53" name="Shape 53"/>
        <p:cNvGrpSpPr/>
        <p:nvPr/>
      </p:nvGrpSpPr>
      <p:grpSpPr>
        <a:xfrm>
          <a:off x="0" y="0"/>
          <a:ext cx="0" cy="0"/>
          <a:chOff x="0" y="0"/>
          <a:chExt cx="0" cy="0"/>
        </a:xfrm>
      </p:grpSpPr>
      <p:sp>
        <p:nvSpPr>
          <p:cNvPr id="54" name="Google Shape;54;p2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0"/>
          <p:cNvSpPr/>
          <p:nvPr>
            <p:ph idx="2" type="pic"/>
          </p:nvPr>
        </p:nvSpPr>
        <p:spPr>
          <a:xfrm>
            <a:off x="5183188" y="987425"/>
            <a:ext cx="6172200" cy="4873625"/>
          </a:xfrm>
          <a:prstGeom prst="rect">
            <a:avLst/>
          </a:prstGeom>
          <a:noFill/>
          <a:ln>
            <a:noFill/>
          </a:ln>
        </p:spPr>
      </p:sp>
      <p:sp>
        <p:nvSpPr>
          <p:cNvPr id="56" name="Google Shape;56;p2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7" name="Google Shape;57;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60" name="Shape 60"/>
        <p:cNvGrpSpPr/>
        <p:nvPr/>
      </p:nvGrpSpPr>
      <p:grpSpPr>
        <a:xfrm>
          <a:off x="0" y="0"/>
          <a:ext cx="0" cy="0"/>
          <a:chOff x="0" y="0"/>
          <a:chExt cx="0" cy="0"/>
        </a:xfrm>
      </p:grpSpPr>
      <p:sp>
        <p:nvSpPr>
          <p:cNvPr id="61" name="Google Shape;61;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2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 name="Google Shape;63;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66" name="Shape 66"/>
        <p:cNvGrpSpPr/>
        <p:nvPr/>
      </p:nvGrpSpPr>
      <p:grpSpPr>
        <a:xfrm>
          <a:off x="0" y="0"/>
          <a:ext cx="0" cy="0"/>
          <a:chOff x="0" y="0"/>
          <a:chExt cx="0" cy="0"/>
        </a:xfrm>
      </p:grpSpPr>
      <p:sp>
        <p:nvSpPr>
          <p:cNvPr id="67" name="Google Shape;67;p2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2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 name="Google Shape;69;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eño personalizado">
  <p:cSld name="Diseño personalizado">
    <p:bg>
      <p:bgPr>
        <a:blipFill>
          <a:blip r:embed="rId2">
            <a:alphaModFix/>
          </a:blip>
          <a:stretch>
            <a:fillRect/>
          </a:stretch>
        </a:blipFill>
      </p:bgPr>
    </p:bg>
    <p:spTree>
      <p:nvGrpSpPr>
        <p:cNvPr id="72" name="Shape 72"/>
        <p:cNvGrpSpPr/>
        <p:nvPr/>
      </p:nvGrpSpPr>
      <p:grpSpPr>
        <a:xfrm>
          <a:off x="0" y="0"/>
          <a:ext cx="0" cy="0"/>
          <a:chOff x="0" y="0"/>
          <a:chExt cx="0" cy="0"/>
        </a:xfrm>
      </p:grpSpPr>
      <p:sp>
        <p:nvSpPr>
          <p:cNvPr id="73" name="Google Shape;73;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1.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jp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0.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0.jpg"/><Relationship Id="rId4" Type="http://schemas.openxmlformats.org/officeDocument/2006/relationships/image" Target="../media/image9.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0.jpg"/><Relationship Id="rId4" Type="http://schemas.openxmlformats.org/officeDocument/2006/relationships/image" Target="../media/image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jp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3.jpg"/><Relationship Id="rId4" Type="http://schemas.openxmlformats.org/officeDocument/2006/relationships/hyperlink" Target="https://drive.google.com/file/d/1koc0Sx-HXl-C-xzNykk7RZsCzqXWBf-9/view?usp=drive_link" TargetMode="External"/><Relationship Id="rId5"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0.jp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0.jp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hyperlink" Target="https://docs.google.com/document/d/1NcL0XRJ8BUhG5pALYTgR2yFPm0kVtEsh/edit?usp=drive_link&amp;ouid=102381677448953964721&amp;rtpof=true&amp;sd=true" TargetMode="External"/><Relationship Id="rId5" Type="http://schemas.openxmlformats.org/officeDocument/2006/relationships/image" Target="../media/image14.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4.png"/><Relationship Id="rId4" Type="http://schemas.openxmlformats.org/officeDocument/2006/relationships/hyperlink" Target="https://docs.google.com/document/d/1NcL0XRJ8BUhG5pALYTgR2yFPm0kVtEsh/edit?usp=drive_link&amp;ouid=102381677448953964721&amp;rtpof=true&amp;sd=true" TargetMode="External"/><Relationship Id="rId5" Type="http://schemas.openxmlformats.org/officeDocument/2006/relationships/image" Target="../media/image23.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4.png"/><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4.png"/><Relationship Id="rId4" Type="http://schemas.openxmlformats.org/officeDocument/2006/relationships/hyperlink" Target="https://docs.google.com/document/d/1ZZiqVsPyEWKoUnhsuT0mM2emKASh2jBC/edit?usp=drive_link&amp;ouid=102381677448953964721&amp;rtpof=true&amp;sd=true" TargetMode="External"/><Relationship Id="rId5" Type="http://schemas.openxmlformats.org/officeDocument/2006/relationships/image" Target="../media/image3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4.png"/><Relationship Id="rId4" Type="http://schemas.openxmlformats.org/officeDocument/2006/relationships/hyperlink" Target="https://docs.google.com/document/d/1ZZiqVsPyEWKoUnhsuT0mM2emKASh2jBC/edit?usp=drive_link&amp;ouid=102381677448953964721&amp;rtpof=true&amp;sd=true" TargetMode="External"/><Relationship Id="rId5"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4.png"/><Relationship Id="rId4" Type="http://schemas.openxmlformats.org/officeDocument/2006/relationships/hyperlink" Target="https://docs.google.com/document/d/1ZZiqVsPyEWKoUnhsuT0mM2emKASh2jBC/edit?usp=drive_link&amp;ouid=102381677448953964721&amp;rtpof=true&amp;sd=true" TargetMode="External"/><Relationship Id="rId5" Type="http://schemas.openxmlformats.org/officeDocument/2006/relationships/image" Target="../media/image15.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4.png"/><Relationship Id="rId4" Type="http://schemas.openxmlformats.org/officeDocument/2006/relationships/hyperlink" Target="https://drive.google.com/file/d/1t9-Ke3uALdu4eYmL5az8WrRrNDOIbq-P/view?usp=drive_link" TargetMode="External"/><Relationship Id="rId9"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hyperlink" Target="https://drive.google.com/file/d/1t9-Ke3uALdu4eYmL5az8WrRrNDOIbq-P/view?usp=drive_link" TargetMode="External"/><Relationship Id="rId7" Type="http://schemas.openxmlformats.org/officeDocument/2006/relationships/image" Target="../media/image19.png"/><Relationship Id="rId8" Type="http://schemas.openxmlformats.org/officeDocument/2006/relationships/hyperlink" Target="https://drive.google.com/file/d/1t9-Ke3uALdu4eYmL5az8WrRrNDOIbq-P/view?usp=drive_link"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4.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image" Target="../media/image2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4.png"/><Relationship Id="rId4" Type="http://schemas.openxmlformats.org/officeDocument/2006/relationships/image" Target="../media/image21.png"/><Relationship Id="rId5" Type="http://schemas.openxmlformats.org/officeDocument/2006/relationships/image" Target="../media/image2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4.png"/><Relationship Id="rId4" Type="http://schemas.openxmlformats.org/officeDocument/2006/relationships/image" Target="../media/image30.png"/><Relationship Id="rId5" Type="http://schemas.openxmlformats.org/officeDocument/2006/relationships/image" Target="../media/image28.png"/><Relationship Id="rId6" Type="http://schemas.openxmlformats.org/officeDocument/2006/relationships/image" Target="../media/image2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4.png"/><Relationship Id="rId4" Type="http://schemas.openxmlformats.org/officeDocument/2006/relationships/image" Target="../media/image35.png"/><Relationship Id="rId5" Type="http://schemas.openxmlformats.org/officeDocument/2006/relationships/image" Target="../media/image3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3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hyperlink" Target="https://drive.google.com/file/d/1jQ5hIHxSb5qNx6o4mpAg91XzlG53htGF/view?usp=drive_link" TargetMode="External"/><Relationship Id="rId4" Type="http://schemas.openxmlformats.org/officeDocument/2006/relationships/image" Target="../media/image3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hyperlink" Target="https://drive.google.com/file/d/1DFYHUyJriTuBj9CrMdOWLXgdrbVk1bwl/view?usp=drive_link" TargetMode="External"/><Relationship Id="rId4" Type="http://schemas.openxmlformats.org/officeDocument/2006/relationships/image" Target="../media/image3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4.png"/><Relationship Id="rId4" Type="http://schemas.openxmlformats.org/officeDocument/2006/relationships/hyperlink" Target="https://docs.google.com/spreadsheets/d/1SbZoPPQE_WooJM8XqBx1q1_e0ZLSNKCA/edit?usp=drive_link&amp;ouid=102381677448953964721&amp;rtpof=true&amp;sd=true" TargetMode="External"/><Relationship Id="rId5" Type="http://schemas.openxmlformats.org/officeDocument/2006/relationships/image" Target="../media/image3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hyperlink" Target="https://docs.google.com/spreadsheets/d/1UaOQ0uCo9EcyAAKekSwdCGdSvTM_wiIg/edit?usp=drive_link&amp;ouid=102381677448953964721&amp;rtpof=true&amp;sd=true" TargetMode="External"/><Relationship Id="rId4" Type="http://schemas.openxmlformats.org/officeDocument/2006/relationships/image" Target="../media/image3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hyperlink" Target="https://drive.google.com/file/d/1irIF6D7n1YJljhqB38RngtjasOa8uats/view?usp=drive_link" TargetMode="External"/><Relationship Id="rId4" Type="http://schemas.openxmlformats.org/officeDocument/2006/relationships/image" Target="../media/image3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hyperlink" Target="https://docs.google.com/document/d/1bQtgOgjQolKBIhZO7ljNHy9l8X-ZBXAp/edit?usp=drive_link&amp;ouid=102381677448953964721&amp;rtpof=true&amp;sd=true" TargetMode="External"/><Relationship Id="rId4" Type="http://schemas.openxmlformats.org/officeDocument/2006/relationships/image" Target="../media/image40.png"/><Relationship Id="rId5" Type="http://schemas.openxmlformats.org/officeDocument/2006/relationships/image" Target="../media/image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4.png"/><Relationship Id="rId4" Type="http://schemas.openxmlformats.org/officeDocument/2006/relationships/hyperlink" Target="https://docs.google.com/document/d/1pj54Y0AgewU75KyHcZwnB5Bq83wQ-r0V/edit?usp=drive_link&amp;ouid=105015513100725704438&amp;rtpof=true&amp;sd=true" TargetMode="External"/><Relationship Id="rId5" Type="http://schemas.openxmlformats.org/officeDocument/2006/relationships/image" Target="../media/image4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4.png"/><Relationship Id="rId4" Type="http://schemas.openxmlformats.org/officeDocument/2006/relationships/hyperlink" Target="https://drive.google.com/file/d/1zuyCGWpXpM8HFTlCpzxU79JyIab4PO5m/view?usp=drive_link" TargetMode="External"/><Relationship Id="rId5" Type="http://schemas.openxmlformats.org/officeDocument/2006/relationships/image" Target="../media/image44.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hyperlink" Target="https://drive.google.com/file/d/1kf2UrrzaJnd2ZMMhgUBe6kZGJibZkaP-/view?usp=sharing" TargetMode="External"/><Relationship Id="rId4" Type="http://schemas.openxmlformats.org/officeDocument/2006/relationships/image" Target="../media/image43.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4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0" name="Shape 80"/>
        <p:cNvGrpSpPr/>
        <p:nvPr/>
      </p:nvGrpSpPr>
      <p:grpSpPr>
        <a:xfrm>
          <a:off x="0" y="0"/>
          <a:ext cx="0" cy="0"/>
          <a:chOff x="0" y="0"/>
          <a:chExt cx="0" cy="0"/>
        </a:xfrm>
      </p:grpSpPr>
      <p:sp>
        <p:nvSpPr>
          <p:cNvPr id="81" name="Google Shape;81;p1"/>
          <p:cNvSpPr txBox="1"/>
          <p:nvPr/>
        </p:nvSpPr>
        <p:spPr>
          <a:xfrm>
            <a:off x="842118" y="2162912"/>
            <a:ext cx="6453600" cy="193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3F3F3F"/>
              </a:buClr>
              <a:buSzPts val="4000"/>
              <a:buFont typeface="Arial"/>
              <a:buNone/>
            </a:pPr>
            <a:r>
              <a:rPr b="1" i="0" lang="es-MX" sz="4000" u="none" cap="none" strike="noStrike">
                <a:solidFill>
                  <a:srgbClr val="3F3F3F"/>
                </a:solidFill>
                <a:latin typeface="Work Sans"/>
                <a:ea typeface="Work Sans"/>
                <a:cs typeface="Work Sans"/>
                <a:sym typeface="Work Sans"/>
              </a:rPr>
              <a:t>Sistema de información y gestión para una papelería</a:t>
            </a:r>
            <a:endParaRPr b="1" i="0" sz="4000" u="none" cap="none" strike="noStrike">
              <a:solidFill>
                <a:srgbClr val="3F3F3F"/>
              </a:solidFill>
              <a:latin typeface="Work Sans"/>
              <a:ea typeface="Work Sans"/>
              <a:cs typeface="Work Sans"/>
              <a:sym typeface="Work Sans"/>
            </a:endParaRPr>
          </a:p>
        </p:txBody>
      </p:sp>
      <p:pic>
        <p:nvPicPr>
          <p:cNvPr id="82" name="Google Shape;82;p1"/>
          <p:cNvPicPr preferRelativeResize="0"/>
          <p:nvPr/>
        </p:nvPicPr>
        <p:blipFill rotWithShape="1">
          <a:blip r:embed="rId4">
            <a:alphaModFix/>
          </a:blip>
          <a:srcRect b="21935" l="1" r="-586" t="14727"/>
          <a:stretch/>
        </p:blipFill>
        <p:spPr>
          <a:xfrm>
            <a:off x="6744904" y="2312394"/>
            <a:ext cx="4393963" cy="2766783"/>
          </a:xfrm>
          <a:prstGeom prst="ellipse">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6" name="Shape 86"/>
        <p:cNvGrpSpPr/>
        <p:nvPr/>
      </p:nvGrpSpPr>
      <p:grpSpPr>
        <a:xfrm>
          <a:off x="0" y="0"/>
          <a:ext cx="0" cy="0"/>
          <a:chOff x="0" y="0"/>
          <a:chExt cx="0" cy="0"/>
        </a:xfrm>
      </p:grpSpPr>
      <p:sp>
        <p:nvSpPr>
          <p:cNvPr id="87" name="Google Shape;87;p2"/>
          <p:cNvSpPr txBox="1"/>
          <p:nvPr/>
        </p:nvSpPr>
        <p:spPr>
          <a:xfrm>
            <a:off x="2178148" y="2308651"/>
            <a:ext cx="7709095" cy="101566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000"/>
              <a:buFont typeface="Arial"/>
              <a:buNone/>
            </a:pPr>
            <a:r>
              <a:rPr b="1" i="0" lang="es-MX" sz="6000" u="none" cap="none" strike="noStrike">
                <a:solidFill>
                  <a:schemeClr val="dk1"/>
                </a:solidFill>
                <a:latin typeface="Work Sans"/>
                <a:ea typeface="Work Sans"/>
                <a:cs typeface="Work Sans"/>
                <a:sym typeface="Work Sans"/>
              </a:rPr>
              <a:t>Integrantes</a:t>
            </a:r>
            <a:endParaRPr b="1" i="0" sz="7200" u="none" cap="none" strike="noStrike">
              <a:solidFill>
                <a:srgbClr val="4D4D4C"/>
              </a:solidFill>
              <a:latin typeface="Work Sans"/>
              <a:ea typeface="Work Sans"/>
              <a:cs typeface="Work Sans"/>
              <a:sym typeface="Work Sans"/>
            </a:endParaRPr>
          </a:p>
        </p:txBody>
      </p:sp>
      <p:cxnSp>
        <p:nvCxnSpPr>
          <p:cNvPr id="88" name="Google Shape;88;p2"/>
          <p:cNvCxnSpPr/>
          <p:nvPr/>
        </p:nvCxnSpPr>
        <p:spPr>
          <a:xfrm>
            <a:off x="4972228" y="3324314"/>
            <a:ext cx="2247544" cy="0"/>
          </a:xfrm>
          <a:prstGeom prst="straightConnector1">
            <a:avLst/>
          </a:prstGeom>
          <a:noFill/>
          <a:ln cap="flat" cmpd="sng" w="12700">
            <a:solidFill>
              <a:srgbClr val="38AA00"/>
            </a:solidFill>
            <a:prstDash val="solid"/>
            <a:miter lim="0"/>
            <a:headEnd len="sm" w="sm" type="none"/>
            <a:tailEnd len="sm" w="sm" type="none"/>
          </a:ln>
        </p:spPr>
      </p:cxnSp>
      <p:sp>
        <p:nvSpPr>
          <p:cNvPr id="89" name="Google Shape;89;p2"/>
          <p:cNvSpPr txBox="1"/>
          <p:nvPr/>
        </p:nvSpPr>
        <p:spPr>
          <a:xfrm>
            <a:off x="4168816" y="3429000"/>
            <a:ext cx="3854400" cy="1077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Cabin"/>
              <a:buNone/>
            </a:pPr>
            <a:r>
              <a:rPr b="0" i="0" lang="es-MX" sz="1600" u="none" cap="none" strike="noStrike">
                <a:solidFill>
                  <a:schemeClr val="dk1"/>
                </a:solidFill>
                <a:latin typeface="Calibri"/>
                <a:ea typeface="Calibri"/>
                <a:cs typeface="Calibri"/>
                <a:sym typeface="Calibri"/>
              </a:rPr>
              <a:t>- Nicolas Rodríguez Sierra</a:t>
            </a:r>
            <a:endParaRPr b="0" i="0" sz="16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chemeClr val="dk1"/>
              </a:buClr>
              <a:buSzPts val="1600"/>
              <a:buFont typeface="Cabin"/>
              <a:buNone/>
            </a:pPr>
            <a:r>
              <a:rPr b="0" i="0" lang="es-MX" sz="1600" u="none" cap="none" strike="noStrike">
                <a:solidFill>
                  <a:schemeClr val="dk1"/>
                </a:solidFill>
                <a:latin typeface="Calibri"/>
                <a:ea typeface="Calibri"/>
                <a:cs typeface="Calibri"/>
                <a:sym typeface="Calibri"/>
              </a:rPr>
              <a:t>- Nicolas Gómez Alvarado</a:t>
            </a:r>
            <a:endParaRPr b="0" i="0" sz="16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chemeClr val="dk1"/>
              </a:buClr>
              <a:buSzPts val="1600"/>
              <a:buFont typeface="Cabin"/>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chemeClr val="dk1"/>
              </a:solidFill>
              <a:latin typeface="Cabin"/>
              <a:ea typeface="Cabin"/>
              <a:cs typeface="Cabin"/>
              <a:sym typeface="Cabi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24"/>
          <p:cNvSpPr txBox="1"/>
          <p:nvPr>
            <p:ph type="title"/>
          </p:nvPr>
        </p:nvSpPr>
        <p:spPr>
          <a:xfrm>
            <a:off x="833664" y="250623"/>
            <a:ext cx="6474558" cy="678703"/>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6000"/>
              <a:buFont typeface="Calibri"/>
              <a:buNone/>
            </a:pPr>
            <a:r>
              <a:rPr b="1" lang="es-MX" sz="4800">
                <a:latin typeface="Work Sans"/>
                <a:ea typeface="Work Sans"/>
                <a:cs typeface="Work Sans"/>
                <a:sym typeface="Work Sans"/>
              </a:rPr>
              <a:t>Tabla de contenido</a:t>
            </a:r>
            <a:endParaRPr b="1" sz="4800">
              <a:latin typeface="Work Sans"/>
              <a:ea typeface="Work Sans"/>
              <a:cs typeface="Work Sans"/>
              <a:sym typeface="Work Sans"/>
            </a:endParaRPr>
          </a:p>
        </p:txBody>
      </p:sp>
      <p:pic>
        <p:nvPicPr>
          <p:cNvPr descr="Servicio Nacional de Aprendizaje - SENA | Bogota.gov.co" id="95" name="Google Shape;95;p24"/>
          <p:cNvPicPr preferRelativeResize="0"/>
          <p:nvPr/>
        </p:nvPicPr>
        <p:blipFill rotWithShape="1">
          <a:blip r:embed="rId3">
            <a:alphaModFix/>
          </a:blip>
          <a:srcRect b="0" l="0" r="0" t="0"/>
          <a:stretch/>
        </p:blipFill>
        <p:spPr>
          <a:xfrm>
            <a:off x="11262712" y="314959"/>
            <a:ext cx="651382" cy="636867"/>
          </a:xfrm>
          <a:prstGeom prst="rect">
            <a:avLst/>
          </a:prstGeom>
          <a:noFill/>
          <a:ln>
            <a:noFill/>
          </a:ln>
        </p:spPr>
      </p:pic>
      <p:sp>
        <p:nvSpPr>
          <p:cNvPr id="96" name="Google Shape;96;p24"/>
          <p:cNvSpPr txBox="1"/>
          <p:nvPr>
            <p:ph idx="1" type="body"/>
          </p:nvPr>
        </p:nvSpPr>
        <p:spPr>
          <a:xfrm>
            <a:off x="747112" y="822772"/>
            <a:ext cx="10515600" cy="6133200"/>
          </a:xfrm>
          <a:prstGeom prst="rect">
            <a:avLst/>
          </a:prstGeom>
          <a:noFill/>
          <a:ln>
            <a:noFill/>
          </a:ln>
        </p:spPr>
        <p:txBody>
          <a:bodyPr anchorCtr="0" anchor="t" bIns="45700" lIns="91425" spcFirstLastPara="1" rIns="91425" wrap="square" tIns="45700">
            <a:normAutofit fontScale="62500" lnSpcReduction="20000"/>
          </a:bodyPr>
          <a:lstStyle/>
          <a:p>
            <a:pPr indent="-415678" lvl="0" marL="685800" rtl="0" algn="l">
              <a:lnSpc>
                <a:spcPct val="90000"/>
              </a:lnSpc>
              <a:spcBef>
                <a:spcPts val="1000"/>
              </a:spcBef>
              <a:spcAft>
                <a:spcPts val="0"/>
              </a:spcAft>
              <a:buClr>
                <a:schemeClr val="dk1"/>
              </a:buClr>
              <a:buSzPct val="132231"/>
              <a:buFont typeface="Arial"/>
              <a:buAutoNum type="arabicPeriod"/>
            </a:pPr>
            <a:r>
              <a:rPr lang="es-MX" sz="3400">
                <a:solidFill>
                  <a:schemeClr val="dk1"/>
                </a:solidFill>
                <a:latin typeface="Calibri"/>
                <a:ea typeface="Calibri"/>
                <a:cs typeface="Calibri"/>
                <a:sym typeface="Calibri"/>
              </a:rPr>
              <a:t>Contextualización </a:t>
            </a:r>
            <a:endParaRPr sz="3400"/>
          </a:p>
          <a:p>
            <a:pPr indent="-415678" lvl="0" marL="685800" rtl="0" algn="l">
              <a:lnSpc>
                <a:spcPct val="90000"/>
              </a:lnSpc>
              <a:spcBef>
                <a:spcPts val="1000"/>
              </a:spcBef>
              <a:spcAft>
                <a:spcPts val="0"/>
              </a:spcAft>
              <a:buClr>
                <a:schemeClr val="dk1"/>
              </a:buClr>
              <a:buSzPct val="132231"/>
              <a:buFont typeface="Arial"/>
              <a:buAutoNum type="arabicPeriod"/>
            </a:pPr>
            <a:r>
              <a:rPr lang="es-MX" sz="3400">
                <a:solidFill>
                  <a:schemeClr val="dk1"/>
                </a:solidFill>
                <a:latin typeface="Calibri"/>
                <a:ea typeface="Calibri"/>
                <a:cs typeface="Calibri"/>
                <a:sym typeface="Calibri"/>
              </a:rPr>
              <a:t>Planteamiento problema</a:t>
            </a:r>
            <a:endParaRPr sz="3400"/>
          </a:p>
          <a:p>
            <a:pPr indent="-415678" lvl="0" marL="685800" rtl="0" algn="l">
              <a:lnSpc>
                <a:spcPct val="90000"/>
              </a:lnSpc>
              <a:spcBef>
                <a:spcPts val="1000"/>
              </a:spcBef>
              <a:spcAft>
                <a:spcPts val="0"/>
              </a:spcAft>
              <a:buClr>
                <a:schemeClr val="dk1"/>
              </a:buClr>
              <a:buSzPct val="132231"/>
              <a:buFont typeface="Arial"/>
              <a:buAutoNum type="arabicPeriod"/>
            </a:pPr>
            <a:r>
              <a:rPr lang="es-MX" sz="3400">
                <a:solidFill>
                  <a:schemeClr val="dk1"/>
                </a:solidFill>
                <a:latin typeface="Calibri"/>
                <a:ea typeface="Calibri"/>
                <a:cs typeface="Calibri"/>
                <a:sym typeface="Calibri"/>
              </a:rPr>
              <a:t>Pregunta problema</a:t>
            </a:r>
            <a:endParaRPr sz="3400"/>
          </a:p>
          <a:p>
            <a:pPr indent="-415678" lvl="0" marL="685800" rtl="0" algn="l">
              <a:lnSpc>
                <a:spcPct val="90000"/>
              </a:lnSpc>
              <a:spcBef>
                <a:spcPts val="1000"/>
              </a:spcBef>
              <a:spcAft>
                <a:spcPts val="0"/>
              </a:spcAft>
              <a:buClr>
                <a:schemeClr val="dk1"/>
              </a:buClr>
              <a:buSzPct val="132231"/>
              <a:buFont typeface="Arial"/>
              <a:buAutoNum type="arabicPeriod"/>
            </a:pPr>
            <a:r>
              <a:rPr lang="es-MX" sz="3400">
                <a:solidFill>
                  <a:schemeClr val="dk1"/>
                </a:solidFill>
                <a:latin typeface="Calibri"/>
                <a:ea typeface="Calibri"/>
                <a:cs typeface="Calibri"/>
                <a:sym typeface="Calibri"/>
              </a:rPr>
              <a:t>Justificación </a:t>
            </a:r>
            <a:endParaRPr sz="3400"/>
          </a:p>
          <a:p>
            <a:pPr indent="-415678" lvl="0" marL="685800" rtl="0" algn="l">
              <a:lnSpc>
                <a:spcPct val="90000"/>
              </a:lnSpc>
              <a:spcBef>
                <a:spcPts val="1000"/>
              </a:spcBef>
              <a:spcAft>
                <a:spcPts val="0"/>
              </a:spcAft>
              <a:buClr>
                <a:schemeClr val="dk1"/>
              </a:buClr>
              <a:buSzPct val="132231"/>
              <a:buFont typeface="Arial"/>
              <a:buAutoNum type="arabicPeriod"/>
            </a:pPr>
            <a:r>
              <a:rPr lang="es-MX" sz="3400">
                <a:solidFill>
                  <a:schemeClr val="dk1"/>
                </a:solidFill>
                <a:latin typeface="Calibri"/>
                <a:ea typeface="Calibri"/>
                <a:cs typeface="Calibri"/>
                <a:sym typeface="Calibri"/>
              </a:rPr>
              <a:t>Alcance de proyecto</a:t>
            </a:r>
            <a:endParaRPr sz="3400"/>
          </a:p>
          <a:p>
            <a:pPr indent="-415678" lvl="0" marL="685800" rtl="0" algn="l">
              <a:lnSpc>
                <a:spcPct val="90000"/>
              </a:lnSpc>
              <a:spcBef>
                <a:spcPts val="1000"/>
              </a:spcBef>
              <a:spcAft>
                <a:spcPts val="0"/>
              </a:spcAft>
              <a:buClr>
                <a:schemeClr val="dk1"/>
              </a:buClr>
              <a:buSzPct val="132231"/>
              <a:buFont typeface="Arial"/>
              <a:buAutoNum type="arabicPeriod"/>
            </a:pPr>
            <a:r>
              <a:rPr lang="es-MX" sz="3400">
                <a:solidFill>
                  <a:schemeClr val="dk1"/>
                </a:solidFill>
                <a:latin typeface="Calibri"/>
                <a:ea typeface="Calibri"/>
                <a:cs typeface="Calibri"/>
                <a:sym typeface="Calibri"/>
              </a:rPr>
              <a:t>BPMN</a:t>
            </a:r>
            <a:endParaRPr sz="3400"/>
          </a:p>
          <a:p>
            <a:pPr indent="-415678" lvl="0" marL="685800" rtl="0" algn="l">
              <a:lnSpc>
                <a:spcPct val="90000"/>
              </a:lnSpc>
              <a:spcBef>
                <a:spcPts val="1000"/>
              </a:spcBef>
              <a:spcAft>
                <a:spcPts val="0"/>
              </a:spcAft>
              <a:buClr>
                <a:schemeClr val="dk1"/>
              </a:buClr>
              <a:buSzPct val="132231"/>
              <a:buFont typeface="Arial"/>
              <a:buAutoNum type="arabicPeriod"/>
            </a:pPr>
            <a:r>
              <a:rPr lang="es-MX" sz="3400">
                <a:solidFill>
                  <a:schemeClr val="dk1"/>
                </a:solidFill>
                <a:latin typeface="Calibri"/>
                <a:ea typeface="Calibri"/>
                <a:cs typeface="Calibri"/>
                <a:sym typeface="Calibri"/>
              </a:rPr>
              <a:t>Objetivos</a:t>
            </a:r>
            <a:endParaRPr sz="3400"/>
          </a:p>
          <a:p>
            <a:pPr indent="-422598" lvl="1" marL="1143000" rtl="0" algn="l">
              <a:lnSpc>
                <a:spcPct val="90000"/>
              </a:lnSpc>
              <a:spcBef>
                <a:spcPts val="500"/>
              </a:spcBef>
              <a:spcAft>
                <a:spcPts val="0"/>
              </a:spcAft>
              <a:buClr>
                <a:schemeClr val="dk1"/>
              </a:buClr>
              <a:buSzPct val="110192"/>
              <a:buFont typeface="Arial"/>
              <a:buAutoNum type="arabicPeriod"/>
            </a:pPr>
            <a:r>
              <a:rPr lang="es-MX" sz="3400">
                <a:solidFill>
                  <a:schemeClr val="dk1"/>
                </a:solidFill>
                <a:latin typeface="Calibri"/>
                <a:ea typeface="Calibri"/>
                <a:cs typeface="Calibri"/>
                <a:sym typeface="Calibri"/>
              </a:rPr>
              <a:t>objetivo general</a:t>
            </a:r>
            <a:endParaRPr sz="3400"/>
          </a:p>
          <a:p>
            <a:pPr indent="-422598" lvl="1" marL="1143000" rtl="0" algn="l">
              <a:lnSpc>
                <a:spcPct val="90000"/>
              </a:lnSpc>
              <a:spcBef>
                <a:spcPts val="500"/>
              </a:spcBef>
              <a:spcAft>
                <a:spcPts val="0"/>
              </a:spcAft>
              <a:buClr>
                <a:schemeClr val="dk1"/>
              </a:buClr>
              <a:buSzPct val="110192"/>
              <a:buFont typeface="Arial"/>
              <a:buAutoNum type="arabicPeriod"/>
            </a:pPr>
            <a:r>
              <a:rPr lang="es-MX" sz="3400">
                <a:solidFill>
                  <a:schemeClr val="dk1"/>
                </a:solidFill>
                <a:latin typeface="Calibri"/>
                <a:ea typeface="Calibri"/>
                <a:cs typeface="Calibri"/>
                <a:sym typeface="Calibri"/>
              </a:rPr>
              <a:t>Objetivo</a:t>
            </a:r>
            <a:r>
              <a:rPr lang="es-MX" sz="3400">
                <a:solidFill>
                  <a:schemeClr val="dk1"/>
                </a:solidFill>
              </a:rPr>
              <a:t>s </a:t>
            </a:r>
            <a:r>
              <a:rPr lang="es-MX" sz="3400">
                <a:solidFill>
                  <a:schemeClr val="dk1"/>
                </a:solidFill>
                <a:latin typeface="Calibri"/>
                <a:ea typeface="Calibri"/>
                <a:cs typeface="Calibri"/>
                <a:sym typeface="Calibri"/>
              </a:rPr>
              <a:t>especificos</a:t>
            </a:r>
            <a:endParaRPr sz="3400"/>
          </a:p>
          <a:p>
            <a:pPr indent="-415678" lvl="0" marL="685800" rtl="0" algn="l">
              <a:lnSpc>
                <a:spcPct val="90000"/>
              </a:lnSpc>
              <a:spcBef>
                <a:spcPts val="1000"/>
              </a:spcBef>
              <a:spcAft>
                <a:spcPts val="0"/>
              </a:spcAft>
              <a:buClr>
                <a:schemeClr val="dk1"/>
              </a:buClr>
              <a:buSzPct val="132231"/>
              <a:buFont typeface="Arial"/>
              <a:buAutoNum type="arabicPeriod"/>
            </a:pPr>
            <a:r>
              <a:rPr lang="es-MX" sz="3400">
                <a:solidFill>
                  <a:schemeClr val="dk1"/>
                </a:solidFill>
                <a:latin typeface="Calibri"/>
                <a:ea typeface="Calibri"/>
                <a:cs typeface="Calibri"/>
                <a:sym typeface="Calibri"/>
              </a:rPr>
              <a:t>Levantamiento de información</a:t>
            </a:r>
            <a:endParaRPr sz="3400"/>
          </a:p>
          <a:p>
            <a:pPr indent="-422598" lvl="1" marL="1143000" rtl="0" algn="l">
              <a:lnSpc>
                <a:spcPct val="90000"/>
              </a:lnSpc>
              <a:spcBef>
                <a:spcPts val="500"/>
              </a:spcBef>
              <a:spcAft>
                <a:spcPts val="0"/>
              </a:spcAft>
              <a:buClr>
                <a:schemeClr val="dk1"/>
              </a:buClr>
              <a:buSzPct val="110192"/>
              <a:buFont typeface="Arial"/>
              <a:buAutoNum type="arabicPeriod"/>
            </a:pPr>
            <a:r>
              <a:rPr lang="es-MX" sz="3400">
                <a:solidFill>
                  <a:schemeClr val="dk1"/>
                </a:solidFill>
                <a:latin typeface="Calibri"/>
                <a:ea typeface="Calibri"/>
                <a:cs typeface="Calibri"/>
                <a:sym typeface="Calibri"/>
              </a:rPr>
              <a:t>Informe encuesta</a:t>
            </a:r>
            <a:endParaRPr sz="3400"/>
          </a:p>
          <a:p>
            <a:pPr indent="-422598" lvl="1" marL="1143000" rtl="0" algn="l">
              <a:lnSpc>
                <a:spcPct val="90000"/>
              </a:lnSpc>
              <a:spcBef>
                <a:spcPts val="500"/>
              </a:spcBef>
              <a:spcAft>
                <a:spcPts val="0"/>
              </a:spcAft>
              <a:buClr>
                <a:schemeClr val="dk1"/>
              </a:buClr>
              <a:buSzPct val="110192"/>
              <a:buFont typeface="Arial"/>
              <a:buAutoNum type="arabicPeriod"/>
            </a:pPr>
            <a:r>
              <a:rPr lang="es-MX" sz="3400">
                <a:solidFill>
                  <a:schemeClr val="dk1"/>
                </a:solidFill>
                <a:latin typeface="Calibri"/>
                <a:ea typeface="Calibri"/>
                <a:cs typeface="Calibri"/>
                <a:sym typeface="Calibri"/>
              </a:rPr>
              <a:t>Informe entrevista</a:t>
            </a:r>
            <a:endParaRPr sz="3400"/>
          </a:p>
          <a:p>
            <a:pPr indent="-422598" lvl="1" marL="1143000" rtl="0" algn="l">
              <a:lnSpc>
                <a:spcPct val="90000"/>
              </a:lnSpc>
              <a:spcBef>
                <a:spcPts val="500"/>
              </a:spcBef>
              <a:spcAft>
                <a:spcPts val="0"/>
              </a:spcAft>
              <a:buClr>
                <a:schemeClr val="dk1"/>
              </a:buClr>
              <a:buSzPct val="110192"/>
              <a:buFont typeface="Arial"/>
              <a:buAutoNum type="arabicPeriod"/>
            </a:pPr>
            <a:r>
              <a:rPr lang="es-MX" sz="3400">
                <a:solidFill>
                  <a:schemeClr val="dk1"/>
                </a:solidFill>
                <a:latin typeface="Calibri"/>
                <a:ea typeface="Calibri"/>
                <a:cs typeface="Calibri"/>
                <a:sym typeface="Calibri"/>
              </a:rPr>
              <a:t>Informe general</a:t>
            </a:r>
            <a:endParaRPr sz="3400"/>
          </a:p>
          <a:p>
            <a:pPr indent="-415678" lvl="0" marL="685800" rtl="0" algn="l">
              <a:lnSpc>
                <a:spcPct val="90000"/>
              </a:lnSpc>
              <a:spcBef>
                <a:spcPts val="1000"/>
              </a:spcBef>
              <a:spcAft>
                <a:spcPts val="0"/>
              </a:spcAft>
              <a:buClr>
                <a:schemeClr val="dk1"/>
              </a:buClr>
              <a:buSzPct val="132231"/>
              <a:buFont typeface="Arial"/>
              <a:buAutoNum type="arabicPeriod"/>
            </a:pPr>
            <a:r>
              <a:rPr lang="es-MX" sz="3400">
                <a:solidFill>
                  <a:schemeClr val="dk1"/>
                </a:solidFill>
                <a:latin typeface="Calibri"/>
                <a:ea typeface="Calibri"/>
                <a:cs typeface="Calibri"/>
                <a:sym typeface="Calibri"/>
              </a:rPr>
              <a:t>Requerimientos</a:t>
            </a:r>
            <a:endParaRPr sz="3400"/>
          </a:p>
          <a:p>
            <a:pPr indent="-422598" lvl="1" marL="1143000" rtl="0" algn="l">
              <a:lnSpc>
                <a:spcPct val="90000"/>
              </a:lnSpc>
              <a:spcBef>
                <a:spcPts val="500"/>
              </a:spcBef>
              <a:spcAft>
                <a:spcPts val="0"/>
              </a:spcAft>
              <a:buClr>
                <a:schemeClr val="dk1"/>
              </a:buClr>
              <a:buSzPct val="110192"/>
              <a:buFont typeface="Arial"/>
              <a:buAutoNum type="arabicPeriod"/>
            </a:pPr>
            <a:r>
              <a:rPr lang="es-MX" sz="3400">
                <a:solidFill>
                  <a:schemeClr val="dk1"/>
                </a:solidFill>
                <a:latin typeface="Calibri"/>
                <a:ea typeface="Calibri"/>
                <a:cs typeface="Calibri"/>
                <a:sym typeface="Calibri"/>
              </a:rPr>
              <a:t>Funcionales</a:t>
            </a:r>
            <a:endParaRPr sz="3400"/>
          </a:p>
          <a:p>
            <a:pPr indent="-422598" lvl="1" marL="1143000" rtl="0" algn="l">
              <a:lnSpc>
                <a:spcPct val="90000"/>
              </a:lnSpc>
              <a:spcBef>
                <a:spcPts val="500"/>
              </a:spcBef>
              <a:spcAft>
                <a:spcPts val="0"/>
              </a:spcAft>
              <a:buClr>
                <a:schemeClr val="dk1"/>
              </a:buClr>
              <a:buSzPct val="110192"/>
              <a:buFont typeface="Arial"/>
              <a:buAutoNum type="arabicPeriod"/>
            </a:pPr>
            <a:r>
              <a:rPr lang="es-MX" sz="3400">
                <a:solidFill>
                  <a:schemeClr val="dk1"/>
                </a:solidFill>
                <a:latin typeface="Calibri"/>
                <a:ea typeface="Calibri"/>
                <a:cs typeface="Calibri"/>
                <a:sym typeface="Calibri"/>
              </a:rPr>
              <a:t>No funcionales</a:t>
            </a:r>
            <a:endParaRPr sz="3400"/>
          </a:p>
          <a:p>
            <a:pPr indent="-415678" lvl="0" marL="685800" rtl="0" algn="l">
              <a:lnSpc>
                <a:spcPct val="90000"/>
              </a:lnSpc>
              <a:spcBef>
                <a:spcPts val="1000"/>
              </a:spcBef>
              <a:spcAft>
                <a:spcPts val="0"/>
              </a:spcAft>
              <a:buClr>
                <a:schemeClr val="dk1"/>
              </a:buClr>
              <a:buSzPct val="132231"/>
              <a:buFont typeface="Arial"/>
              <a:buAutoNum type="arabicPeriod"/>
            </a:pPr>
            <a:r>
              <a:rPr lang="es-MX" sz="3400">
                <a:solidFill>
                  <a:schemeClr val="dk1"/>
                </a:solidFill>
                <a:latin typeface="Calibri"/>
                <a:ea typeface="Calibri"/>
                <a:cs typeface="Calibri"/>
                <a:sym typeface="Calibri"/>
              </a:rPr>
              <a:t>Historias de usuario</a:t>
            </a:r>
            <a:endParaRPr sz="3400"/>
          </a:p>
          <a:p>
            <a:pPr indent="0" lvl="1" marL="685800" rtl="0" algn="l">
              <a:lnSpc>
                <a:spcPct val="90000"/>
              </a:lnSpc>
              <a:spcBef>
                <a:spcPts val="500"/>
              </a:spcBef>
              <a:spcAft>
                <a:spcPts val="0"/>
              </a:spcAft>
              <a:buSzPct val="181818"/>
              <a:buNone/>
            </a:pPr>
            <a:r>
              <a:t/>
            </a:r>
            <a:endParaRPr>
              <a:solidFill>
                <a:schemeClr val="dk1"/>
              </a:solidFill>
              <a:latin typeface="Arial"/>
              <a:ea typeface="Arial"/>
              <a:cs typeface="Arial"/>
              <a:sym typeface="Arial"/>
            </a:endParaRPr>
          </a:p>
          <a:p>
            <a:pPr indent="-304800" lvl="0" marL="685800" rtl="0" algn="l">
              <a:lnSpc>
                <a:spcPct val="90000"/>
              </a:lnSpc>
              <a:spcBef>
                <a:spcPts val="1000"/>
              </a:spcBef>
              <a:spcAft>
                <a:spcPts val="0"/>
              </a:spcAft>
              <a:buSzPct val="181818"/>
              <a:buFont typeface="Arial"/>
              <a:buNone/>
            </a:pPr>
            <a:r>
              <a:t/>
            </a:r>
            <a:endParaRPr>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pic>
        <p:nvPicPr>
          <p:cNvPr descr="Servicio Nacional de Aprendizaje - SENA | Bogota.gov.co" id="101" name="Google Shape;101;p42"/>
          <p:cNvPicPr preferRelativeResize="0"/>
          <p:nvPr/>
        </p:nvPicPr>
        <p:blipFill rotWithShape="1">
          <a:blip r:embed="rId3">
            <a:alphaModFix/>
          </a:blip>
          <a:srcRect b="0" l="0" r="0" t="0"/>
          <a:stretch/>
        </p:blipFill>
        <p:spPr>
          <a:xfrm>
            <a:off x="11262712" y="314959"/>
            <a:ext cx="651382" cy="636867"/>
          </a:xfrm>
          <a:prstGeom prst="rect">
            <a:avLst/>
          </a:prstGeom>
          <a:noFill/>
          <a:ln>
            <a:noFill/>
          </a:ln>
        </p:spPr>
      </p:pic>
      <p:sp>
        <p:nvSpPr>
          <p:cNvPr id="102" name="Google Shape;102;p42"/>
          <p:cNvSpPr txBox="1"/>
          <p:nvPr>
            <p:ph idx="1" type="body"/>
          </p:nvPr>
        </p:nvSpPr>
        <p:spPr>
          <a:xfrm>
            <a:off x="1049043" y="633392"/>
            <a:ext cx="9597186" cy="5538808"/>
          </a:xfrm>
          <a:prstGeom prst="rect">
            <a:avLst/>
          </a:prstGeom>
          <a:noFill/>
          <a:ln>
            <a:noFill/>
          </a:ln>
        </p:spPr>
        <p:txBody>
          <a:bodyPr anchorCtr="0" anchor="t" bIns="45700" lIns="91425" spcFirstLastPara="1" rIns="91425" wrap="square" tIns="45700">
            <a:normAutofit lnSpcReduction="10000"/>
          </a:bodyPr>
          <a:lstStyle/>
          <a:p>
            <a:pPr indent="-457200" lvl="0" marL="727322" rtl="0" algn="l">
              <a:lnSpc>
                <a:spcPct val="90000"/>
              </a:lnSpc>
              <a:spcBef>
                <a:spcPts val="1000"/>
              </a:spcBef>
              <a:spcAft>
                <a:spcPts val="0"/>
              </a:spcAft>
              <a:buClr>
                <a:schemeClr val="dk1"/>
              </a:buClr>
              <a:buSzPts val="2777"/>
              <a:buFont typeface="Arial"/>
              <a:buAutoNum type="arabicPeriod" startAt="11"/>
            </a:pPr>
            <a:r>
              <a:rPr lang="es-MX" sz="2100">
                <a:solidFill>
                  <a:schemeClr val="dk1"/>
                </a:solidFill>
                <a:latin typeface="Arial"/>
                <a:ea typeface="Arial"/>
                <a:cs typeface="Arial"/>
                <a:sym typeface="Arial"/>
              </a:rPr>
              <a:t>Relación RF-HU</a:t>
            </a:r>
            <a:endParaRPr/>
          </a:p>
          <a:p>
            <a:pPr indent="-457200" lvl="0" marL="727322" rtl="0" algn="l">
              <a:lnSpc>
                <a:spcPct val="90000"/>
              </a:lnSpc>
              <a:spcBef>
                <a:spcPts val="1000"/>
              </a:spcBef>
              <a:spcAft>
                <a:spcPts val="0"/>
              </a:spcAft>
              <a:buClr>
                <a:schemeClr val="dk1"/>
              </a:buClr>
              <a:buSzPts val="2777"/>
              <a:buFont typeface="Arial"/>
              <a:buAutoNum type="arabicPeriod" startAt="11"/>
            </a:pPr>
            <a:r>
              <a:rPr lang="es-MX" sz="2100">
                <a:solidFill>
                  <a:schemeClr val="dk1"/>
                </a:solidFill>
                <a:latin typeface="Arial"/>
                <a:ea typeface="Arial"/>
                <a:cs typeface="Arial"/>
                <a:sym typeface="Arial"/>
              </a:rPr>
              <a:t>Mockups</a:t>
            </a:r>
            <a:endParaRPr/>
          </a:p>
          <a:p>
            <a:pPr indent="-457200" lvl="0" marL="727322" rtl="0" algn="l">
              <a:lnSpc>
                <a:spcPct val="90000"/>
              </a:lnSpc>
              <a:spcBef>
                <a:spcPts val="1000"/>
              </a:spcBef>
              <a:spcAft>
                <a:spcPts val="0"/>
              </a:spcAft>
              <a:buClr>
                <a:schemeClr val="dk1"/>
              </a:buClr>
              <a:buSzPts val="2777"/>
              <a:buFont typeface="Arial"/>
              <a:buAutoNum type="arabicPeriod" startAt="11"/>
            </a:pPr>
            <a:r>
              <a:rPr lang="es-MX">
                <a:solidFill>
                  <a:srgbClr val="000000"/>
                </a:solidFill>
                <a:latin typeface="Work Sans"/>
                <a:ea typeface="Work Sans"/>
                <a:cs typeface="Work Sans"/>
                <a:sym typeface="Work Sans"/>
              </a:rPr>
              <a:t>GitHub</a:t>
            </a:r>
            <a:endParaRPr/>
          </a:p>
          <a:p>
            <a:pPr indent="0" lvl="0" marL="270122" rtl="0" algn="l">
              <a:lnSpc>
                <a:spcPct val="90000"/>
              </a:lnSpc>
              <a:spcBef>
                <a:spcPts val="1000"/>
              </a:spcBef>
              <a:spcAft>
                <a:spcPts val="0"/>
              </a:spcAft>
              <a:buClr>
                <a:schemeClr val="dk1"/>
              </a:buClr>
              <a:buSzPts val="2777"/>
              <a:buNone/>
            </a:pPr>
            <a:r>
              <a:rPr lang="es-MX">
                <a:solidFill>
                  <a:srgbClr val="000000"/>
                </a:solidFill>
                <a:latin typeface="Work Sans"/>
                <a:ea typeface="Work Sans"/>
                <a:cs typeface="Work Sans"/>
                <a:sym typeface="Work Sans"/>
              </a:rPr>
              <a:t>14. Base de datos</a:t>
            </a:r>
            <a:endParaRPr/>
          </a:p>
          <a:p>
            <a:pPr indent="0" lvl="0" marL="270122" rtl="0" algn="l">
              <a:lnSpc>
                <a:spcPct val="90000"/>
              </a:lnSpc>
              <a:spcBef>
                <a:spcPts val="1000"/>
              </a:spcBef>
              <a:spcAft>
                <a:spcPts val="0"/>
              </a:spcAft>
              <a:buClr>
                <a:schemeClr val="dk1"/>
              </a:buClr>
              <a:buSzPts val="2777"/>
              <a:buNone/>
            </a:pPr>
            <a:r>
              <a:rPr lang="es-MX">
                <a:solidFill>
                  <a:srgbClr val="000000"/>
                </a:solidFill>
                <a:latin typeface="Work Sans"/>
                <a:ea typeface="Work Sans"/>
                <a:cs typeface="Work Sans"/>
                <a:sym typeface="Work Sans"/>
              </a:rPr>
              <a:t>	14.1 </a:t>
            </a:r>
            <a:r>
              <a:rPr lang="es-MX">
                <a:solidFill>
                  <a:schemeClr val="dk1"/>
                </a:solidFill>
                <a:latin typeface="Work Sans"/>
                <a:ea typeface="Work Sans"/>
                <a:cs typeface="Work Sans"/>
                <a:sym typeface="Work Sans"/>
              </a:rPr>
              <a:t>Diagrama entidad-relación y relacional</a:t>
            </a:r>
            <a:endParaRPr/>
          </a:p>
          <a:p>
            <a:pPr indent="0" lvl="0" marL="270122" rtl="0" algn="l">
              <a:lnSpc>
                <a:spcPct val="90000"/>
              </a:lnSpc>
              <a:spcBef>
                <a:spcPts val="1000"/>
              </a:spcBef>
              <a:spcAft>
                <a:spcPts val="0"/>
              </a:spcAft>
              <a:buClr>
                <a:schemeClr val="dk1"/>
              </a:buClr>
              <a:buSzPts val="2777"/>
              <a:buNone/>
            </a:pPr>
            <a:r>
              <a:rPr lang="es-MX">
                <a:solidFill>
                  <a:schemeClr val="dk1"/>
                </a:solidFill>
                <a:latin typeface="Work Sans"/>
                <a:ea typeface="Work Sans"/>
                <a:cs typeface="Work Sans"/>
                <a:sym typeface="Work Sans"/>
              </a:rPr>
              <a:t>	14.2 Normalización</a:t>
            </a:r>
            <a:endParaRPr/>
          </a:p>
          <a:p>
            <a:pPr indent="0" lvl="0" marL="270122" rtl="0" algn="l">
              <a:lnSpc>
                <a:spcPct val="90000"/>
              </a:lnSpc>
              <a:spcBef>
                <a:spcPts val="1000"/>
              </a:spcBef>
              <a:spcAft>
                <a:spcPts val="0"/>
              </a:spcAft>
              <a:buClr>
                <a:schemeClr val="dk1"/>
              </a:buClr>
              <a:buSzPts val="2777"/>
              <a:buNone/>
            </a:pPr>
            <a:r>
              <a:rPr lang="es-MX">
                <a:solidFill>
                  <a:srgbClr val="000000"/>
                </a:solidFill>
                <a:latin typeface="Work Sans"/>
                <a:ea typeface="Work Sans"/>
                <a:cs typeface="Work Sans"/>
                <a:sym typeface="Work Sans"/>
              </a:rPr>
              <a:t>	14.3 Diccionario de datos</a:t>
            </a:r>
            <a:endParaRPr/>
          </a:p>
          <a:p>
            <a:pPr indent="0" lvl="0" marL="270122" rtl="0" algn="l">
              <a:lnSpc>
                <a:spcPct val="90000"/>
              </a:lnSpc>
              <a:spcBef>
                <a:spcPts val="1000"/>
              </a:spcBef>
              <a:spcAft>
                <a:spcPts val="0"/>
              </a:spcAft>
              <a:buClr>
                <a:schemeClr val="dk1"/>
              </a:buClr>
              <a:buSzPts val="2777"/>
              <a:buNone/>
            </a:pPr>
            <a:r>
              <a:rPr lang="es-MX">
                <a:solidFill>
                  <a:schemeClr val="dk1"/>
                </a:solidFill>
                <a:latin typeface="Work Sans"/>
                <a:ea typeface="Work Sans"/>
                <a:cs typeface="Work Sans"/>
                <a:sym typeface="Work Sans"/>
              </a:rPr>
              <a:t>15. Casos de uso</a:t>
            </a:r>
            <a:endParaRPr/>
          </a:p>
          <a:p>
            <a:pPr indent="0" lvl="0" marL="270123" rtl="0" algn="l">
              <a:lnSpc>
                <a:spcPct val="90000"/>
              </a:lnSpc>
              <a:spcBef>
                <a:spcPts val="1000"/>
              </a:spcBef>
              <a:spcAft>
                <a:spcPts val="0"/>
              </a:spcAft>
              <a:buClr>
                <a:schemeClr val="dk1"/>
              </a:buClr>
              <a:buSzPts val="2777"/>
              <a:buNone/>
            </a:pPr>
            <a:r>
              <a:rPr lang="es-MX">
                <a:solidFill>
                  <a:schemeClr val="dk1"/>
                </a:solidFill>
                <a:latin typeface="Work Sans"/>
                <a:ea typeface="Work Sans"/>
                <a:cs typeface="Work Sans"/>
                <a:sym typeface="Work Sans"/>
              </a:rPr>
              <a:t>      15.1 Documentación de caso de uso</a:t>
            </a:r>
            <a:endParaRPr>
              <a:solidFill>
                <a:schemeClr val="dk1"/>
              </a:solidFill>
            </a:endParaRPr>
          </a:p>
          <a:p>
            <a:pPr indent="0" lvl="0" marL="270123" rtl="0" algn="l">
              <a:lnSpc>
                <a:spcPct val="90000"/>
              </a:lnSpc>
              <a:spcBef>
                <a:spcPts val="1000"/>
              </a:spcBef>
              <a:spcAft>
                <a:spcPts val="0"/>
              </a:spcAft>
              <a:buClr>
                <a:schemeClr val="dk1"/>
              </a:buClr>
              <a:buSzPts val="2777"/>
              <a:buNone/>
            </a:pPr>
            <a:r>
              <a:rPr lang="es-MX">
                <a:solidFill>
                  <a:schemeClr val="dk1"/>
                </a:solidFill>
              </a:rPr>
              <a:t>16.Plataforma tecnológica</a:t>
            </a:r>
            <a:endParaRPr>
              <a:solidFill>
                <a:schemeClr val="dk1"/>
              </a:solidFill>
            </a:endParaRPr>
          </a:p>
          <a:p>
            <a:pPr indent="0" lvl="0" marL="270123" rtl="0" algn="l">
              <a:lnSpc>
                <a:spcPct val="90000"/>
              </a:lnSpc>
              <a:spcBef>
                <a:spcPts val="1000"/>
              </a:spcBef>
              <a:spcAft>
                <a:spcPts val="0"/>
              </a:spcAft>
              <a:buClr>
                <a:schemeClr val="dk1"/>
              </a:buClr>
              <a:buSzPts val="2777"/>
              <a:buNone/>
            </a:pPr>
            <a:r>
              <a:rPr lang="es-MX">
                <a:solidFill>
                  <a:schemeClr val="dk1"/>
                </a:solidFill>
              </a:rPr>
              <a:t>17.Ficha técnica </a:t>
            </a:r>
            <a:endParaRPr/>
          </a:p>
          <a:p>
            <a:pPr indent="0" lvl="0" marL="270123" rtl="0" algn="l">
              <a:lnSpc>
                <a:spcPct val="90000"/>
              </a:lnSpc>
              <a:spcBef>
                <a:spcPts val="1000"/>
              </a:spcBef>
              <a:spcAft>
                <a:spcPts val="0"/>
              </a:spcAft>
              <a:buClr>
                <a:schemeClr val="dk1"/>
              </a:buClr>
              <a:buSzPts val="2777"/>
              <a:buNone/>
            </a:pPr>
            <a:r>
              <a:rPr lang="es-MX">
                <a:solidFill>
                  <a:schemeClr val="dk1"/>
                </a:solidFill>
                <a:latin typeface="Work Sans"/>
                <a:ea typeface="Work Sans"/>
                <a:cs typeface="Work Sans"/>
                <a:sym typeface="Work Sans"/>
              </a:rPr>
              <a:t>      17.1 Diagrama de despliegue</a:t>
            </a:r>
            <a:endParaRPr/>
          </a:p>
          <a:p>
            <a:pPr indent="0" lvl="0" marL="270123" rtl="0" algn="l">
              <a:lnSpc>
                <a:spcPct val="90000"/>
              </a:lnSpc>
              <a:spcBef>
                <a:spcPts val="1000"/>
              </a:spcBef>
              <a:spcAft>
                <a:spcPts val="0"/>
              </a:spcAft>
              <a:buClr>
                <a:schemeClr val="dk1"/>
              </a:buClr>
              <a:buSzPts val="2777"/>
              <a:buNone/>
            </a:pPr>
            <a:r>
              <a:rPr lang="es-MX">
                <a:solidFill>
                  <a:schemeClr val="dk1"/>
                </a:solidFill>
              </a:rPr>
              <a:t>         17.2 Sentencias SQL</a:t>
            </a:r>
            <a:endParaRPr>
              <a:solidFill>
                <a:schemeClr val="dk1"/>
              </a:solidFill>
            </a:endParaRPr>
          </a:p>
          <a:p>
            <a:pPr indent="-304800" lvl="0" marL="685800" rtl="0" algn="l">
              <a:lnSpc>
                <a:spcPct val="90000"/>
              </a:lnSpc>
              <a:spcBef>
                <a:spcPts val="1000"/>
              </a:spcBef>
              <a:spcAft>
                <a:spcPts val="0"/>
              </a:spcAft>
              <a:buSzPts val="4364"/>
              <a:buFont typeface="Arial"/>
              <a:buNone/>
            </a:pPr>
            <a:r>
              <a:t/>
            </a:r>
            <a:endParaRPr>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5"/>
          <p:cNvSpPr txBox="1"/>
          <p:nvPr>
            <p:ph type="title"/>
          </p:nvPr>
        </p:nvSpPr>
        <p:spPr>
          <a:xfrm>
            <a:off x="770304" y="1305035"/>
            <a:ext cx="8301318" cy="94645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6000"/>
              <a:buFont typeface="Calibri"/>
              <a:buNone/>
            </a:pPr>
            <a:br>
              <a:rPr b="1" lang="es-MX" sz="4800">
                <a:latin typeface="Work Sans"/>
                <a:ea typeface="Work Sans"/>
                <a:cs typeface="Work Sans"/>
                <a:sym typeface="Work Sans"/>
              </a:rPr>
            </a:br>
            <a:r>
              <a:rPr b="1" lang="es-MX" sz="4800">
                <a:latin typeface="Work Sans"/>
                <a:ea typeface="Work Sans"/>
                <a:cs typeface="Work Sans"/>
                <a:sym typeface="Work Sans"/>
              </a:rPr>
              <a:t>1. Contextualización </a:t>
            </a:r>
            <a:endParaRPr b="1" sz="4800">
              <a:latin typeface="Work Sans"/>
              <a:ea typeface="Work Sans"/>
              <a:cs typeface="Work Sans"/>
              <a:sym typeface="Work Sans"/>
            </a:endParaRPr>
          </a:p>
        </p:txBody>
      </p:sp>
      <p:sp>
        <p:nvSpPr>
          <p:cNvPr id="108" name="Google Shape;108;p25"/>
          <p:cNvSpPr txBox="1"/>
          <p:nvPr>
            <p:ph idx="1" type="body"/>
          </p:nvPr>
        </p:nvSpPr>
        <p:spPr>
          <a:xfrm>
            <a:off x="354753" y="2086537"/>
            <a:ext cx="7344189" cy="2101722"/>
          </a:xfrm>
          <a:prstGeom prst="rect">
            <a:avLst/>
          </a:prstGeom>
          <a:noFill/>
          <a:ln>
            <a:noFill/>
          </a:ln>
        </p:spPr>
        <p:txBody>
          <a:bodyPr anchorCtr="0" anchor="t" bIns="45700" lIns="91425" spcFirstLastPara="1" rIns="91425" wrap="square" tIns="45700">
            <a:normAutofit/>
          </a:bodyPr>
          <a:lstStyle/>
          <a:p>
            <a:pPr indent="0" lvl="0" marL="457200" rtl="0" algn="just">
              <a:lnSpc>
                <a:spcPct val="100000"/>
              </a:lnSpc>
              <a:spcBef>
                <a:spcPts val="1000"/>
              </a:spcBef>
              <a:spcAft>
                <a:spcPts val="0"/>
              </a:spcAft>
              <a:buSzPts val="2400"/>
              <a:buNone/>
            </a:pPr>
            <a:r>
              <a:rPr b="0" i="0" lang="es-MX" sz="1800" u="none" strike="noStrike">
                <a:solidFill>
                  <a:srgbClr val="000000"/>
                </a:solidFill>
                <a:latin typeface="Arial"/>
                <a:ea typeface="Arial"/>
                <a:cs typeface="Arial"/>
                <a:sym typeface="Arial"/>
              </a:rPr>
              <a:t>Este proyecto consiste en el desarrollo de un sistema de información y gestión para una papelería, diseñado para atacar de frente el desorden administrativo que suele frenar a este tipo de negocios. No se trata solo de un "sitio web", sino de una herramienta integral para centralizar el control del inventario y modernizar la experiencia del cliente.</a:t>
            </a:r>
            <a:endParaRPr/>
          </a:p>
          <a:p>
            <a:pPr indent="0" lvl="0" marL="228600" rtl="0" algn="just">
              <a:lnSpc>
                <a:spcPct val="90000"/>
              </a:lnSpc>
              <a:spcBef>
                <a:spcPts val="1000"/>
              </a:spcBef>
              <a:spcAft>
                <a:spcPts val="0"/>
              </a:spcAft>
              <a:buClr>
                <a:srgbClr val="888888"/>
              </a:buClr>
              <a:buSzPts val="2400"/>
              <a:buNone/>
            </a:pPr>
            <a:r>
              <a:t/>
            </a:r>
            <a:endParaRPr/>
          </a:p>
        </p:txBody>
      </p:sp>
      <p:pic>
        <p:nvPicPr>
          <p:cNvPr descr="Servicio Nacional de Aprendizaje - SENA | Bogota.gov.co" id="109" name="Google Shape;109;p25"/>
          <p:cNvPicPr preferRelativeResize="0"/>
          <p:nvPr/>
        </p:nvPicPr>
        <p:blipFill rotWithShape="1">
          <a:blip r:embed="rId3">
            <a:alphaModFix/>
          </a:blip>
          <a:srcRect b="0" l="0" r="0" t="0"/>
          <a:stretch/>
        </p:blipFill>
        <p:spPr>
          <a:xfrm>
            <a:off x="11262712" y="314959"/>
            <a:ext cx="651382" cy="636867"/>
          </a:xfrm>
          <a:prstGeom prst="rect">
            <a:avLst/>
          </a:prstGeom>
          <a:noFill/>
          <a:ln>
            <a:noFill/>
          </a:ln>
        </p:spPr>
      </p:pic>
      <p:pic>
        <p:nvPicPr>
          <p:cNvPr descr="Página 2 | Imágenes de Muñeco blanco mate - Descarga gratuita en Freepik" id="110" name="Google Shape;110;p25"/>
          <p:cNvPicPr preferRelativeResize="0"/>
          <p:nvPr/>
        </p:nvPicPr>
        <p:blipFill rotWithShape="1">
          <a:blip r:embed="rId4">
            <a:alphaModFix/>
          </a:blip>
          <a:srcRect b="0" l="0" r="0" t="0"/>
          <a:stretch/>
        </p:blipFill>
        <p:spPr>
          <a:xfrm>
            <a:off x="8860443" y="1480457"/>
            <a:ext cx="2727960" cy="389708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4" name="Shape 114"/>
        <p:cNvGrpSpPr/>
        <p:nvPr/>
      </p:nvGrpSpPr>
      <p:grpSpPr>
        <a:xfrm>
          <a:off x="0" y="0"/>
          <a:ext cx="0" cy="0"/>
          <a:chOff x="0" y="0"/>
          <a:chExt cx="0" cy="0"/>
        </a:xfrm>
      </p:grpSpPr>
      <p:sp>
        <p:nvSpPr>
          <p:cNvPr id="115" name="Google Shape;115;p5"/>
          <p:cNvSpPr txBox="1"/>
          <p:nvPr/>
        </p:nvSpPr>
        <p:spPr>
          <a:xfrm>
            <a:off x="640080" y="2087293"/>
            <a:ext cx="9815809" cy="741563"/>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4D4D4C"/>
              </a:buClr>
              <a:buSzPts val="3600"/>
              <a:buFont typeface="Work Sans"/>
              <a:buNone/>
            </a:pPr>
            <a:r>
              <a:rPr b="1" i="0" lang="es-MX" sz="3600" u="none" cap="none" strike="noStrike">
                <a:solidFill>
                  <a:schemeClr val="dk1"/>
                </a:solidFill>
                <a:latin typeface="Work Sans"/>
                <a:ea typeface="Work Sans"/>
                <a:cs typeface="Work Sans"/>
                <a:sym typeface="Work Sans"/>
              </a:rPr>
              <a:t>2. Planteamiento del problema</a:t>
            </a:r>
            <a:endParaRPr b="1" i="0" sz="3600" u="none" cap="none" strike="noStrike">
              <a:solidFill>
                <a:schemeClr val="dk1"/>
              </a:solidFill>
              <a:latin typeface="Work Sans"/>
              <a:ea typeface="Work Sans"/>
              <a:cs typeface="Work Sans"/>
              <a:sym typeface="Work Sans"/>
            </a:endParaRPr>
          </a:p>
        </p:txBody>
      </p:sp>
      <p:sp>
        <p:nvSpPr>
          <p:cNvPr id="116" name="Google Shape;116;p5"/>
          <p:cNvSpPr txBox="1"/>
          <p:nvPr/>
        </p:nvSpPr>
        <p:spPr>
          <a:xfrm>
            <a:off x="640075" y="2626800"/>
            <a:ext cx="7280100" cy="2862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chemeClr val="dk1"/>
                </a:solidFill>
                <a:latin typeface="Calibri"/>
                <a:ea typeface="Calibri"/>
                <a:cs typeface="Calibri"/>
                <a:sym typeface="Calibri"/>
              </a:rPr>
              <a:t>El principal problema identificado fue la mala organización del inventario y de los pedidos a domicilio sin contar la falta de papelerías que hay en el sector ya que las pocas que se encuentran en ciudad verde quedan o muy lejos o no cuentan con el producto que las personas solicitan.</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chemeClr val="dk1"/>
                </a:solidFill>
                <a:latin typeface="Calibri"/>
                <a:ea typeface="Calibri"/>
                <a:cs typeface="Calibri"/>
                <a:sym typeface="Calibri"/>
              </a:rPr>
              <a:t>También identificamos que no llevan un orden adecuado en el reporte de ventas</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chemeClr val="dk1"/>
                </a:solidFill>
                <a:latin typeface="Calibri"/>
                <a:ea typeface="Calibri"/>
                <a:cs typeface="Calibri"/>
                <a:sym typeface="Calibri"/>
              </a:rPr>
              <a:t>Municipio: Soacha</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chemeClr val="dk1"/>
                </a:solidFill>
                <a:latin typeface="Calibri"/>
                <a:ea typeface="Calibri"/>
                <a:cs typeface="Calibri"/>
                <a:sym typeface="Calibri"/>
              </a:rPr>
              <a:t>Barrio: Ciudad verde</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chemeClr val="dk1"/>
                </a:solidFill>
                <a:latin typeface="Calibri"/>
                <a:ea typeface="Calibri"/>
                <a:cs typeface="Calibri"/>
                <a:sym typeface="Calibri"/>
              </a:rPr>
              <a:t>Empresa: Colorín papelin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chemeClr val="dk1"/>
                </a:solidFill>
                <a:latin typeface="Calibri"/>
                <a:ea typeface="Calibri"/>
                <a:cs typeface="Calibri"/>
                <a:sym typeface="Calibri"/>
              </a:rPr>
              <a:t>Dueña: Tatiana Rojas </a:t>
            </a:r>
            <a:endParaRPr b="0" i="0" sz="1800" u="none" cap="none" strike="noStrike">
              <a:solidFill>
                <a:schemeClr val="dk1"/>
              </a:solidFill>
              <a:latin typeface="Calibri"/>
              <a:ea typeface="Calibri"/>
              <a:cs typeface="Calibri"/>
              <a:sym typeface="Calibri"/>
            </a:endParaRPr>
          </a:p>
        </p:txBody>
      </p:sp>
      <p:pic>
        <p:nvPicPr>
          <p:cNvPr descr="analizando problema y problema resolviendo concepto 36358060 Vector en ..." id="117" name="Google Shape;117;p5"/>
          <p:cNvPicPr preferRelativeResize="0"/>
          <p:nvPr/>
        </p:nvPicPr>
        <p:blipFill rotWithShape="1">
          <a:blip r:embed="rId4">
            <a:alphaModFix/>
          </a:blip>
          <a:srcRect b="0" l="0" r="0" t="0"/>
          <a:stretch/>
        </p:blipFill>
        <p:spPr>
          <a:xfrm>
            <a:off x="8028300" y="2087293"/>
            <a:ext cx="3523620" cy="28629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1" name="Shape 121"/>
        <p:cNvGrpSpPr/>
        <p:nvPr/>
      </p:nvGrpSpPr>
      <p:grpSpPr>
        <a:xfrm>
          <a:off x="0" y="0"/>
          <a:ext cx="0" cy="0"/>
          <a:chOff x="0" y="0"/>
          <a:chExt cx="0" cy="0"/>
        </a:xfrm>
      </p:grpSpPr>
      <p:sp>
        <p:nvSpPr>
          <p:cNvPr id="122" name="Google Shape;122;p6"/>
          <p:cNvSpPr txBox="1"/>
          <p:nvPr/>
        </p:nvSpPr>
        <p:spPr>
          <a:xfrm>
            <a:off x="560949" y="2634890"/>
            <a:ext cx="9815809" cy="741563"/>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4D4D4C"/>
              </a:buClr>
              <a:buSzPts val="3600"/>
              <a:buFont typeface="Work Sans"/>
              <a:buNone/>
            </a:pPr>
            <a:r>
              <a:rPr b="1" i="0" lang="es-MX" sz="3600" u="none" cap="none" strike="noStrike">
                <a:solidFill>
                  <a:schemeClr val="dk1"/>
                </a:solidFill>
                <a:latin typeface="Work Sans"/>
                <a:ea typeface="Work Sans"/>
                <a:cs typeface="Work Sans"/>
                <a:sym typeface="Work Sans"/>
              </a:rPr>
              <a:t>3. Pregunta</a:t>
            </a:r>
            <a:r>
              <a:rPr b="1" i="0" lang="es-MX" sz="3600" u="none" cap="none" strike="noStrike">
                <a:solidFill>
                  <a:srgbClr val="4D4D4C"/>
                </a:solidFill>
                <a:latin typeface="Work Sans"/>
                <a:ea typeface="Work Sans"/>
                <a:cs typeface="Work Sans"/>
                <a:sym typeface="Work Sans"/>
              </a:rPr>
              <a:t> </a:t>
            </a:r>
            <a:r>
              <a:rPr b="1" i="0" lang="es-MX" sz="3600" u="none" cap="none" strike="noStrike">
                <a:solidFill>
                  <a:schemeClr val="dk1"/>
                </a:solidFill>
                <a:latin typeface="Work Sans"/>
                <a:ea typeface="Work Sans"/>
                <a:cs typeface="Work Sans"/>
                <a:sym typeface="Work Sans"/>
              </a:rPr>
              <a:t>Problema</a:t>
            </a:r>
            <a:endParaRPr b="1" i="0" sz="3600" u="none" cap="none" strike="noStrike">
              <a:solidFill>
                <a:schemeClr val="dk1"/>
              </a:solidFill>
              <a:latin typeface="Work Sans"/>
              <a:ea typeface="Work Sans"/>
              <a:cs typeface="Work Sans"/>
              <a:sym typeface="Work Sans"/>
            </a:endParaRPr>
          </a:p>
        </p:txBody>
      </p:sp>
      <p:sp>
        <p:nvSpPr>
          <p:cNvPr id="123" name="Google Shape;123;p6"/>
          <p:cNvSpPr txBox="1"/>
          <p:nvPr/>
        </p:nvSpPr>
        <p:spPr>
          <a:xfrm>
            <a:off x="560950" y="3292157"/>
            <a:ext cx="6395022" cy="64389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chemeClr val="dk1"/>
                </a:solidFill>
                <a:latin typeface="Calibri"/>
                <a:ea typeface="Calibri"/>
                <a:cs typeface="Calibri"/>
                <a:sym typeface="Calibri"/>
              </a:rPr>
              <a:t>¿Cómo implementar un sistema que mejore la organización del inventario y la gestión de pedidos?</a:t>
            </a:r>
            <a:endParaRPr b="0" i="0" sz="1800" u="none" cap="none" strike="noStrike">
              <a:solidFill>
                <a:schemeClr val="dk1"/>
              </a:solidFill>
              <a:latin typeface="Calibri"/>
              <a:ea typeface="Calibri"/>
              <a:cs typeface="Calibri"/>
              <a:sym typeface="Calibri"/>
            </a:endParaRPr>
          </a:p>
        </p:txBody>
      </p:sp>
      <p:sp>
        <p:nvSpPr>
          <p:cNvPr id="124" name="Google Shape;124;p6"/>
          <p:cNvSpPr txBox="1"/>
          <p:nvPr/>
        </p:nvSpPr>
        <p:spPr>
          <a:xfrm>
            <a:off x="8015605" y="3460750"/>
            <a:ext cx="4064000" cy="30670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gunta y respuesta, resolviendo problema o negocio solución, pedir ..." id="125" name="Google Shape;125;p6"/>
          <p:cNvPicPr preferRelativeResize="0"/>
          <p:nvPr/>
        </p:nvPicPr>
        <p:blipFill rotWithShape="1">
          <a:blip r:embed="rId4">
            <a:alphaModFix/>
          </a:blip>
          <a:srcRect b="0" l="0" r="0" t="0"/>
          <a:stretch/>
        </p:blipFill>
        <p:spPr>
          <a:xfrm>
            <a:off x="7481369" y="1746884"/>
            <a:ext cx="3712946" cy="309054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8"/>
          <p:cNvSpPr txBox="1"/>
          <p:nvPr/>
        </p:nvSpPr>
        <p:spPr>
          <a:xfrm>
            <a:off x="434535" y="1949133"/>
            <a:ext cx="6741160" cy="6451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s-MX" sz="3600" u="none" cap="none" strike="noStrike">
                <a:solidFill>
                  <a:schemeClr val="dk1"/>
                </a:solidFill>
                <a:latin typeface="Work Sans"/>
                <a:ea typeface="Work Sans"/>
                <a:cs typeface="Work Sans"/>
                <a:sym typeface="Work Sans"/>
              </a:rPr>
              <a:t>4. Justificación</a:t>
            </a:r>
            <a:endParaRPr b="1" i="0" sz="3600" u="none" cap="none" strike="noStrike">
              <a:solidFill>
                <a:schemeClr val="dk1"/>
              </a:solidFill>
              <a:latin typeface="Arial"/>
              <a:ea typeface="Arial"/>
              <a:cs typeface="Arial"/>
              <a:sym typeface="Arial"/>
            </a:endParaRPr>
          </a:p>
        </p:txBody>
      </p:sp>
      <p:sp>
        <p:nvSpPr>
          <p:cNvPr id="131" name="Google Shape;131;p8"/>
          <p:cNvSpPr txBox="1"/>
          <p:nvPr/>
        </p:nvSpPr>
        <p:spPr>
          <a:xfrm>
            <a:off x="588645" y="2548255"/>
            <a:ext cx="4064000" cy="30670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8"/>
          <p:cNvSpPr txBox="1"/>
          <p:nvPr/>
        </p:nvSpPr>
        <p:spPr>
          <a:xfrm>
            <a:off x="397510" y="2640330"/>
            <a:ext cx="6549390" cy="262064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000000"/>
                </a:solidFill>
                <a:latin typeface="Calibri"/>
                <a:ea typeface="Calibri"/>
                <a:cs typeface="Calibri"/>
                <a:sym typeface="Calibri"/>
              </a:rPr>
              <a:t>Este proyecto es necesario para modernizar los procesos de la papelería y mejorar su funcionamiento interno, la implementación de un sistema de información permitirá tener mayor control sobre el stock, facilitar la compra mediante pedidos en línea y ofrecer un espacio de opinión y comodidad para los clientes, con esto se busca fortalecer la gestión del negocio y crecimiento de la empresa.</a:t>
            </a:r>
            <a:endParaRPr b="0" i="0" sz="1800" u="none" cap="none" strike="noStrike">
              <a:solidFill>
                <a:srgbClr val="000000"/>
              </a:solidFill>
              <a:latin typeface="Calibri"/>
              <a:ea typeface="Calibri"/>
              <a:cs typeface="Calibri"/>
              <a:sym typeface="Calibri"/>
            </a:endParaRPr>
          </a:p>
        </p:txBody>
      </p:sp>
      <p:pic>
        <p:nvPicPr>
          <p:cNvPr descr="Servicio Nacional de Aprendizaje - SENA | Bogota.gov.co" id="133" name="Google Shape;133;p8"/>
          <p:cNvPicPr preferRelativeResize="0"/>
          <p:nvPr/>
        </p:nvPicPr>
        <p:blipFill rotWithShape="1">
          <a:blip r:embed="rId3">
            <a:alphaModFix/>
          </a:blip>
          <a:srcRect b="0" l="0" r="0" t="0"/>
          <a:stretch/>
        </p:blipFill>
        <p:spPr>
          <a:xfrm>
            <a:off x="11262712" y="314959"/>
            <a:ext cx="651382" cy="636867"/>
          </a:xfrm>
          <a:prstGeom prst="rect">
            <a:avLst/>
          </a:prstGeom>
          <a:noFill/>
          <a:ln>
            <a:noFill/>
          </a:ln>
        </p:spPr>
      </p:pic>
      <p:pic>
        <p:nvPicPr>
          <p:cNvPr id="134" name="Google Shape;134;p8"/>
          <p:cNvPicPr preferRelativeResize="0"/>
          <p:nvPr/>
        </p:nvPicPr>
        <p:blipFill rotWithShape="1">
          <a:blip r:embed="rId4">
            <a:alphaModFix/>
          </a:blip>
          <a:srcRect b="0" l="0" r="0" t="0"/>
          <a:stretch/>
        </p:blipFill>
        <p:spPr>
          <a:xfrm>
            <a:off x="7366830" y="1462360"/>
            <a:ext cx="3933279" cy="393327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7"/>
          <p:cNvSpPr txBox="1"/>
          <p:nvPr/>
        </p:nvSpPr>
        <p:spPr>
          <a:xfrm>
            <a:off x="572770" y="418758"/>
            <a:ext cx="5577840" cy="64629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400"/>
              <a:buFont typeface="Arial"/>
              <a:buNone/>
            </a:pPr>
            <a:r>
              <a:rPr b="1" i="0" lang="es-MX" sz="3600" u="none" cap="none" strike="noStrike">
                <a:solidFill>
                  <a:srgbClr val="000000"/>
                </a:solidFill>
                <a:latin typeface="Work Sans"/>
                <a:ea typeface="Work Sans"/>
                <a:cs typeface="Work Sans"/>
                <a:sym typeface="Work Sans"/>
              </a:rPr>
              <a:t>5. Alcance del proyecto</a:t>
            </a:r>
            <a:endParaRPr b="1" i="0" sz="3600" u="none" cap="none" strike="noStrike">
              <a:solidFill>
                <a:srgbClr val="000000"/>
              </a:solidFill>
              <a:latin typeface="Work Sans"/>
              <a:ea typeface="Work Sans"/>
              <a:cs typeface="Work Sans"/>
              <a:sym typeface="Work Sans"/>
            </a:endParaRPr>
          </a:p>
        </p:txBody>
      </p:sp>
      <p:sp>
        <p:nvSpPr>
          <p:cNvPr id="140" name="Google Shape;140;p7"/>
          <p:cNvSpPr txBox="1"/>
          <p:nvPr/>
        </p:nvSpPr>
        <p:spPr>
          <a:xfrm>
            <a:off x="572770" y="1266386"/>
            <a:ext cx="6074215" cy="25844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000000"/>
                </a:solidFill>
                <a:latin typeface="Calibri"/>
                <a:ea typeface="Calibri"/>
                <a:cs typeface="Calibri"/>
                <a:sym typeface="Calibri"/>
              </a:rPr>
              <a:t>Alcance:</a:t>
            </a:r>
            <a:endParaRPr b="0" i="0" sz="1800" u="none" cap="none" strike="noStrike">
              <a:solidFill>
                <a:srgbClr val="000000"/>
              </a:solidFill>
              <a:latin typeface="Calibri"/>
              <a:ea typeface="Calibri"/>
              <a:cs typeface="Calibri"/>
              <a:sym typeface="Calibri"/>
            </a:endParaRPr>
          </a:p>
          <a:p>
            <a:pPr indent="-285750" lvl="0" marL="285750" marR="0" rtl="0" algn="l">
              <a:lnSpc>
                <a:spcPct val="100000"/>
              </a:lnSpc>
              <a:spcBef>
                <a:spcPts val="0"/>
              </a:spcBef>
              <a:spcAft>
                <a:spcPts val="0"/>
              </a:spcAft>
              <a:buClr>
                <a:srgbClr val="000000"/>
              </a:buClr>
              <a:buSzPts val="1800"/>
              <a:buFont typeface="Arial"/>
              <a:buChar char="•"/>
            </a:pPr>
            <a:r>
              <a:rPr b="0" i="0" lang="es-MX" sz="1800" u="none" cap="none" strike="noStrike">
                <a:solidFill>
                  <a:srgbClr val="000000"/>
                </a:solidFill>
                <a:latin typeface="Calibri"/>
                <a:ea typeface="Calibri"/>
                <a:cs typeface="Calibri"/>
                <a:sym typeface="Calibri"/>
              </a:rPr>
              <a:t>Desarrollar un sistema para la organización de ventas.</a:t>
            </a:r>
            <a:endParaRPr b="0" i="0" sz="1800" u="none" cap="none" strike="noStrike">
              <a:solidFill>
                <a:srgbClr val="000000"/>
              </a:solidFill>
              <a:latin typeface="Calibri"/>
              <a:ea typeface="Calibri"/>
              <a:cs typeface="Calibri"/>
              <a:sym typeface="Calibri"/>
            </a:endParaRPr>
          </a:p>
          <a:p>
            <a:pPr indent="-285750" lvl="0" marL="285750" marR="0" rtl="0" algn="l">
              <a:lnSpc>
                <a:spcPct val="100000"/>
              </a:lnSpc>
              <a:spcBef>
                <a:spcPts val="0"/>
              </a:spcBef>
              <a:spcAft>
                <a:spcPts val="0"/>
              </a:spcAft>
              <a:buClr>
                <a:srgbClr val="000000"/>
              </a:buClr>
              <a:buSzPts val="1800"/>
              <a:buFont typeface="Arial"/>
              <a:buChar char="•"/>
            </a:pPr>
            <a:r>
              <a:rPr b="0" i="0" lang="es-MX" sz="1800" u="none" cap="none" strike="noStrike">
                <a:solidFill>
                  <a:srgbClr val="000000"/>
                </a:solidFill>
                <a:latin typeface="Calibri"/>
                <a:ea typeface="Calibri"/>
                <a:cs typeface="Calibri"/>
                <a:sym typeface="Calibri"/>
              </a:rPr>
              <a:t>Implementar un módulo de pedidos en línea con carrito de compras.</a:t>
            </a:r>
            <a:endParaRPr b="0" i="0" sz="1800" u="none" cap="none" strike="noStrike">
              <a:solidFill>
                <a:srgbClr val="000000"/>
              </a:solidFill>
              <a:latin typeface="Calibri"/>
              <a:ea typeface="Calibri"/>
              <a:cs typeface="Calibri"/>
              <a:sym typeface="Calibri"/>
            </a:endParaRPr>
          </a:p>
          <a:p>
            <a:pPr indent="-285750" lvl="0" marL="285750" marR="0" rtl="0" algn="l">
              <a:lnSpc>
                <a:spcPct val="100000"/>
              </a:lnSpc>
              <a:spcBef>
                <a:spcPts val="0"/>
              </a:spcBef>
              <a:spcAft>
                <a:spcPts val="0"/>
              </a:spcAft>
              <a:buClr>
                <a:srgbClr val="000000"/>
              </a:buClr>
              <a:buSzPts val="1800"/>
              <a:buFont typeface="Arial"/>
              <a:buChar char="•"/>
            </a:pPr>
            <a:r>
              <a:rPr b="0" i="0" lang="es-MX" sz="1800" u="none" cap="none" strike="noStrike">
                <a:solidFill>
                  <a:srgbClr val="000000"/>
                </a:solidFill>
                <a:latin typeface="Calibri"/>
                <a:ea typeface="Calibri"/>
                <a:cs typeface="Calibri"/>
                <a:sym typeface="Calibri"/>
              </a:rPr>
              <a:t>Integrar métodos de pago como Nequi y contra entrega.</a:t>
            </a:r>
            <a:endParaRPr b="0" i="0" sz="1800" u="none" cap="none" strike="noStrike">
              <a:solidFill>
                <a:srgbClr val="000000"/>
              </a:solidFill>
              <a:latin typeface="Calibri"/>
              <a:ea typeface="Calibri"/>
              <a:cs typeface="Calibri"/>
              <a:sym typeface="Calibri"/>
            </a:endParaRPr>
          </a:p>
          <a:p>
            <a:pPr indent="-285750" lvl="0" marL="285750" marR="0" rtl="0" algn="l">
              <a:lnSpc>
                <a:spcPct val="100000"/>
              </a:lnSpc>
              <a:spcBef>
                <a:spcPts val="0"/>
              </a:spcBef>
              <a:spcAft>
                <a:spcPts val="0"/>
              </a:spcAft>
              <a:buClr>
                <a:srgbClr val="000000"/>
              </a:buClr>
              <a:buSzPts val="1800"/>
              <a:buFont typeface="Arial"/>
              <a:buChar char="•"/>
            </a:pPr>
            <a:r>
              <a:rPr b="0" i="0" lang="es-MX" sz="1800" u="none" cap="none" strike="noStrike">
                <a:solidFill>
                  <a:srgbClr val="000000"/>
                </a:solidFill>
                <a:latin typeface="Calibri"/>
                <a:ea typeface="Calibri"/>
                <a:cs typeface="Calibri"/>
                <a:sym typeface="Calibri"/>
              </a:rPr>
              <a:t>Crear un apartado de reseñas para evaluar la satisfacción del cliente.</a:t>
            </a:r>
            <a:endParaRPr b="0" i="0" sz="1800" u="none" cap="none" strike="noStrike">
              <a:solidFill>
                <a:srgbClr val="000000"/>
              </a:solidFill>
              <a:latin typeface="Calibri"/>
              <a:ea typeface="Calibri"/>
              <a:cs typeface="Calibri"/>
              <a:sym typeface="Calibri"/>
            </a:endParaRPr>
          </a:p>
          <a:p>
            <a:pPr indent="-285750" lvl="0" marL="285750" marR="0" rtl="0" algn="l">
              <a:lnSpc>
                <a:spcPct val="100000"/>
              </a:lnSpc>
              <a:spcBef>
                <a:spcPts val="0"/>
              </a:spcBef>
              <a:spcAft>
                <a:spcPts val="0"/>
              </a:spcAft>
              <a:buClr>
                <a:srgbClr val="000000"/>
              </a:buClr>
              <a:buSzPts val="1800"/>
              <a:buFont typeface="Arial"/>
              <a:buChar char="•"/>
            </a:pPr>
            <a:r>
              <a:rPr b="0" i="0" lang="es-MX" sz="1800" u="none" cap="none" strike="noStrike">
                <a:solidFill>
                  <a:srgbClr val="000000"/>
                </a:solidFill>
                <a:latin typeface="Calibri"/>
                <a:ea typeface="Calibri"/>
                <a:cs typeface="Calibri"/>
                <a:sym typeface="Calibri"/>
              </a:rPr>
              <a:t>Diseñar un sistema que controle el inventario</a:t>
            </a:r>
            <a:endParaRPr b="0" i="0" sz="1800" u="none" cap="none" strike="noStrike">
              <a:solidFill>
                <a:srgbClr val="000000"/>
              </a:solidFill>
              <a:latin typeface="Calibri"/>
              <a:ea typeface="Calibri"/>
              <a:cs typeface="Calibri"/>
              <a:sym typeface="Calibri"/>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1" name="Google Shape;141;p7"/>
          <p:cNvSpPr txBox="1"/>
          <p:nvPr/>
        </p:nvSpPr>
        <p:spPr>
          <a:xfrm>
            <a:off x="572770" y="3662165"/>
            <a:ext cx="5694600" cy="1754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000000"/>
                </a:solidFill>
                <a:latin typeface="Calibri"/>
                <a:ea typeface="Calibri"/>
                <a:cs typeface="Calibri"/>
                <a:sym typeface="Calibri"/>
              </a:rPr>
              <a:t>Fuera del alcance</a:t>
            </a:r>
            <a:endParaRPr b="0" i="0" sz="1800" u="none" cap="none" strike="noStrike">
              <a:solidFill>
                <a:srgbClr val="000000"/>
              </a:solidFill>
              <a:latin typeface="Calibri"/>
              <a:ea typeface="Calibri"/>
              <a:cs typeface="Calibri"/>
              <a:sym typeface="Calibri"/>
            </a:endParaRPr>
          </a:p>
          <a:p>
            <a:pPr indent="-285750" lvl="0" marL="285750" marR="0" rtl="0" algn="l">
              <a:lnSpc>
                <a:spcPct val="100000"/>
              </a:lnSpc>
              <a:spcBef>
                <a:spcPts val="0"/>
              </a:spcBef>
              <a:spcAft>
                <a:spcPts val="0"/>
              </a:spcAft>
              <a:buClr>
                <a:srgbClr val="000000"/>
              </a:buClr>
              <a:buSzPts val="1800"/>
              <a:buFont typeface="Arial"/>
              <a:buChar char="•"/>
            </a:pPr>
            <a:r>
              <a:rPr b="0" i="0" lang="es-MX" sz="1800" u="none" cap="none" strike="noStrike">
                <a:solidFill>
                  <a:srgbClr val="000000"/>
                </a:solidFill>
                <a:latin typeface="Calibri"/>
                <a:ea typeface="Calibri"/>
                <a:cs typeface="Calibri"/>
                <a:sym typeface="Calibri"/>
              </a:rPr>
              <a:t>Implementar el sistema en múltiples sucursales.</a:t>
            </a:r>
            <a:endParaRPr b="0" i="0" sz="1800" u="none" cap="none" strike="noStrike">
              <a:solidFill>
                <a:srgbClr val="000000"/>
              </a:solidFill>
              <a:latin typeface="Calibri"/>
              <a:ea typeface="Calibri"/>
              <a:cs typeface="Calibri"/>
              <a:sym typeface="Calibri"/>
            </a:endParaRPr>
          </a:p>
          <a:p>
            <a:pPr indent="-285750" lvl="0" marL="285750" marR="0" rtl="0" algn="l">
              <a:lnSpc>
                <a:spcPct val="100000"/>
              </a:lnSpc>
              <a:spcBef>
                <a:spcPts val="0"/>
              </a:spcBef>
              <a:spcAft>
                <a:spcPts val="0"/>
              </a:spcAft>
              <a:buClr>
                <a:srgbClr val="000000"/>
              </a:buClr>
              <a:buSzPts val="1800"/>
              <a:buFont typeface="Arial"/>
              <a:buChar char="•"/>
            </a:pPr>
            <a:r>
              <a:rPr b="0" i="0" lang="es-MX" sz="1800" u="none" cap="none" strike="noStrike">
                <a:solidFill>
                  <a:srgbClr val="000000"/>
                </a:solidFill>
                <a:latin typeface="Calibri"/>
                <a:ea typeface="Calibri"/>
                <a:cs typeface="Calibri"/>
                <a:sym typeface="Calibri"/>
              </a:rPr>
              <a:t>Desarrollar una aplicación móvil </a:t>
            </a:r>
            <a:endParaRPr b="0" i="0" sz="1800" u="none" cap="none" strike="noStrike">
              <a:solidFill>
                <a:srgbClr val="000000"/>
              </a:solidFill>
              <a:latin typeface="Calibri"/>
              <a:ea typeface="Calibri"/>
              <a:cs typeface="Calibri"/>
              <a:sym typeface="Calibri"/>
            </a:endParaRPr>
          </a:p>
          <a:p>
            <a:pPr indent="-285750" lvl="0" marL="285750" marR="0" rtl="0" algn="l">
              <a:lnSpc>
                <a:spcPct val="100000"/>
              </a:lnSpc>
              <a:spcBef>
                <a:spcPts val="0"/>
              </a:spcBef>
              <a:spcAft>
                <a:spcPts val="0"/>
              </a:spcAft>
              <a:buClr>
                <a:srgbClr val="000000"/>
              </a:buClr>
              <a:buSzPts val="1800"/>
              <a:buFont typeface="Arial"/>
              <a:buChar char="•"/>
            </a:pPr>
            <a:r>
              <a:rPr b="0" i="0" lang="es-MX" sz="1800" u="none" cap="none" strike="noStrike">
                <a:solidFill>
                  <a:srgbClr val="000000"/>
                </a:solidFill>
                <a:latin typeface="Calibri"/>
                <a:ea typeface="Calibri"/>
                <a:cs typeface="Calibri"/>
                <a:sym typeface="Calibri"/>
              </a:rPr>
              <a:t>Hacer envíos fuera de Bogotá distrito capital.</a:t>
            </a:r>
            <a:endParaRPr b="0" i="0" sz="1800" u="none" cap="none" strike="noStrike">
              <a:solidFill>
                <a:srgbClr val="000000"/>
              </a:solidFill>
              <a:latin typeface="Calibri"/>
              <a:ea typeface="Calibri"/>
              <a:cs typeface="Calibri"/>
              <a:sym typeface="Calibri"/>
            </a:endParaRPr>
          </a:p>
          <a:p>
            <a:pPr indent="-285750" lvl="0" marL="285750" marR="0" rtl="0" algn="l">
              <a:lnSpc>
                <a:spcPct val="100000"/>
              </a:lnSpc>
              <a:spcBef>
                <a:spcPts val="0"/>
              </a:spcBef>
              <a:spcAft>
                <a:spcPts val="0"/>
              </a:spcAft>
              <a:buClr>
                <a:srgbClr val="000000"/>
              </a:buClr>
              <a:buSzPts val="1800"/>
              <a:buFont typeface="Arial"/>
              <a:buChar char="•"/>
            </a:pPr>
            <a:r>
              <a:rPr b="0" i="0" lang="es-MX" sz="1800" u="none" cap="none" strike="noStrike">
                <a:solidFill>
                  <a:srgbClr val="000000"/>
                </a:solidFill>
                <a:latin typeface="Calibri"/>
                <a:ea typeface="Calibri"/>
                <a:cs typeface="Calibri"/>
                <a:sym typeface="Calibri"/>
              </a:rPr>
              <a:t>Automatizar procesos logísticos externos como empresas de envíos.</a:t>
            </a:r>
            <a:endParaRPr b="0" i="0" sz="1800" u="none" cap="none" strike="noStrike">
              <a:solidFill>
                <a:srgbClr val="000000"/>
              </a:solidFill>
              <a:latin typeface="Calibri"/>
              <a:ea typeface="Calibri"/>
              <a:cs typeface="Calibri"/>
              <a:sym typeface="Calibri"/>
            </a:endParaRPr>
          </a:p>
        </p:txBody>
      </p:sp>
      <p:pic>
        <p:nvPicPr>
          <p:cNvPr descr="Concepto de logro de objetivos. | Vector Premium" id="142" name="Google Shape;142;p7"/>
          <p:cNvPicPr preferRelativeResize="0"/>
          <p:nvPr/>
        </p:nvPicPr>
        <p:blipFill rotWithShape="1">
          <a:blip r:embed="rId3">
            <a:alphaModFix/>
          </a:blip>
          <a:srcRect b="0" l="0" r="0" t="0"/>
          <a:stretch/>
        </p:blipFill>
        <p:spPr>
          <a:xfrm>
            <a:off x="7580069" y="1876285"/>
            <a:ext cx="3922620" cy="3264673"/>
          </a:xfrm>
          <a:prstGeom prst="rect">
            <a:avLst/>
          </a:prstGeom>
          <a:noFill/>
          <a:ln>
            <a:noFill/>
          </a:ln>
        </p:spPr>
      </p:pic>
      <p:pic>
        <p:nvPicPr>
          <p:cNvPr descr="Servicio Nacional de Aprendizaje - SENA | Bogota.gov.co" id="143" name="Google Shape;143;p7"/>
          <p:cNvPicPr preferRelativeResize="0"/>
          <p:nvPr/>
        </p:nvPicPr>
        <p:blipFill rotWithShape="1">
          <a:blip r:embed="rId4">
            <a:alphaModFix/>
          </a:blip>
          <a:srcRect b="0" l="0" r="0" t="0"/>
          <a:stretch/>
        </p:blipFill>
        <p:spPr>
          <a:xfrm>
            <a:off x="11262712" y="314959"/>
            <a:ext cx="651382" cy="63686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7" name="Shape 147"/>
        <p:cNvGrpSpPr/>
        <p:nvPr/>
      </p:nvGrpSpPr>
      <p:grpSpPr>
        <a:xfrm>
          <a:off x="0" y="0"/>
          <a:ext cx="0" cy="0"/>
          <a:chOff x="0" y="0"/>
          <a:chExt cx="0" cy="0"/>
        </a:xfrm>
      </p:grpSpPr>
      <p:sp>
        <p:nvSpPr>
          <p:cNvPr id="148" name="Google Shape;148;p9"/>
          <p:cNvSpPr txBox="1"/>
          <p:nvPr/>
        </p:nvSpPr>
        <p:spPr>
          <a:xfrm>
            <a:off x="479682" y="639149"/>
            <a:ext cx="9815809" cy="527874"/>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FFFFFF"/>
              </a:buClr>
              <a:buSzPts val="3600"/>
              <a:buFont typeface="Work Sans"/>
              <a:buNone/>
            </a:pPr>
            <a:r>
              <a:rPr b="1" i="0" lang="es-MX" sz="3600" u="none" cap="none" strike="noStrike">
                <a:solidFill>
                  <a:srgbClr val="FFFFFF"/>
                </a:solidFill>
                <a:latin typeface="Work Sans"/>
                <a:ea typeface="Work Sans"/>
                <a:cs typeface="Work Sans"/>
                <a:sym typeface="Work Sans"/>
              </a:rPr>
              <a:t>6. Mapa BPMN:</a:t>
            </a:r>
            <a:endParaRPr b="1" i="0" sz="3600" u="none" cap="none" strike="noStrike">
              <a:solidFill>
                <a:srgbClr val="FFFFFF"/>
              </a:solidFill>
              <a:latin typeface="Work Sans"/>
              <a:ea typeface="Work Sans"/>
              <a:cs typeface="Work Sans"/>
              <a:sym typeface="Work Sans"/>
            </a:endParaRPr>
          </a:p>
        </p:txBody>
      </p:sp>
      <p:pic>
        <p:nvPicPr>
          <p:cNvPr id="149" name="Google Shape;149;p9">
            <a:hlinkClick r:id="rId4"/>
          </p:cNvPr>
          <p:cNvPicPr preferRelativeResize="0"/>
          <p:nvPr/>
        </p:nvPicPr>
        <p:blipFill rotWithShape="1">
          <a:blip r:embed="rId5">
            <a:alphaModFix/>
          </a:blip>
          <a:srcRect b="0" l="0" r="0" t="0"/>
          <a:stretch/>
        </p:blipFill>
        <p:spPr>
          <a:xfrm>
            <a:off x="549875" y="1245573"/>
            <a:ext cx="11092250" cy="538617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3"/>
          <p:cNvSpPr txBox="1"/>
          <p:nvPr/>
        </p:nvSpPr>
        <p:spPr>
          <a:xfrm>
            <a:off x="1097839" y="3141487"/>
            <a:ext cx="3492029" cy="57502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38AA00"/>
              </a:buClr>
              <a:buSzPts val="3600"/>
              <a:buFont typeface="Work Sans"/>
              <a:buNone/>
            </a:pPr>
            <a:r>
              <a:rPr b="1" i="0" lang="es-MX" sz="3600" u="none" cap="none" strike="noStrike">
                <a:solidFill>
                  <a:schemeClr val="dk1"/>
                </a:solidFill>
                <a:latin typeface="Work Sans"/>
                <a:ea typeface="Work Sans"/>
                <a:cs typeface="Work Sans"/>
                <a:sym typeface="Work Sans"/>
              </a:rPr>
              <a:t>7. Objetivos</a:t>
            </a:r>
            <a:endParaRPr b="1" i="0" sz="3600" u="none" cap="none" strike="noStrike">
              <a:solidFill>
                <a:srgbClr val="38AA00"/>
              </a:solidFill>
              <a:latin typeface="Work Sans"/>
              <a:ea typeface="Work Sans"/>
              <a:cs typeface="Work Sans"/>
              <a:sym typeface="Work Sans"/>
            </a:endParaRPr>
          </a:p>
        </p:txBody>
      </p:sp>
      <p:pic>
        <p:nvPicPr>
          <p:cNvPr descr="Servicio Nacional de Aprendizaje - SENA | Bogota.gov.co" id="155" name="Google Shape;155;p13"/>
          <p:cNvPicPr preferRelativeResize="0"/>
          <p:nvPr/>
        </p:nvPicPr>
        <p:blipFill rotWithShape="1">
          <a:blip r:embed="rId3">
            <a:alphaModFix/>
          </a:blip>
          <a:srcRect b="0" l="0" r="0" t="0"/>
          <a:stretch/>
        </p:blipFill>
        <p:spPr>
          <a:xfrm>
            <a:off x="11262712" y="314959"/>
            <a:ext cx="651382" cy="63686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9" name="Shape 159"/>
        <p:cNvGrpSpPr/>
        <p:nvPr/>
      </p:nvGrpSpPr>
      <p:grpSpPr>
        <a:xfrm>
          <a:off x="0" y="0"/>
          <a:ext cx="0" cy="0"/>
          <a:chOff x="0" y="0"/>
          <a:chExt cx="0" cy="0"/>
        </a:xfrm>
      </p:grpSpPr>
      <p:sp>
        <p:nvSpPr>
          <p:cNvPr id="160" name="Google Shape;160;p3"/>
          <p:cNvSpPr txBox="1"/>
          <p:nvPr/>
        </p:nvSpPr>
        <p:spPr>
          <a:xfrm>
            <a:off x="1075055" y="2089673"/>
            <a:ext cx="4001530" cy="57502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38AA00"/>
              </a:buClr>
              <a:buSzPts val="3600"/>
              <a:buFont typeface="Work Sans"/>
              <a:buNone/>
            </a:pPr>
            <a:r>
              <a:rPr b="1" i="0" lang="es-MX" sz="3600" u="none" cap="none" strike="noStrike">
                <a:solidFill>
                  <a:schemeClr val="dk1"/>
                </a:solidFill>
                <a:latin typeface="Work Sans"/>
                <a:ea typeface="Work Sans"/>
                <a:cs typeface="Work Sans"/>
                <a:sym typeface="Work Sans"/>
              </a:rPr>
              <a:t>7.1 Objetivo</a:t>
            </a:r>
            <a:r>
              <a:rPr b="1" i="0" lang="es-MX" sz="3600" u="none" cap="none" strike="noStrike">
                <a:solidFill>
                  <a:srgbClr val="38AA00"/>
                </a:solidFill>
                <a:latin typeface="Work Sans"/>
                <a:ea typeface="Work Sans"/>
                <a:cs typeface="Work Sans"/>
                <a:sym typeface="Work Sans"/>
              </a:rPr>
              <a:t> </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38AA00"/>
              </a:buClr>
              <a:buSzPts val="3600"/>
              <a:buFont typeface="Work Sans"/>
              <a:buNone/>
            </a:pPr>
            <a:r>
              <a:rPr b="1" i="0" lang="es-MX" sz="3600" u="none" cap="none" strike="noStrike">
                <a:solidFill>
                  <a:schemeClr val="dk1"/>
                </a:solidFill>
                <a:latin typeface="Work Sans"/>
                <a:ea typeface="Work Sans"/>
                <a:cs typeface="Work Sans"/>
                <a:sym typeface="Work Sans"/>
              </a:rPr>
              <a:t>general:</a:t>
            </a:r>
            <a:endParaRPr b="1" i="0" sz="3600" u="none" cap="none" strike="noStrike">
              <a:solidFill>
                <a:schemeClr val="dk1"/>
              </a:solidFill>
              <a:latin typeface="Work Sans"/>
              <a:ea typeface="Work Sans"/>
              <a:cs typeface="Work Sans"/>
              <a:sym typeface="Work Sans"/>
            </a:endParaRPr>
          </a:p>
        </p:txBody>
      </p:sp>
      <p:sp>
        <p:nvSpPr>
          <p:cNvPr id="161" name="Google Shape;161;p3"/>
          <p:cNvSpPr txBox="1"/>
          <p:nvPr/>
        </p:nvSpPr>
        <p:spPr>
          <a:xfrm>
            <a:off x="1075055" y="3180080"/>
            <a:ext cx="5924459" cy="126492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1400"/>
              <a:buFont typeface="Arial"/>
              <a:buNone/>
            </a:pPr>
            <a:r>
              <a:rPr b="0" i="0" lang="es-MX" sz="1800" u="none" cap="none" strike="noStrike">
                <a:solidFill>
                  <a:schemeClr val="dk1"/>
                </a:solidFill>
                <a:latin typeface="Calibri"/>
                <a:ea typeface="Calibri"/>
                <a:cs typeface="Calibri"/>
                <a:sym typeface="Calibri"/>
              </a:rPr>
              <a:t>Desarrollar un sistema de información y gestión para una papelería  que  nos permita de manera organizada y eficiente gestionar varios procesos de inventario.</a:t>
            </a:r>
            <a:endParaRPr b="0" i="0" sz="1800" u="none" cap="none" strike="noStrike">
              <a:solidFill>
                <a:schemeClr val="dk1"/>
              </a:solidFill>
              <a:latin typeface="Calibri"/>
              <a:ea typeface="Calibri"/>
              <a:cs typeface="Calibri"/>
              <a:sym typeface="Calibri"/>
            </a:endParaRPr>
          </a:p>
        </p:txBody>
      </p:sp>
      <p:pic>
        <p:nvPicPr>
          <p:cNvPr id="162" name="Google Shape;162;p3"/>
          <p:cNvPicPr preferRelativeResize="0"/>
          <p:nvPr/>
        </p:nvPicPr>
        <p:blipFill rotWithShape="1">
          <a:blip r:embed="rId4">
            <a:alphaModFix/>
          </a:blip>
          <a:srcRect b="0" l="0" r="0" t="0"/>
          <a:stretch/>
        </p:blipFill>
        <p:spPr>
          <a:xfrm>
            <a:off x="7582723" y="2168703"/>
            <a:ext cx="3780890" cy="252059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6" name="Shape 166"/>
        <p:cNvGrpSpPr/>
        <p:nvPr/>
      </p:nvGrpSpPr>
      <p:grpSpPr>
        <a:xfrm>
          <a:off x="0" y="0"/>
          <a:ext cx="0" cy="0"/>
          <a:chOff x="0" y="0"/>
          <a:chExt cx="0" cy="0"/>
        </a:xfrm>
      </p:grpSpPr>
      <p:sp>
        <p:nvSpPr>
          <p:cNvPr id="167" name="Google Shape;167;p4"/>
          <p:cNvSpPr txBox="1"/>
          <p:nvPr/>
        </p:nvSpPr>
        <p:spPr>
          <a:xfrm>
            <a:off x="640080" y="1804530"/>
            <a:ext cx="9815809" cy="741563"/>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4D4D4C"/>
              </a:buClr>
              <a:buSzPts val="3600"/>
              <a:buFont typeface="Work Sans"/>
              <a:buNone/>
            </a:pPr>
            <a:r>
              <a:rPr b="1" i="0" lang="es-MX" sz="3600" u="none" cap="none" strike="noStrike">
                <a:solidFill>
                  <a:schemeClr val="dk1"/>
                </a:solidFill>
                <a:latin typeface="Work Sans"/>
                <a:ea typeface="Work Sans"/>
                <a:cs typeface="Work Sans"/>
                <a:sym typeface="Work Sans"/>
              </a:rPr>
              <a:t>7.2 Objetivos específicos:</a:t>
            </a:r>
            <a:endParaRPr b="1" i="0" sz="3600" u="none" cap="none" strike="noStrike">
              <a:solidFill>
                <a:schemeClr val="dk1"/>
              </a:solidFill>
              <a:latin typeface="Work Sans"/>
              <a:ea typeface="Work Sans"/>
              <a:cs typeface="Work Sans"/>
              <a:sym typeface="Work Sans"/>
            </a:endParaRPr>
          </a:p>
        </p:txBody>
      </p:sp>
      <p:sp>
        <p:nvSpPr>
          <p:cNvPr id="168" name="Google Shape;168;p4"/>
          <p:cNvSpPr txBox="1"/>
          <p:nvPr/>
        </p:nvSpPr>
        <p:spPr>
          <a:xfrm>
            <a:off x="640080" y="2413357"/>
            <a:ext cx="6860177" cy="23088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800"/>
              <a:buFont typeface="Arial"/>
              <a:buChar char="•"/>
            </a:pPr>
            <a:r>
              <a:rPr b="0" i="0" lang="es-MX" sz="1800" u="none" cap="none" strike="noStrike">
                <a:solidFill>
                  <a:schemeClr val="dk1"/>
                </a:solidFill>
                <a:latin typeface="Calibri"/>
                <a:ea typeface="Calibri"/>
                <a:cs typeface="Calibri"/>
                <a:sym typeface="Calibri"/>
              </a:rPr>
              <a:t>Implementar un sistema de administración enfocado en la clasificación de ventas.</a:t>
            </a:r>
            <a:endParaRPr b="0" i="0" sz="1800" u="none" cap="none" strike="noStrike">
              <a:solidFill>
                <a:schemeClr val="dk1"/>
              </a:solidFill>
              <a:latin typeface="Calibri"/>
              <a:ea typeface="Calibri"/>
              <a:cs typeface="Calibri"/>
              <a:sym typeface="Calibri"/>
            </a:endParaRPr>
          </a:p>
          <a:p>
            <a:pPr indent="-285750" lvl="0" marL="285750" marR="0" rtl="0" algn="l">
              <a:lnSpc>
                <a:spcPct val="100000"/>
              </a:lnSpc>
              <a:spcBef>
                <a:spcPts val="0"/>
              </a:spcBef>
              <a:spcAft>
                <a:spcPts val="0"/>
              </a:spcAft>
              <a:buClr>
                <a:srgbClr val="000000"/>
              </a:buClr>
              <a:buSzPts val="1800"/>
              <a:buFont typeface="Arial"/>
              <a:buChar char="•"/>
            </a:pPr>
            <a:r>
              <a:rPr b="0" i="0" lang="es-MX" sz="1800" u="none" cap="none" strike="noStrike">
                <a:solidFill>
                  <a:schemeClr val="dk1"/>
                </a:solidFill>
                <a:latin typeface="Calibri"/>
                <a:ea typeface="Calibri"/>
                <a:cs typeface="Calibri"/>
                <a:sym typeface="Calibri"/>
              </a:rPr>
              <a:t>Implementar un sistema de pedidos en línea con carrito de compra y con pagos como nequi o contra entrega.</a:t>
            </a:r>
            <a:endParaRPr b="0" i="0" sz="1800" u="none" cap="none" strike="noStrike">
              <a:solidFill>
                <a:schemeClr val="dk1"/>
              </a:solidFill>
              <a:latin typeface="Calibri"/>
              <a:ea typeface="Calibri"/>
              <a:cs typeface="Calibri"/>
              <a:sym typeface="Calibri"/>
            </a:endParaRPr>
          </a:p>
          <a:p>
            <a:pPr indent="-285750" lvl="0" marL="285750" marR="0" rtl="0" algn="l">
              <a:lnSpc>
                <a:spcPct val="100000"/>
              </a:lnSpc>
              <a:spcBef>
                <a:spcPts val="0"/>
              </a:spcBef>
              <a:spcAft>
                <a:spcPts val="0"/>
              </a:spcAft>
              <a:buClr>
                <a:srgbClr val="000000"/>
              </a:buClr>
              <a:buSzPts val="1800"/>
              <a:buFont typeface="Arial"/>
              <a:buChar char="•"/>
            </a:pPr>
            <a:r>
              <a:rPr b="0" i="0" lang="es-MX" sz="1800" u="none" cap="none" strike="noStrike">
                <a:solidFill>
                  <a:schemeClr val="dk1"/>
                </a:solidFill>
                <a:latin typeface="Calibri"/>
                <a:ea typeface="Calibri"/>
                <a:cs typeface="Calibri"/>
                <a:sym typeface="Calibri"/>
              </a:rPr>
              <a:t>Implementar un apartado de reseñas que permita visualizar la opinión de cada usuario.</a:t>
            </a:r>
            <a:endParaRPr b="0" i="0" sz="1800" u="none" cap="none" strike="noStrike">
              <a:solidFill>
                <a:schemeClr val="dk1"/>
              </a:solidFill>
              <a:latin typeface="Calibri"/>
              <a:ea typeface="Calibri"/>
              <a:cs typeface="Calibri"/>
              <a:sym typeface="Calibri"/>
            </a:endParaRPr>
          </a:p>
          <a:p>
            <a:pPr indent="-285750" lvl="0" marL="285750" marR="0" rtl="0" algn="l">
              <a:lnSpc>
                <a:spcPct val="100000"/>
              </a:lnSpc>
              <a:spcBef>
                <a:spcPts val="0"/>
              </a:spcBef>
              <a:spcAft>
                <a:spcPts val="0"/>
              </a:spcAft>
              <a:buClr>
                <a:srgbClr val="000000"/>
              </a:buClr>
              <a:buSzPts val="1800"/>
              <a:buFont typeface="Arial"/>
              <a:buChar char="•"/>
            </a:pPr>
            <a:r>
              <a:rPr b="0" i="0" lang="es-MX" sz="1800" u="none" cap="none" strike="noStrike">
                <a:solidFill>
                  <a:schemeClr val="dk1"/>
                </a:solidFill>
                <a:latin typeface="Calibri"/>
                <a:ea typeface="Calibri"/>
                <a:cs typeface="Calibri"/>
                <a:sym typeface="Calibri"/>
              </a:rPr>
              <a:t>Implementar un sistema que se enfoque en la organización de stock</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69" name="Google Shape;169;p4"/>
          <p:cNvPicPr preferRelativeResize="0"/>
          <p:nvPr/>
        </p:nvPicPr>
        <p:blipFill rotWithShape="1">
          <a:blip r:embed="rId4">
            <a:alphaModFix/>
          </a:blip>
          <a:srcRect b="0" l="0" r="0" t="0"/>
          <a:stretch/>
        </p:blipFill>
        <p:spPr>
          <a:xfrm>
            <a:off x="7668305" y="1626715"/>
            <a:ext cx="3435123" cy="360456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pic>
        <p:nvPicPr>
          <p:cNvPr descr="Servicio Nacional de Aprendizaje - SENA | Bogota.gov.co" id="174" name="Google Shape;174;p14"/>
          <p:cNvPicPr preferRelativeResize="0"/>
          <p:nvPr/>
        </p:nvPicPr>
        <p:blipFill rotWithShape="1">
          <a:blip r:embed="rId3">
            <a:alphaModFix/>
          </a:blip>
          <a:srcRect b="0" l="0" r="0" t="0"/>
          <a:stretch/>
        </p:blipFill>
        <p:spPr>
          <a:xfrm>
            <a:off x="11262712" y="314959"/>
            <a:ext cx="651382" cy="636867"/>
          </a:xfrm>
          <a:prstGeom prst="rect">
            <a:avLst/>
          </a:prstGeom>
          <a:noFill/>
          <a:ln>
            <a:noFill/>
          </a:ln>
        </p:spPr>
      </p:pic>
      <p:sp>
        <p:nvSpPr>
          <p:cNvPr id="175" name="Google Shape;175;p14"/>
          <p:cNvSpPr txBox="1"/>
          <p:nvPr/>
        </p:nvSpPr>
        <p:spPr>
          <a:xfrm>
            <a:off x="664810" y="2752028"/>
            <a:ext cx="6421790" cy="1353943"/>
          </a:xfrm>
          <a:prstGeom prst="rect">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chemeClr val="dk1"/>
              </a:buClr>
              <a:buSzPts val="6000"/>
              <a:buFont typeface="Calibri"/>
              <a:buNone/>
            </a:pPr>
            <a:br>
              <a:rPr b="1" i="0" lang="es-MX" sz="4800" u="none" cap="none" strike="noStrike">
                <a:solidFill>
                  <a:srgbClr val="000000"/>
                </a:solidFill>
                <a:latin typeface="Work Sans"/>
                <a:ea typeface="Work Sans"/>
                <a:cs typeface="Work Sans"/>
                <a:sym typeface="Work Sans"/>
              </a:rPr>
            </a:br>
            <a:r>
              <a:rPr b="1" i="0" lang="es-MX" sz="3600" u="none" cap="none" strike="noStrike">
                <a:solidFill>
                  <a:srgbClr val="000000"/>
                </a:solidFill>
                <a:latin typeface="Work Sans"/>
                <a:ea typeface="Work Sans"/>
                <a:cs typeface="Work Sans"/>
                <a:sym typeface="Work Sans"/>
              </a:rPr>
              <a:t>8. Levantamiento de información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6"/>
          <p:cNvSpPr txBox="1"/>
          <p:nvPr>
            <p:ph idx="1" type="body"/>
          </p:nvPr>
        </p:nvSpPr>
        <p:spPr>
          <a:xfrm>
            <a:off x="605354" y="2341545"/>
            <a:ext cx="7394947" cy="2174905"/>
          </a:xfrm>
          <a:prstGeom prst="rect">
            <a:avLst/>
          </a:prstGeom>
          <a:noFill/>
          <a:ln>
            <a:noFill/>
          </a:ln>
        </p:spPr>
        <p:txBody>
          <a:bodyPr anchorCtr="0" anchor="t" bIns="45700" lIns="91425" spcFirstLastPara="1" rIns="91425" wrap="square" tIns="45700">
            <a:noAutofit/>
          </a:bodyPr>
          <a:lstStyle/>
          <a:p>
            <a:pPr indent="0" lvl="0" marL="449580" rtl="0" algn="just">
              <a:lnSpc>
                <a:spcPct val="100000"/>
              </a:lnSpc>
              <a:spcBef>
                <a:spcPts val="0"/>
              </a:spcBef>
              <a:spcAft>
                <a:spcPts val="0"/>
              </a:spcAft>
              <a:buSzPts val="2400"/>
              <a:buNone/>
            </a:pPr>
            <a:r>
              <a:rPr lang="es-MX" sz="1800">
                <a:solidFill>
                  <a:schemeClr val="dk1"/>
                </a:solidFill>
                <a:latin typeface="Calibri"/>
                <a:ea typeface="Calibri"/>
                <a:cs typeface="Calibri"/>
                <a:sym typeface="Calibri"/>
              </a:rPr>
              <a:t>Los resultados de la encuesta indican que los clientes compran con frecuencia productos de papelería y desean consultar precios y disponibilidad antes de ir a la tienda. También muestran interés en funciones que faciliten la compra, como pedidos anticipados, listas de productos y repetir compras. Además, valoran recibir notificaciones de promociones. En general, se concluye que un sistema digital mejoraría la experiencia de compra y optimizaría el proceso.</a:t>
            </a:r>
            <a:endParaRPr sz="1800">
              <a:solidFill>
                <a:schemeClr val="dk1"/>
              </a:solidFill>
              <a:latin typeface="Calibri"/>
              <a:ea typeface="Calibri"/>
              <a:cs typeface="Calibri"/>
              <a:sym typeface="Calibri"/>
            </a:endParaRPr>
          </a:p>
        </p:txBody>
      </p:sp>
      <p:pic>
        <p:nvPicPr>
          <p:cNvPr descr="Servicio Nacional de Aprendizaje - SENA | Bogota.gov.co" id="181" name="Google Shape;181;p26"/>
          <p:cNvPicPr preferRelativeResize="0"/>
          <p:nvPr/>
        </p:nvPicPr>
        <p:blipFill rotWithShape="1">
          <a:blip r:embed="rId3">
            <a:alphaModFix/>
          </a:blip>
          <a:srcRect b="0" l="0" r="0" t="0"/>
          <a:stretch/>
        </p:blipFill>
        <p:spPr>
          <a:xfrm>
            <a:off x="11262712" y="314959"/>
            <a:ext cx="651382" cy="636867"/>
          </a:xfrm>
          <a:prstGeom prst="rect">
            <a:avLst/>
          </a:prstGeom>
          <a:noFill/>
          <a:ln>
            <a:noFill/>
          </a:ln>
        </p:spPr>
      </p:pic>
      <p:pic>
        <p:nvPicPr>
          <p:cNvPr descr="analisis-resultados-encuestas-online – Informática para dummies" id="182" name="Google Shape;182;p26">
            <a:hlinkClick r:id="rId4"/>
          </p:cNvPr>
          <p:cNvPicPr preferRelativeResize="0"/>
          <p:nvPr/>
        </p:nvPicPr>
        <p:blipFill rotWithShape="1">
          <a:blip r:embed="rId5">
            <a:alphaModFix/>
          </a:blip>
          <a:srcRect b="0" l="0" r="0" t="0"/>
          <a:stretch/>
        </p:blipFill>
        <p:spPr>
          <a:xfrm>
            <a:off x="8869774" y="2206837"/>
            <a:ext cx="2455235" cy="2444323"/>
          </a:xfrm>
          <a:prstGeom prst="rect">
            <a:avLst/>
          </a:prstGeom>
          <a:noFill/>
          <a:ln>
            <a:noFill/>
          </a:ln>
        </p:spPr>
      </p:pic>
      <p:sp>
        <p:nvSpPr>
          <p:cNvPr id="183" name="Google Shape;183;p26"/>
          <p:cNvSpPr txBox="1"/>
          <p:nvPr/>
        </p:nvSpPr>
        <p:spPr>
          <a:xfrm>
            <a:off x="605354" y="1666988"/>
            <a:ext cx="8853505" cy="674557"/>
          </a:xfrm>
          <a:prstGeom prst="rect">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chemeClr val="dk1"/>
              </a:buClr>
              <a:buSzPts val="6000"/>
              <a:buFont typeface="Calibri"/>
              <a:buNone/>
            </a:pPr>
            <a:br>
              <a:rPr b="1" i="0" lang="es-MX" sz="4800" u="none" cap="none" strike="noStrike">
                <a:solidFill>
                  <a:schemeClr val="dk1"/>
                </a:solidFill>
                <a:latin typeface="Work Sans"/>
                <a:ea typeface="Work Sans"/>
                <a:cs typeface="Work Sans"/>
                <a:sym typeface="Work Sans"/>
              </a:rPr>
            </a:br>
            <a:r>
              <a:rPr b="1" i="0" lang="es-MX" sz="4800" u="none" cap="none" strike="noStrike">
                <a:solidFill>
                  <a:schemeClr val="dk1"/>
                </a:solidFill>
                <a:latin typeface="Work Sans"/>
                <a:ea typeface="Work Sans"/>
                <a:cs typeface="Work Sans"/>
                <a:sym typeface="Work Sans"/>
              </a:rPr>
              <a:t>8.1 </a:t>
            </a:r>
            <a:r>
              <a:rPr b="1" i="0" lang="es-MX" sz="4000" u="none" cap="none" strike="noStrike">
                <a:solidFill>
                  <a:schemeClr val="dk1"/>
                </a:solidFill>
                <a:latin typeface="Work Sans"/>
                <a:ea typeface="Work Sans"/>
                <a:cs typeface="Work Sans"/>
                <a:sym typeface="Work Sans"/>
              </a:rPr>
              <a:t>Análisis de la encuesta</a:t>
            </a:r>
            <a:endParaRPr b="1" i="0" sz="4000" u="none" cap="none" strike="noStrike">
              <a:solidFill>
                <a:schemeClr val="dk1"/>
              </a:solidFill>
              <a:latin typeface="Work Sans"/>
              <a:ea typeface="Work Sans"/>
              <a:cs typeface="Work Sans"/>
              <a:sym typeface="Work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7"/>
          <p:cNvSpPr txBox="1"/>
          <p:nvPr>
            <p:ph idx="1" type="body"/>
          </p:nvPr>
        </p:nvSpPr>
        <p:spPr>
          <a:xfrm>
            <a:off x="348244" y="2258902"/>
            <a:ext cx="8065994" cy="2464117"/>
          </a:xfrm>
          <a:prstGeom prst="rect">
            <a:avLst/>
          </a:prstGeom>
          <a:noFill/>
          <a:ln>
            <a:noFill/>
          </a:ln>
        </p:spPr>
        <p:txBody>
          <a:bodyPr anchorCtr="0" anchor="t" bIns="45700" lIns="91425" spcFirstLastPara="1" rIns="91425" wrap="square" tIns="45700">
            <a:noAutofit/>
          </a:bodyPr>
          <a:lstStyle/>
          <a:p>
            <a:pPr indent="0" lvl="0" marL="449580" rtl="0" algn="l">
              <a:lnSpc>
                <a:spcPct val="100000"/>
              </a:lnSpc>
              <a:spcBef>
                <a:spcPts val="0"/>
              </a:spcBef>
              <a:spcAft>
                <a:spcPts val="0"/>
              </a:spcAft>
              <a:buSzPts val="2400"/>
              <a:buNone/>
            </a:pPr>
            <a:r>
              <a:rPr lang="es-MX" sz="1800">
                <a:solidFill>
                  <a:schemeClr val="dk1"/>
                </a:solidFill>
              </a:rPr>
              <a:t>Los resultados muestran la necesidad de implementar un sistema que mejore el control y la organización del negocio, especialmente en la gestión de inventario con actualizaciones en tiempo real y alertas de stock. También se requiere un sistema de ventas que permita generar comprobantes, aplicar descuentos y gestionar devoluciones. Además, se destaca la importancia de contar con reportes para analizar el desempeño del negocio. En conclusión, el sistema debe ser fácil de usar, accesible desde distintos dispositivos y garantizar la seguridad de la información mediante copias de seguridad.</a:t>
            </a:r>
            <a:endParaRPr sz="1800">
              <a:solidFill>
                <a:schemeClr val="dk1"/>
              </a:solidFill>
            </a:endParaRPr>
          </a:p>
        </p:txBody>
      </p:sp>
      <p:pic>
        <p:nvPicPr>
          <p:cNvPr descr="Servicio Nacional de Aprendizaje - SENA | Bogota.gov.co" id="189" name="Google Shape;189;p27"/>
          <p:cNvPicPr preferRelativeResize="0"/>
          <p:nvPr/>
        </p:nvPicPr>
        <p:blipFill rotWithShape="1">
          <a:blip r:embed="rId3">
            <a:alphaModFix/>
          </a:blip>
          <a:srcRect b="0" l="0" r="0" t="0"/>
          <a:stretch/>
        </p:blipFill>
        <p:spPr>
          <a:xfrm>
            <a:off x="11262712" y="314959"/>
            <a:ext cx="651382" cy="636867"/>
          </a:xfrm>
          <a:prstGeom prst="rect">
            <a:avLst/>
          </a:prstGeom>
          <a:noFill/>
          <a:ln>
            <a:noFill/>
          </a:ln>
        </p:spPr>
      </p:pic>
      <p:sp>
        <p:nvSpPr>
          <p:cNvPr id="190" name="Google Shape;190;p27"/>
          <p:cNvSpPr txBox="1"/>
          <p:nvPr/>
        </p:nvSpPr>
        <p:spPr>
          <a:xfrm>
            <a:off x="348244" y="1622035"/>
            <a:ext cx="8853505" cy="636867"/>
          </a:xfrm>
          <a:prstGeom prst="rect">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chemeClr val="dk1"/>
              </a:buClr>
              <a:buSzPts val="6000"/>
              <a:buFont typeface="Calibri"/>
              <a:buNone/>
            </a:pPr>
            <a:br>
              <a:rPr b="1" i="0" lang="es-MX" sz="4800" u="none" cap="none" strike="noStrike">
                <a:solidFill>
                  <a:schemeClr val="dk1"/>
                </a:solidFill>
                <a:latin typeface="Work Sans"/>
                <a:ea typeface="Work Sans"/>
                <a:cs typeface="Work Sans"/>
                <a:sym typeface="Work Sans"/>
              </a:rPr>
            </a:br>
            <a:br>
              <a:rPr b="1" i="0" lang="es-MX" sz="1100" u="none" cap="none" strike="noStrike">
                <a:solidFill>
                  <a:schemeClr val="dk1"/>
                </a:solidFill>
                <a:latin typeface="Work Sans"/>
                <a:ea typeface="Work Sans"/>
                <a:cs typeface="Work Sans"/>
                <a:sym typeface="Work Sans"/>
              </a:rPr>
            </a:br>
            <a:r>
              <a:rPr b="1" i="0" lang="es-MX" sz="4000" u="none" cap="none" strike="noStrike">
                <a:solidFill>
                  <a:srgbClr val="000000"/>
                </a:solidFill>
                <a:latin typeface="Work Sans"/>
                <a:ea typeface="Work Sans"/>
                <a:cs typeface="Work Sans"/>
                <a:sym typeface="Work Sans"/>
              </a:rPr>
              <a:t>8.2 Análisis de la entrevista</a:t>
            </a:r>
            <a:endParaRPr b="1" i="0" sz="4000" u="none" cap="none" strike="noStrike">
              <a:solidFill>
                <a:schemeClr val="dk1"/>
              </a:solidFill>
              <a:latin typeface="Work Sans"/>
              <a:ea typeface="Work Sans"/>
              <a:cs typeface="Work Sans"/>
              <a:sym typeface="Work Sans"/>
            </a:endParaRPr>
          </a:p>
        </p:txBody>
      </p:sp>
      <p:pic>
        <p:nvPicPr>
          <p:cNvPr descr="Entrevista Periodista Línea Icono Animación Metrajes - Vídeo de icono,  teléfono: 207677456" id="191" name="Google Shape;191;p27">
            <a:hlinkClick r:id="rId4"/>
          </p:cNvPr>
          <p:cNvPicPr preferRelativeResize="0"/>
          <p:nvPr/>
        </p:nvPicPr>
        <p:blipFill rotWithShape="1">
          <a:blip r:embed="rId5">
            <a:alphaModFix/>
          </a:blip>
          <a:srcRect b="0" l="0" r="0" t="0"/>
          <a:stretch/>
        </p:blipFill>
        <p:spPr>
          <a:xfrm>
            <a:off x="8399928" y="2258902"/>
            <a:ext cx="3792072" cy="213304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pic>
        <p:nvPicPr>
          <p:cNvPr descr="Servicio Nacional de Aprendizaje - SENA | Bogota.gov.co" id="196" name="Google Shape;196;p28"/>
          <p:cNvPicPr preferRelativeResize="0"/>
          <p:nvPr/>
        </p:nvPicPr>
        <p:blipFill rotWithShape="1">
          <a:blip r:embed="rId3">
            <a:alphaModFix/>
          </a:blip>
          <a:srcRect b="0" l="0" r="0" t="0"/>
          <a:stretch/>
        </p:blipFill>
        <p:spPr>
          <a:xfrm>
            <a:off x="11262712" y="314959"/>
            <a:ext cx="651382" cy="636867"/>
          </a:xfrm>
          <a:prstGeom prst="rect">
            <a:avLst/>
          </a:prstGeom>
          <a:noFill/>
          <a:ln>
            <a:noFill/>
          </a:ln>
        </p:spPr>
      </p:pic>
      <p:sp>
        <p:nvSpPr>
          <p:cNvPr id="197" name="Google Shape;197;p28"/>
          <p:cNvSpPr txBox="1"/>
          <p:nvPr/>
        </p:nvSpPr>
        <p:spPr>
          <a:xfrm>
            <a:off x="497713" y="1883868"/>
            <a:ext cx="8853600" cy="636900"/>
          </a:xfrm>
          <a:prstGeom prst="rect">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chemeClr val="dk1"/>
              </a:buClr>
              <a:buSzPts val="6000"/>
              <a:buFont typeface="Calibri"/>
              <a:buNone/>
            </a:pPr>
            <a:br>
              <a:rPr b="1" i="0" lang="es-MX" sz="4800" u="none" cap="none" strike="noStrike">
                <a:solidFill>
                  <a:schemeClr val="dk1"/>
                </a:solidFill>
                <a:latin typeface="Work Sans"/>
                <a:ea typeface="Work Sans"/>
                <a:cs typeface="Work Sans"/>
                <a:sym typeface="Work Sans"/>
              </a:rPr>
            </a:br>
            <a:br>
              <a:rPr b="1" i="0" lang="es-MX" sz="1100" u="none" cap="none" strike="noStrike">
                <a:solidFill>
                  <a:schemeClr val="dk1"/>
                </a:solidFill>
                <a:latin typeface="Work Sans"/>
                <a:ea typeface="Work Sans"/>
                <a:cs typeface="Work Sans"/>
                <a:sym typeface="Work Sans"/>
              </a:rPr>
            </a:br>
            <a:r>
              <a:rPr b="1" i="0" lang="es-MX" sz="4000" u="none" cap="none" strike="noStrike">
                <a:solidFill>
                  <a:srgbClr val="000000"/>
                </a:solidFill>
                <a:latin typeface="Work Sans"/>
                <a:ea typeface="Work Sans"/>
                <a:cs typeface="Work Sans"/>
                <a:sym typeface="Work Sans"/>
              </a:rPr>
              <a:t>8.3 Análisis general</a:t>
            </a:r>
            <a:endParaRPr b="1" i="0" sz="4000" u="none" cap="none" strike="noStrike">
              <a:solidFill>
                <a:schemeClr val="dk1"/>
              </a:solidFill>
              <a:latin typeface="Work Sans"/>
              <a:ea typeface="Work Sans"/>
              <a:cs typeface="Work Sans"/>
              <a:sym typeface="Work Sans"/>
            </a:endParaRPr>
          </a:p>
        </p:txBody>
      </p:sp>
      <p:sp>
        <p:nvSpPr>
          <p:cNvPr id="198" name="Google Shape;198;p28"/>
          <p:cNvSpPr txBox="1"/>
          <p:nvPr>
            <p:ph idx="1" type="body"/>
          </p:nvPr>
        </p:nvSpPr>
        <p:spPr>
          <a:xfrm>
            <a:off x="682382" y="2413358"/>
            <a:ext cx="6687248" cy="2031285"/>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rPr lang="es-MX" sz="1800">
                <a:solidFill>
                  <a:schemeClr val="dk1"/>
                </a:solidFill>
              </a:rPr>
              <a:t>Se evidencia la necesidad de implementar un sistema que mejore el control del negocio, especialmente en el manejo de inventario en tiempo real con alertas de stock. También debe incluir un sistema de ventas con comprobantes, descuentos y devoluciones, además de generar reportes para analizar el desempeño. En conclusión, el sistema debe ser fácil de usar, accesible y garantizar la seguridad de la información.</a:t>
            </a:r>
            <a:endParaRPr b="0" i="0" sz="1800" u="none" cap="none" strike="noStrike">
              <a:solidFill>
                <a:schemeClr val="dk1"/>
              </a:solidFill>
              <a:latin typeface="Arial"/>
              <a:ea typeface="Arial"/>
              <a:cs typeface="Arial"/>
              <a:sym typeface="Arial"/>
            </a:endParaRPr>
          </a:p>
        </p:txBody>
      </p:sp>
      <p:pic>
        <p:nvPicPr>
          <p:cNvPr id="199" name="Google Shape;199;p28"/>
          <p:cNvPicPr preferRelativeResize="0"/>
          <p:nvPr/>
        </p:nvPicPr>
        <p:blipFill rotWithShape="1">
          <a:blip r:embed="rId4">
            <a:alphaModFix/>
          </a:blip>
          <a:srcRect b="0" l="0" r="0" t="0"/>
          <a:stretch/>
        </p:blipFill>
        <p:spPr>
          <a:xfrm>
            <a:off x="7672471" y="1502228"/>
            <a:ext cx="3357683" cy="3853543"/>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pic>
        <p:nvPicPr>
          <p:cNvPr descr="Servicio Nacional de Aprendizaje - SENA | Bogota.gov.co" id="204" name="Google Shape;204;p29"/>
          <p:cNvPicPr preferRelativeResize="0"/>
          <p:nvPr/>
        </p:nvPicPr>
        <p:blipFill rotWithShape="1">
          <a:blip r:embed="rId3">
            <a:alphaModFix/>
          </a:blip>
          <a:srcRect b="0" l="0" r="0" t="0"/>
          <a:stretch/>
        </p:blipFill>
        <p:spPr>
          <a:xfrm>
            <a:off x="11262712" y="314959"/>
            <a:ext cx="651382" cy="636867"/>
          </a:xfrm>
          <a:prstGeom prst="rect">
            <a:avLst/>
          </a:prstGeom>
          <a:noFill/>
          <a:ln>
            <a:noFill/>
          </a:ln>
        </p:spPr>
      </p:pic>
      <p:sp>
        <p:nvSpPr>
          <p:cNvPr id="205" name="Google Shape;205;p29"/>
          <p:cNvSpPr txBox="1"/>
          <p:nvPr/>
        </p:nvSpPr>
        <p:spPr>
          <a:xfrm>
            <a:off x="735149" y="3144253"/>
            <a:ext cx="6421790" cy="623232"/>
          </a:xfrm>
          <a:prstGeom prst="rect">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chemeClr val="dk1"/>
              </a:buClr>
              <a:buSzPts val="6000"/>
              <a:buFont typeface="Calibri"/>
              <a:buNone/>
            </a:pPr>
            <a:r>
              <a:rPr b="1" i="0" lang="es-MX" sz="4800" u="none" cap="none" strike="noStrike">
                <a:solidFill>
                  <a:srgbClr val="000000"/>
                </a:solidFill>
                <a:latin typeface="Work Sans"/>
                <a:ea typeface="Work Sans"/>
                <a:cs typeface="Work Sans"/>
                <a:sym typeface="Work Sans"/>
              </a:rPr>
              <a:t>9. Requerimientos</a:t>
            </a:r>
            <a:endParaRPr b="1" i="0" sz="3600" u="none" cap="none" strike="noStrike">
              <a:solidFill>
                <a:srgbClr val="000000"/>
              </a:solidFill>
              <a:latin typeface="Work Sans"/>
              <a:ea typeface="Work Sans"/>
              <a:cs typeface="Work Sans"/>
              <a:sym typeface="Work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pic>
        <p:nvPicPr>
          <p:cNvPr descr="Servicio Nacional de Aprendizaje - SENA | Bogota.gov.co" id="210" name="Google Shape;210;p30"/>
          <p:cNvPicPr preferRelativeResize="0"/>
          <p:nvPr/>
        </p:nvPicPr>
        <p:blipFill rotWithShape="1">
          <a:blip r:embed="rId3">
            <a:alphaModFix/>
          </a:blip>
          <a:srcRect b="0" l="0" r="0" t="0"/>
          <a:stretch/>
        </p:blipFill>
        <p:spPr>
          <a:xfrm>
            <a:off x="11262712" y="314959"/>
            <a:ext cx="651382" cy="636867"/>
          </a:xfrm>
          <a:prstGeom prst="rect">
            <a:avLst/>
          </a:prstGeom>
          <a:noFill/>
          <a:ln>
            <a:noFill/>
          </a:ln>
        </p:spPr>
      </p:pic>
      <p:sp>
        <p:nvSpPr>
          <p:cNvPr id="211" name="Google Shape;211;p30"/>
          <p:cNvSpPr txBox="1"/>
          <p:nvPr/>
        </p:nvSpPr>
        <p:spPr>
          <a:xfrm>
            <a:off x="339453" y="314959"/>
            <a:ext cx="8853505" cy="636867"/>
          </a:xfrm>
          <a:prstGeom prst="rect">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chemeClr val="dk1"/>
              </a:buClr>
              <a:buSzPts val="6000"/>
              <a:buFont typeface="Calibri"/>
              <a:buNone/>
            </a:pPr>
            <a:br>
              <a:rPr b="1" i="0" lang="es-MX" sz="4800" u="none" cap="none" strike="noStrike">
                <a:solidFill>
                  <a:schemeClr val="dk1"/>
                </a:solidFill>
                <a:latin typeface="Work Sans"/>
                <a:ea typeface="Work Sans"/>
                <a:cs typeface="Work Sans"/>
                <a:sym typeface="Work Sans"/>
              </a:rPr>
            </a:br>
            <a:br>
              <a:rPr b="1" i="0" lang="es-MX" sz="1100" u="none" cap="none" strike="noStrike">
                <a:solidFill>
                  <a:schemeClr val="dk1"/>
                </a:solidFill>
                <a:latin typeface="Work Sans"/>
                <a:ea typeface="Work Sans"/>
                <a:cs typeface="Work Sans"/>
                <a:sym typeface="Work Sans"/>
              </a:rPr>
            </a:br>
            <a:r>
              <a:rPr b="1" i="0" lang="es-MX" sz="4000" u="none" cap="none" strike="noStrike">
                <a:solidFill>
                  <a:srgbClr val="000000"/>
                </a:solidFill>
                <a:latin typeface="Work Sans"/>
                <a:ea typeface="Work Sans"/>
                <a:cs typeface="Work Sans"/>
                <a:sym typeface="Work Sans"/>
              </a:rPr>
              <a:t>9.1 Requerimientos funcionales</a:t>
            </a:r>
            <a:endParaRPr b="1" i="0" sz="4000" u="none" cap="none" strike="noStrike">
              <a:solidFill>
                <a:schemeClr val="dk1"/>
              </a:solidFill>
              <a:latin typeface="Work Sans"/>
              <a:ea typeface="Work Sans"/>
              <a:cs typeface="Work Sans"/>
              <a:sym typeface="Work Sans"/>
            </a:endParaRPr>
          </a:p>
        </p:txBody>
      </p:sp>
      <p:sp>
        <p:nvSpPr>
          <p:cNvPr id="212" name="Google Shape;212;p30"/>
          <p:cNvSpPr/>
          <p:nvPr/>
        </p:nvSpPr>
        <p:spPr>
          <a:xfrm>
            <a:off x="678738" y="1274890"/>
            <a:ext cx="3496563" cy="1462591"/>
          </a:xfrm>
          <a:prstGeom prst="rect">
            <a:avLst/>
          </a:prstGeom>
          <a:noFill/>
          <a:ln cap="flat" cmpd="sng" w="254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13" name="Google Shape;213;p30"/>
          <p:cNvSpPr/>
          <p:nvPr/>
        </p:nvSpPr>
        <p:spPr>
          <a:xfrm>
            <a:off x="678736" y="3051285"/>
            <a:ext cx="3666205" cy="1777390"/>
          </a:xfrm>
          <a:prstGeom prst="rect">
            <a:avLst/>
          </a:prstGeom>
          <a:noFill/>
          <a:ln cap="flat" cmpd="sng" w="254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14" name="Google Shape;214;p30"/>
          <p:cNvSpPr/>
          <p:nvPr/>
        </p:nvSpPr>
        <p:spPr>
          <a:xfrm>
            <a:off x="5027645" y="1274891"/>
            <a:ext cx="3496563" cy="1462590"/>
          </a:xfrm>
          <a:prstGeom prst="rect">
            <a:avLst/>
          </a:prstGeom>
          <a:noFill/>
          <a:ln cap="flat" cmpd="sng" w="254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15" name="Google Shape;215;p30"/>
          <p:cNvSpPr/>
          <p:nvPr/>
        </p:nvSpPr>
        <p:spPr>
          <a:xfrm>
            <a:off x="5027645" y="3051356"/>
            <a:ext cx="3646316" cy="1777319"/>
          </a:xfrm>
          <a:prstGeom prst="rect">
            <a:avLst/>
          </a:prstGeom>
          <a:noFill/>
          <a:ln cap="flat" cmpd="sng" w="254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16" name="Google Shape;216;p30"/>
          <p:cNvSpPr txBox="1"/>
          <p:nvPr/>
        </p:nvSpPr>
        <p:spPr>
          <a:xfrm>
            <a:off x="593912" y="1313687"/>
            <a:ext cx="3835849" cy="1384995"/>
          </a:xfrm>
          <a:prstGeom prst="rect">
            <a:avLst/>
          </a:prstGeom>
          <a:noFill/>
          <a:ln>
            <a:noFill/>
          </a:ln>
        </p:spPr>
        <p:txBody>
          <a:bodyPr anchorCtr="0" anchor="t" bIns="45700" lIns="91425" spcFirstLastPara="1" rIns="91425" wrap="square" tIns="45700">
            <a:spAutoFit/>
          </a:bodyPr>
          <a:lstStyle/>
          <a:p>
            <a:pPr indent="0" lvl="0" marL="228600" marR="0" rtl="0" algn="l">
              <a:lnSpc>
                <a:spcPct val="100000"/>
              </a:lnSpc>
              <a:spcBef>
                <a:spcPts val="0"/>
              </a:spcBef>
              <a:spcAft>
                <a:spcPts val="0"/>
              </a:spcAft>
              <a:buClr>
                <a:srgbClr val="000000"/>
              </a:buClr>
              <a:buSzPts val="1400"/>
              <a:buFont typeface="Arial"/>
              <a:buNone/>
            </a:pPr>
            <a:r>
              <a:rPr b="1" i="0" lang="es-MX" sz="1400" u="none" cap="none" strike="noStrike">
                <a:solidFill>
                  <a:schemeClr val="dk1"/>
                </a:solidFill>
                <a:latin typeface="Arial"/>
                <a:ea typeface="Arial"/>
                <a:cs typeface="Arial"/>
                <a:sym typeface="Arial"/>
              </a:rPr>
              <a:t>Inventario</a:t>
            </a:r>
            <a:endParaRPr b="1" i="0" sz="1400" u="none" cap="none" strike="noStrike">
              <a:solidFill>
                <a:srgbClr val="000000"/>
              </a:solidFill>
              <a:latin typeface="Arial"/>
              <a:ea typeface="Arial"/>
              <a:cs typeface="Arial"/>
              <a:sym typeface="Arial"/>
            </a:endParaRPr>
          </a:p>
          <a:p>
            <a:pPr indent="-342900" lvl="0" marL="571500" marR="0" rtl="0" algn="l">
              <a:lnSpc>
                <a:spcPct val="100000"/>
              </a:lnSpc>
              <a:spcBef>
                <a:spcPts val="0"/>
              </a:spcBef>
              <a:spcAft>
                <a:spcPts val="0"/>
              </a:spcAft>
              <a:buClr>
                <a:schemeClr val="dk1"/>
              </a:buClr>
              <a:buSzPts val="1400"/>
              <a:buFont typeface="Arial"/>
              <a:buChar char="•"/>
            </a:pPr>
            <a:r>
              <a:rPr b="0" i="0" lang="es-MX" sz="1400" u="none" cap="none" strike="noStrike">
                <a:solidFill>
                  <a:schemeClr val="dk1"/>
                </a:solidFill>
                <a:latin typeface="Arial"/>
                <a:ea typeface="Arial"/>
                <a:cs typeface="Arial"/>
                <a:sym typeface="Arial"/>
              </a:rPr>
              <a:t>Registro y gestión de productos (RF01, RF03) </a:t>
            </a:r>
            <a:endParaRPr b="0" i="0" sz="1400" u="none" cap="none" strike="noStrike">
              <a:solidFill>
                <a:srgbClr val="000000"/>
              </a:solidFill>
              <a:latin typeface="Arial"/>
              <a:ea typeface="Arial"/>
              <a:cs typeface="Arial"/>
              <a:sym typeface="Arial"/>
            </a:endParaRPr>
          </a:p>
          <a:p>
            <a:pPr indent="-342900" lvl="0" marL="571500" marR="0" rtl="0" algn="l">
              <a:lnSpc>
                <a:spcPct val="100000"/>
              </a:lnSpc>
              <a:spcBef>
                <a:spcPts val="0"/>
              </a:spcBef>
              <a:spcAft>
                <a:spcPts val="0"/>
              </a:spcAft>
              <a:buClr>
                <a:schemeClr val="dk1"/>
              </a:buClr>
              <a:buSzPts val="1400"/>
              <a:buFont typeface="Arial"/>
              <a:buChar char="•"/>
            </a:pPr>
            <a:r>
              <a:rPr b="0" i="0" lang="es-MX" sz="1400" u="none" cap="none" strike="noStrike">
                <a:solidFill>
                  <a:schemeClr val="dk1"/>
                </a:solidFill>
                <a:latin typeface="Arial"/>
                <a:ea typeface="Arial"/>
                <a:cs typeface="Arial"/>
                <a:sym typeface="Arial"/>
              </a:rPr>
              <a:t>Asignación de precios (RF02) </a:t>
            </a:r>
            <a:endParaRPr b="0" i="0" sz="1400" u="none" cap="none" strike="noStrike">
              <a:solidFill>
                <a:srgbClr val="000000"/>
              </a:solidFill>
              <a:latin typeface="Arial"/>
              <a:ea typeface="Arial"/>
              <a:cs typeface="Arial"/>
              <a:sym typeface="Arial"/>
            </a:endParaRPr>
          </a:p>
          <a:p>
            <a:pPr indent="-342900" lvl="0" marL="571500" marR="0" rtl="0" algn="l">
              <a:lnSpc>
                <a:spcPct val="100000"/>
              </a:lnSpc>
              <a:spcBef>
                <a:spcPts val="0"/>
              </a:spcBef>
              <a:spcAft>
                <a:spcPts val="0"/>
              </a:spcAft>
              <a:buClr>
                <a:schemeClr val="dk1"/>
              </a:buClr>
              <a:buSzPts val="1400"/>
              <a:buFont typeface="Arial"/>
              <a:buChar char="•"/>
            </a:pPr>
            <a:r>
              <a:rPr b="0" i="0" lang="es-MX" sz="1400" u="none" cap="none" strike="noStrike">
                <a:solidFill>
                  <a:schemeClr val="dk1"/>
                </a:solidFill>
                <a:latin typeface="Arial"/>
                <a:ea typeface="Arial"/>
                <a:cs typeface="Arial"/>
                <a:sym typeface="Arial"/>
              </a:rPr>
              <a:t>Registro de proveedores (RF04) </a:t>
            </a:r>
            <a:endParaRPr b="0" i="0" sz="1400" u="none" cap="none" strike="noStrike">
              <a:solidFill>
                <a:srgbClr val="000000"/>
              </a:solidFill>
              <a:latin typeface="Arial"/>
              <a:ea typeface="Arial"/>
              <a:cs typeface="Arial"/>
              <a:sym typeface="Arial"/>
            </a:endParaRPr>
          </a:p>
          <a:p>
            <a:pPr indent="-342900" lvl="0" marL="571500" marR="0" rtl="0" algn="l">
              <a:lnSpc>
                <a:spcPct val="100000"/>
              </a:lnSpc>
              <a:spcBef>
                <a:spcPts val="0"/>
              </a:spcBef>
              <a:spcAft>
                <a:spcPts val="0"/>
              </a:spcAft>
              <a:buClr>
                <a:schemeClr val="dk1"/>
              </a:buClr>
              <a:buSzPts val="1400"/>
              <a:buFont typeface="Arial"/>
              <a:buChar char="•"/>
            </a:pPr>
            <a:r>
              <a:rPr b="0" i="0" lang="es-MX" sz="1400" u="none" cap="none" strike="noStrike">
                <a:solidFill>
                  <a:schemeClr val="dk1"/>
                </a:solidFill>
                <a:latin typeface="Arial"/>
                <a:ea typeface="Arial"/>
                <a:cs typeface="Arial"/>
                <a:sym typeface="Arial"/>
              </a:rPr>
              <a:t>Alertas de stock mínimo (RF12)</a:t>
            </a:r>
            <a:endParaRPr b="0" i="0" sz="1400" u="none" cap="none" strike="noStrike">
              <a:solidFill>
                <a:srgbClr val="000000"/>
              </a:solidFill>
              <a:latin typeface="Arial"/>
              <a:ea typeface="Arial"/>
              <a:cs typeface="Arial"/>
              <a:sym typeface="Arial"/>
            </a:endParaRPr>
          </a:p>
        </p:txBody>
      </p:sp>
      <p:sp>
        <p:nvSpPr>
          <p:cNvPr id="217" name="Google Shape;217;p30"/>
          <p:cNvSpPr txBox="1"/>
          <p:nvPr/>
        </p:nvSpPr>
        <p:spPr>
          <a:xfrm>
            <a:off x="5027645" y="1371950"/>
            <a:ext cx="3496563" cy="116955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s-MX" sz="1400" u="none" cap="none" strike="noStrike">
                <a:solidFill>
                  <a:schemeClr val="dk1"/>
                </a:solidFill>
                <a:latin typeface="Arial"/>
                <a:ea typeface="Arial"/>
                <a:cs typeface="Arial"/>
                <a:sym typeface="Arial"/>
              </a:rPr>
              <a:t>Cliente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s-MX" sz="1400" u="none" cap="none" strike="noStrike">
                <a:solidFill>
                  <a:schemeClr val="dk1"/>
                </a:solidFill>
                <a:latin typeface="Arial"/>
                <a:ea typeface="Arial"/>
                <a:cs typeface="Arial"/>
                <a:sym typeface="Arial"/>
              </a:rPr>
              <a:t>Búsqueda de productos (RF05)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s-MX" sz="1400" u="none" cap="none" strike="noStrike">
                <a:solidFill>
                  <a:schemeClr val="dk1"/>
                </a:solidFill>
                <a:latin typeface="Arial"/>
                <a:ea typeface="Arial"/>
                <a:cs typeface="Arial"/>
                <a:sym typeface="Arial"/>
              </a:rPr>
              <a:t>Visualización de imágenes (RF06)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s-MX" sz="1400" u="none" cap="none" strike="noStrike">
                <a:solidFill>
                  <a:schemeClr val="dk1"/>
                </a:solidFill>
                <a:latin typeface="Arial"/>
                <a:ea typeface="Arial"/>
                <a:cs typeface="Arial"/>
                <a:sym typeface="Arial"/>
              </a:rPr>
              <a:t>Reseñas y calificaciones (RF13)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s-MX" sz="1400" u="none" cap="none" strike="noStrike">
                <a:solidFill>
                  <a:schemeClr val="dk1"/>
                </a:solidFill>
                <a:latin typeface="Arial"/>
                <a:ea typeface="Arial"/>
                <a:cs typeface="Arial"/>
                <a:sym typeface="Arial"/>
              </a:rPr>
              <a:t>Historial de compras (RF19)</a:t>
            </a:r>
            <a:endParaRPr b="0" i="0" sz="1400" u="none" cap="none" strike="noStrike">
              <a:solidFill>
                <a:srgbClr val="000000"/>
              </a:solidFill>
              <a:latin typeface="Arial"/>
              <a:ea typeface="Arial"/>
              <a:cs typeface="Arial"/>
              <a:sym typeface="Arial"/>
            </a:endParaRPr>
          </a:p>
        </p:txBody>
      </p:sp>
      <p:sp>
        <p:nvSpPr>
          <p:cNvPr id="218" name="Google Shape;218;p30"/>
          <p:cNvSpPr txBox="1"/>
          <p:nvPr/>
        </p:nvSpPr>
        <p:spPr>
          <a:xfrm>
            <a:off x="593912" y="3099342"/>
            <a:ext cx="3835849" cy="1600438"/>
          </a:xfrm>
          <a:prstGeom prst="rect">
            <a:avLst/>
          </a:prstGeom>
          <a:noFill/>
          <a:ln>
            <a:noFill/>
          </a:ln>
        </p:spPr>
        <p:txBody>
          <a:bodyPr anchorCtr="0" anchor="t" bIns="45700" lIns="91425" spcFirstLastPara="1" rIns="91425" wrap="square" tIns="45700">
            <a:spAutoFit/>
          </a:bodyPr>
          <a:lstStyle/>
          <a:p>
            <a:pPr indent="0" lvl="0" marL="228600" marR="0" rtl="0" algn="l">
              <a:lnSpc>
                <a:spcPct val="100000"/>
              </a:lnSpc>
              <a:spcBef>
                <a:spcPts val="0"/>
              </a:spcBef>
              <a:spcAft>
                <a:spcPts val="0"/>
              </a:spcAft>
              <a:buClr>
                <a:srgbClr val="000000"/>
              </a:buClr>
              <a:buSzPts val="1400"/>
              <a:buFont typeface="Arial"/>
              <a:buNone/>
            </a:pPr>
            <a:r>
              <a:rPr b="1" i="0" lang="es-MX" sz="1400" u="none" cap="none" strike="noStrike">
                <a:solidFill>
                  <a:schemeClr val="dk1"/>
                </a:solidFill>
                <a:latin typeface="Arial"/>
                <a:ea typeface="Arial"/>
                <a:cs typeface="Arial"/>
                <a:sym typeface="Arial"/>
              </a:rPr>
              <a:t>Ventas y Compras</a:t>
            </a:r>
            <a:endParaRPr b="0" i="0" sz="1400" u="none" cap="none" strike="noStrike">
              <a:solidFill>
                <a:srgbClr val="000000"/>
              </a:solidFill>
              <a:latin typeface="Arial"/>
              <a:ea typeface="Arial"/>
              <a:cs typeface="Arial"/>
              <a:sym typeface="Arial"/>
            </a:endParaRPr>
          </a:p>
          <a:p>
            <a:pPr indent="-342900" lvl="0" marL="571500" marR="0" rtl="0" algn="l">
              <a:lnSpc>
                <a:spcPct val="100000"/>
              </a:lnSpc>
              <a:spcBef>
                <a:spcPts val="0"/>
              </a:spcBef>
              <a:spcAft>
                <a:spcPts val="0"/>
              </a:spcAft>
              <a:buClr>
                <a:schemeClr val="dk1"/>
              </a:buClr>
              <a:buSzPts val="1400"/>
              <a:buFont typeface="Arial"/>
              <a:buChar char="•"/>
            </a:pPr>
            <a:r>
              <a:rPr b="0" i="0" lang="es-MX" sz="1400" u="none" cap="none" strike="noStrike">
                <a:solidFill>
                  <a:schemeClr val="dk1"/>
                </a:solidFill>
                <a:latin typeface="Arial"/>
                <a:ea typeface="Arial"/>
                <a:cs typeface="Arial"/>
                <a:sym typeface="Arial"/>
              </a:rPr>
              <a:t>Carrito de compras (RF07) </a:t>
            </a:r>
            <a:endParaRPr b="0" i="0" sz="1400" u="none" cap="none" strike="noStrike">
              <a:solidFill>
                <a:srgbClr val="000000"/>
              </a:solidFill>
              <a:latin typeface="Arial"/>
              <a:ea typeface="Arial"/>
              <a:cs typeface="Arial"/>
              <a:sym typeface="Arial"/>
            </a:endParaRPr>
          </a:p>
          <a:p>
            <a:pPr indent="-342900" lvl="0" marL="571500" marR="0" rtl="0" algn="l">
              <a:lnSpc>
                <a:spcPct val="100000"/>
              </a:lnSpc>
              <a:spcBef>
                <a:spcPts val="0"/>
              </a:spcBef>
              <a:spcAft>
                <a:spcPts val="0"/>
              </a:spcAft>
              <a:buClr>
                <a:schemeClr val="dk1"/>
              </a:buClr>
              <a:buSzPts val="1400"/>
              <a:buFont typeface="Arial"/>
              <a:buChar char="•"/>
            </a:pPr>
            <a:r>
              <a:rPr b="0" i="0" lang="es-MX" sz="1400" u="none" cap="none" strike="noStrike">
                <a:solidFill>
                  <a:schemeClr val="dk1"/>
                </a:solidFill>
                <a:latin typeface="Arial"/>
                <a:ea typeface="Arial"/>
                <a:cs typeface="Arial"/>
                <a:sym typeface="Arial"/>
              </a:rPr>
              <a:t>Métodos de pago: Nequi y contra entrega (RF08, RF10, RF11) </a:t>
            </a:r>
            <a:endParaRPr b="0" i="0" sz="1400" u="none" cap="none" strike="noStrike">
              <a:solidFill>
                <a:srgbClr val="000000"/>
              </a:solidFill>
              <a:latin typeface="Arial"/>
              <a:ea typeface="Arial"/>
              <a:cs typeface="Arial"/>
              <a:sym typeface="Arial"/>
            </a:endParaRPr>
          </a:p>
          <a:p>
            <a:pPr indent="-342900" lvl="0" marL="571500" marR="0" rtl="0" algn="l">
              <a:lnSpc>
                <a:spcPct val="100000"/>
              </a:lnSpc>
              <a:spcBef>
                <a:spcPts val="0"/>
              </a:spcBef>
              <a:spcAft>
                <a:spcPts val="0"/>
              </a:spcAft>
              <a:buClr>
                <a:schemeClr val="dk1"/>
              </a:buClr>
              <a:buSzPts val="1400"/>
              <a:buFont typeface="Arial"/>
              <a:buChar char="•"/>
            </a:pPr>
            <a:r>
              <a:rPr b="0" i="0" lang="es-MX" sz="1400" u="none" cap="none" strike="noStrike">
                <a:solidFill>
                  <a:schemeClr val="dk1"/>
                </a:solidFill>
                <a:latin typeface="Arial"/>
                <a:ea typeface="Arial"/>
                <a:cs typeface="Arial"/>
                <a:sym typeface="Arial"/>
              </a:rPr>
              <a:t>Registro de datos de envío (RF09) </a:t>
            </a:r>
            <a:endParaRPr b="0" i="0" sz="1400" u="none" cap="none" strike="noStrike">
              <a:solidFill>
                <a:srgbClr val="000000"/>
              </a:solidFill>
              <a:latin typeface="Arial"/>
              <a:ea typeface="Arial"/>
              <a:cs typeface="Arial"/>
              <a:sym typeface="Arial"/>
            </a:endParaRPr>
          </a:p>
          <a:p>
            <a:pPr indent="-342900" lvl="0" marL="571500" marR="0" rtl="0" algn="l">
              <a:lnSpc>
                <a:spcPct val="100000"/>
              </a:lnSpc>
              <a:spcBef>
                <a:spcPts val="0"/>
              </a:spcBef>
              <a:spcAft>
                <a:spcPts val="0"/>
              </a:spcAft>
              <a:buClr>
                <a:schemeClr val="dk1"/>
              </a:buClr>
              <a:buSzPts val="1400"/>
              <a:buFont typeface="Arial"/>
              <a:buChar char="•"/>
            </a:pPr>
            <a:r>
              <a:rPr b="0" i="0" lang="es-MX" sz="1400" u="none" cap="none" strike="noStrike">
                <a:solidFill>
                  <a:schemeClr val="dk1"/>
                </a:solidFill>
                <a:latin typeface="Arial"/>
                <a:ea typeface="Arial"/>
                <a:cs typeface="Arial"/>
                <a:sym typeface="Arial"/>
              </a:rPr>
              <a:t>Generación de comprobantes (RF14) </a:t>
            </a:r>
            <a:endParaRPr b="0" i="0" sz="1400" u="none" cap="none" strike="noStrike">
              <a:solidFill>
                <a:srgbClr val="000000"/>
              </a:solidFill>
              <a:latin typeface="Arial"/>
              <a:ea typeface="Arial"/>
              <a:cs typeface="Arial"/>
              <a:sym typeface="Arial"/>
            </a:endParaRPr>
          </a:p>
          <a:p>
            <a:pPr indent="-342900" lvl="0" marL="571500" marR="0" rtl="0" algn="l">
              <a:lnSpc>
                <a:spcPct val="100000"/>
              </a:lnSpc>
              <a:spcBef>
                <a:spcPts val="0"/>
              </a:spcBef>
              <a:spcAft>
                <a:spcPts val="0"/>
              </a:spcAft>
              <a:buClr>
                <a:schemeClr val="dk1"/>
              </a:buClr>
              <a:buSzPts val="1400"/>
              <a:buFont typeface="Arial"/>
              <a:buChar char="•"/>
            </a:pPr>
            <a:r>
              <a:rPr b="0" i="0" lang="es-MX" sz="1400" u="none" cap="none" strike="noStrike">
                <a:solidFill>
                  <a:schemeClr val="dk1"/>
                </a:solidFill>
                <a:latin typeface="Arial"/>
                <a:ea typeface="Arial"/>
                <a:cs typeface="Arial"/>
                <a:sym typeface="Arial"/>
              </a:rPr>
              <a:t>Cancelación de pedidos (RF15) </a:t>
            </a:r>
            <a:endParaRPr b="0" i="0" sz="1400" u="none" cap="none" strike="noStrike">
              <a:solidFill>
                <a:srgbClr val="000000"/>
              </a:solidFill>
              <a:latin typeface="Arial"/>
              <a:ea typeface="Arial"/>
              <a:cs typeface="Arial"/>
              <a:sym typeface="Arial"/>
            </a:endParaRPr>
          </a:p>
        </p:txBody>
      </p:sp>
      <p:sp>
        <p:nvSpPr>
          <p:cNvPr id="219" name="Google Shape;219;p30"/>
          <p:cNvSpPr txBox="1"/>
          <p:nvPr/>
        </p:nvSpPr>
        <p:spPr>
          <a:xfrm>
            <a:off x="5085605" y="3083371"/>
            <a:ext cx="3588355" cy="175432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s-MX" sz="1800" u="none" cap="none" strike="noStrike">
                <a:solidFill>
                  <a:srgbClr val="000000"/>
                </a:solidFill>
                <a:latin typeface="Calibri"/>
                <a:ea typeface="Calibri"/>
                <a:cs typeface="Calibri"/>
                <a:sym typeface="Calibri"/>
              </a:rPr>
              <a:t>Reportes y Administración</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0" i="0" lang="es-MX" sz="1800" u="none" cap="none" strike="noStrike">
                <a:solidFill>
                  <a:srgbClr val="000000"/>
                </a:solidFill>
                <a:latin typeface="Calibri"/>
                <a:ea typeface="Calibri"/>
                <a:cs typeface="Calibri"/>
                <a:sym typeface="Calibri"/>
              </a:rPr>
              <a:t>Reportes de ventas y utilidades (RF16, RF17)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0" i="0" lang="es-MX" sz="1800" u="none" cap="none" strike="noStrike">
                <a:solidFill>
                  <a:srgbClr val="000000"/>
                </a:solidFill>
                <a:latin typeface="Calibri"/>
                <a:ea typeface="Calibri"/>
                <a:cs typeface="Calibri"/>
                <a:sym typeface="Calibri"/>
              </a:rPr>
              <a:t>Cupones de descuento (RF18)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0" i="0" lang="es-MX" sz="1800" u="none" cap="none" strike="noStrike">
                <a:solidFill>
                  <a:srgbClr val="000000"/>
                </a:solidFill>
                <a:latin typeface="Calibri"/>
                <a:ea typeface="Calibri"/>
                <a:cs typeface="Calibri"/>
                <a:sym typeface="Calibri"/>
              </a:rPr>
              <a:t>Gestión de usuarios y roles (RF20)</a:t>
            </a:r>
            <a:endParaRPr b="0" i="0" sz="1400" u="none" cap="none" strike="noStrike">
              <a:solidFill>
                <a:srgbClr val="000000"/>
              </a:solidFill>
              <a:latin typeface="Arial"/>
              <a:ea typeface="Arial"/>
              <a:cs typeface="Arial"/>
              <a:sym typeface="Arial"/>
            </a:endParaRPr>
          </a:p>
        </p:txBody>
      </p:sp>
      <p:pic>
        <p:nvPicPr>
          <p:cNvPr id="220" name="Google Shape;220;p30">
            <a:hlinkClick r:id="rId4"/>
          </p:cNvPr>
          <p:cNvPicPr preferRelativeResize="0"/>
          <p:nvPr/>
        </p:nvPicPr>
        <p:blipFill rotWithShape="1">
          <a:blip r:embed="rId5">
            <a:alphaModFix/>
          </a:blip>
          <a:srcRect b="0" l="0" r="0" t="0"/>
          <a:stretch/>
        </p:blipFill>
        <p:spPr>
          <a:xfrm>
            <a:off x="8777535" y="1515091"/>
            <a:ext cx="3136559" cy="313655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pic>
        <p:nvPicPr>
          <p:cNvPr descr="Servicio Nacional de Aprendizaje - SENA | Bogota.gov.co" id="225" name="Google Shape;225;p31"/>
          <p:cNvPicPr preferRelativeResize="0"/>
          <p:nvPr/>
        </p:nvPicPr>
        <p:blipFill rotWithShape="1">
          <a:blip r:embed="rId3">
            <a:alphaModFix/>
          </a:blip>
          <a:srcRect b="0" l="0" r="0" t="0"/>
          <a:stretch/>
        </p:blipFill>
        <p:spPr>
          <a:xfrm>
            <a:off x="11262712" y="314959"/>
            <a:ext cx="651382" cy="636867"/>
          </a:xfrm>
          <a:prstGeom prst="rect">
            <a:avLst/>
          </a:prstGeom>
          <a:noFill/>
          <a:ln>
            <a:noFill/>
          </a:ln>
        </p:spPr>
      </p:pic>
      <p:sp>
        <p:nvSpPr>
          <p:cNvPr id="226" name="Google Shape;226;p31"/>
          <p:cNvSpPr txBox="1"/>
          <p:nvPr/>
        </p:nvSpPr>
        <p:spPr>
          <a:xfrm>
            <a:off x="339453" y="314959"/>
            <a:ext cx="9494358" cy="636867"/>
          </a:xfrm>
          <a:prstGeom prst="rect">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chemeClr val="dk1"/>
              </a:buClr>
              <a:buSzPts val="6000"/>
              <a:buFont typeface="Calibri"/>
              <a:buNone/>
            </a:pPr>
            <a:br>
              <a:rPr b="1" i="0" lang="es-MX" sz="4800" u="none" cap="none" strike="noStrike">
                <a:solidFill>
                  <a:schemeClr val="dk1"/>
                </a:solidFill>
                <a:latin typeface="Work Sans"/>
                <a:ea typeface="Work Sans"/>
                <a:cs typeface="Work Sans"/>
                <a:sym typeface="Work Sans"/>
              </a:rPr>
            </a:br>
            <a:br>
              <a:rPr b="1" i="0" lang="es-MX" sz="1100" u="none" cap="none" strike="noStrike">
                <a:solidFill>
                  <a:schemeClr val="dk1"/>
                </a:solidFill>
                <a:latin typeface="Work Sans"/>
                <a:ea typeface="Work Sans"/>
                <a:cs typeface="Work Sans"/>
                <a:sym typeface="Work Sans"/>
              </a:rPr>
            </a:br>
            <a:r>
              <a:rPr b="1" i="0" lang="es-MX" sz="4000" u="none" cap="none" strike="noStrike">
                <a:solidFill>
                  <a:srgbClr val="000000"/>
                </a:solidFill>
                <a:latin typeface="Work Sans"/>
                <a:ea typeface="Work Sans"/>
                <a:cs typeface="Work Sans"/>
                <a:sym typeface="Work Sans"/>
              </a:rPr>
              <a:t>9.2 Requerimientos no funcionales</a:t>
            </a:r>
            <a:endParaRPr b="1" i="0" sz="4000" u="none" cap="none" strike="noStrike">
              <a:solidFill>
                <a:schemeClr val="dk1"/>
              </a:solidFill>
              <a:latin typeface="Work Sans"/>
              <a:ea typeface="Work Sans"/>
              <a:cs typeface="Work Sans"/>
              <a:sym typeface="Work Sans"/>
            </a:endParaRPr>
          </a:p>
        </p:txBody>
      </p:sp>
      <p:sp>
        <p:nvSpPr>
          <p:cNvPr id="227" name="Google Shape;227;p31"/>
          <p:cNvSpPr/>
          <p:nvPr/>
        </p:nvSpPr>
        <p:spPr>
          <a:xfrm>
            <a:off x="678738" y="1274890"/>
            <a:ext cx="3496563" cy="1462591"/>
          </a:xfrm>
          <a:prstGeom prst="rect">
            <a:avLst/>
          </a:prstGeom>
          <a:noFill/>
          <a:ln cap="flat" cmpd="sng" w="254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28" name="Google Shape;228;p31"/>
          <p:cNvSpPr/>
          <p:nvPr/>
        </p:nvSpPr>
        <p:spPr>
          <a:xfrm>
            <a:off x="678737" y="3051284"/>
            <a:ext cx="3615472" cy="1169511"/>
          </a:xfrm>
          <a:prstGeom prst="rect">
            <a:avLst/>
          </a:prstGeom>
          <a:noFill/>
          <a:ln cap="flat" cmpd="sng" w="254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29" name="Google Shape;229;p31"/>
          <p:cNvSpPr/>
          <p:nvPr/>
        </p:nvSpPr>
        <p:spPr>
          <a:xfrm>
            <a:off x="5027645" y="1274891"/>
            <a:ext cx="3496563" cy="1462590"/>
          </a:xfrm>
          <a:prstGeom prst="rect">
            <a:avLst/>
          </a:prstGeom>
          <a:noFill/>
          <a:ln cap="flat" cmpd="sng" w="254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30" name="Google Shape;230;p31"/>
          <p:cNvSpPr txBox="1"/>
          <p:nvPr/>
        </p:nvSpPr>
        <p:spPr>
          <a:xfrm>
            <a:off x="5033128" y="1274890"/>
            <a:ext cx="3491080" cy="1378136"/>
          </a:xfrm>
          <a:prstGeom prst="rect">
            <a:avLst/>
          </a:prstGeom>
          <a:noFill/>
          <a:ln>
            <a:noFill/>
          </a:ln>
        </p:spPr>
        <p:txBody>
          <a:bodyPr anchorCtr="0" anchor="t" bIns="45700" lIns="91425" spcFirstLastPara="1" rIns="91425" wrap="square" tIns="45700">
            <a:normAutofit/>
          </a:bodyPr>
          <a:lstStyle/>
          <a:p>
            <a:pPr indent="-228600" lvl="0" marL="457200" marR="0" rtl="0" algn="l">
              <a:lnSpc>
                <a:spcPct val="90000"/>
              </a:lnSpc>
              <a:spcBef>
                <a:spcPts val="1000"/>
              </a:spcBef>
              <a:spcAft>
                <a:spcPts val="0"/>
              </a:spcAft>
              <a:buClr>
                <a:srgbClr val="888888"/>
              </a:buClr>
              <a:buSzPts val="2400"/>
              <a:buFont typeface="Arial"/>
              <a:buNone/>
            </a:pPr>
            <a:r>
              <a:t/>
            </a:r>
            <a:endParaRPr b="0" i="0" sz="2400" u="none" cap="none" strike="noStrike">
              <a:solidFill>
                <a:srgbClr val="888888"/>
              </a:solidFill>
              <a:latin typeface="Calibri"/>
              <a:ea typeface="Calibri"/>
              <a:cs typeface="Calibri"/>
              <a:sym typeface="Calibri"/>
            </a:endParaRPr>
          </a:p>
        </p:txBody>
      </p:sp>
      <p:sp>
        <p:nvSpPr>
          <p:cNvPr id="231" name="Google Shape;231;p31"/>
          <p:cNvSpPr/>
          <p:nvPr/>
        </p:nvSpPr>
        <p:spPr>
          <a:xfrm>
            <a:off x="5027645" y="3051356"/>
            <a:ext cx="3491080" cy="1169439"/>
          </a:xfrm>
          <a:prstGeom prst="rect">
            <a:avLst/>
          </a:prstGeom>
          <a:noFill/>
          <a:ln cap="flat" cmpd="sng" w="254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32" name="Google Shape;232;p31"/>
          <p:cNvSpPr txBox="1"/>
          <p:nvPr/>
        </p:nvSpPr>
        <p:spPr>
          <a:xfrm>
            <a:off x="5027645" y="3060546"/>
            <a:ext cx="3491080" cy="116955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s-MX" sz="1400" u="none" cap="none" strike="noStrike">
                <a:solidFill>
                  <a:srgbClr val="000000"/>
                </a:solidFill>
                <a:latin typeface="Arial"/>
                <a:ea typeface="Arial"/>
                <a:cs typeface="Arial"/>
                <a:sym typeface="Arial"/>
              </a:rPr>
              <a:t>Disponibilidad y Confiabilidad</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s-MX" sz="1400" u="none" cap="none" strike="noStrike">
                <a:solidFill>
                  <a:srgbClr val="000000"/>
                </a:solidFill>
                <a:latin typeface="Arial"/>
                <a:ea typeface="Arial"/>
                <a:cs typeface="Arial"/>
                <a:sym typeface="Arial"/>
              </a:rPr>
              <a:t>Sistema disponible la mayor parte del tiempo (RNF10)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s-MX" sz="1400" u="none" cap="none" strike="noStrike">
                <a:solidFill>
                  <a:srgbClr val="000000"/>
                </a:solidFill>
                <a:latin typeface="Arial"/>
                <a:ea typeface="Arial"/>
                <a:cs typeface="Arial"/>
                <a:sym typeface="Arial"/>
              </a:rPr>
              <a:t>Respaldo de información (RNF11)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s-MX" sz="1400" u="none" cap="none" strike="noStrike">
                <a:solidFill>
                  <a:srgbClr val="000000"/>
                </a:solidFill>
                <a:latin typeface="Arial"/>
                <a:ea typeface="Arial"/>
                <a:cs typeface="Arial"/>
                <a:sym typeface="Arial"/>
              </a:rPr>
              <a:t>Recuperación ante fallos (RNF12)</a:t>
            </a:r>
            <a:endParaRPr b="0" i="0" sz="1400" u="none" cap="none" strike="noStrike">
              <a:solidFill>
                <a:srgbClr val="000000"/>
              </a:solidFill>
              <a:latin typeface="Arial"/>
              <a:ea typeface="Arial"/>
              <a:cs typeface="Arial"/>
              <a:sym typeface="Arial"/>
            </a:endParaRPr>
          </a:p>
        </p:txBody>
      </p:sp>
      <p:sp>
        <p:nvSpPr>
          <p:cNvPr id="233" name="Google Shape;233;p31"/>
          <p:cNvSpPr txBox="1"/>
          <p:nvPr/>
        </p:nvSpPr>
        <p:spPr>
          <a:xfrm>
            <a:off x="727862" y="3064301"/>
            <a:ext cx="3835849" cy="116951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s-MX" sz="1400" u="none" cap="none" strike="noStrike">
                <a:solidFill>
                  <a:srgbClr val="000000"/>
                </a:solidFill>
                <a:latin typeface="Arial"/>
                <a:ea typeface="Arial"/>
                <a:cs typeface="Arial"/>
                <a:sym typeface="Arial"/>
              </a:rPr>
              <a:t>Rendimiento</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s-MX" sz="1400" u="none" cap="none" strike="noStrike">
                <a:solidFill>
                  <a:srgbClr val="000000"/>
                </a:solidFill>
                <a:latin typeface="Arial"/>
                <a:ea typeface="Arial"/>
                <a:cs typeface="Arial"/>
                <a:sym typeface="Arial"/>
              </a:rPr>
              <a:t>Respuesta rápida del sistema (RNF07)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s-MX" sz="1400" u="none" cap="none" strike="noStrike">
                <a:solidFill>
                  <a:srgbClr val="000000"/>
                </a:solidFill>
                <a:latin typeface="Arial"/>
                <a:ea typeface="Arial"/>
                <a:cs typeface="Arial"/>
                <a:sym typeface="Arial"/>
              </a:rPr>
              <a:t>Carga eficiente de páginas (RNF08)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s-MX" sz="1400" u="none" cap="none" strike="noStrike">
                <a:solidFill>
                  <a:srgbClr val="000000"/>
                </a:solidFill>
                <a:latin typeface="Arial"/>
                <a:ea typeface="Arial"/>
                <a:cs typeface="Arial"/>
                <a:sym typeface="Arial"/>
              </a:rPr>
              <a:t>Soporte para múltiples usuarios simultáneos (RNF09)</a:t>
            </a:r>
            <a:endParaRPr b="0" i="0" sz="1400" u="none" cap="none" strike="noStrike">
              <a:solidFill>
                <a:srgbClr val="000000"/>
              </a:solidFill>
              <a:latin typeface="Arial"/>
              <a:ea typeface="Arial"/>
              <a:cs typeface="Arial"/>
              <a:sym typeface="Arial"/>
            </a:endParaRPr>
          </a:p>
        </p:txBody>
      </p:sp>
      <p:sp>
        <p:nvSpPr>
          <p:cNvPr id="234" name="Google Shape;234;p31"/>
          <p:cNvSpPr txBox="1"/>
          <p:nvPr/>
        </p:nvSpPr>
        <p:spPr>
          <a:xfrm>
            <a:off x="5027645" y="1266200"/>
            <a:ext cx="3607069" cy="13849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s-MX" sz="1400" u="none" cap="none" strike="noStrike">
                <a:solidFill>
                  <a:srgbClr val="000000"/>
                </a:solidFill>
                <a:latin typeface="Arial"/>
                <a:ea typeface="Arial"/>
                <a:cs typeface="Arial"/>
                <a:sym typeface="Arial"/>
              </a:rPr>
              <a:t>Usabilidad y Diseño</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s-MX" sz="1400" u="none" cap="none" strike="noStrike">
                <a:solidFill>
                  <a:srgbClr val="000000"/>
                </a:solidFill>
                <a:latin typeface="Arial"/>
                <a:ea typeface="Arial"/>
                <a:cs typeface="Arial"/>
                <a:sym typeface="Arial"/>
              </a:rPr>
              <a:t>Diseño adaptable (PC, celular, tablet) (RNF02)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s-MX" sz="1400" u="none" cap="none" strike="noStrike">
                <a:solidFill>
                  <a:srgbClr val="000000"/>
                </a:solidFill>
                <a:latin typeface="Arial"/>
                <a:ea typeface="Arial"/>
                <a:cs typeface="Arial"/>
                <a:sym typeface="Arial"/>
              </a:rPr>
              <a:t>Interfaz intuitiva y fácil de usar (RNF05)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s-MX" sz="1400" u="none" cap="none" strike="noStrike">
                <a:solidFill>
                  <a:srgbClr val="000000"/>
                </a:solidFill>
                <a:latin typeface="Arial"/>
                <a:ea typeface="Arial"/>
                <a:cs typeface="Arial"/>
                <a:sym typeface="Arial"/>
              </a:rPr>
              <a:t>Navegación clara para el usuario (RNF06)</a:t>
            </a:r>
            <a:endParaRPr b="0" i="0" sz="1400" u="none" cap="none" strike="noStrike">
              <a:solidFill>
                <a:srgbClr val="000000"/>
              </a:solidFill>
              <a:latin typeface="Arial"/>
              <a:ea typeface="Arial"/>
              <a:cs typeface="Arial"/>
              <a:sym typeface="Arial"/>
            </a:endParaRPr>
          </a:p>
        </p:txBody>
      </p:sp>
      <p:sp>
        <p:nvSpPr>
          <p:cNvPr id="235" name="Google Shape;235;p31"/>
          <p:cNvSpPr txBox="1"/>
          <p:nvPr/>
        </p:nvSpPr>
        <p:spPr>
          <a:xfrm>
            <a:off x="678736" y="1352968"/>
            <a:ext cx="3496563" cy="13849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s-MX" sz="1400" u="none" cap="none" strike="noStrike">
                <a:solidFill>
                  <a:srgbClr val="000000"/>
                </a:solidFill>
                <a:latin typeface="Arial"/>
                <a:ea typeface="Arial"/>
                <a:cs typeface="Arial"/>
                <a:sym typeface="Arial"/>
              </a:rPr>
              <a:t>Seguridad</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s-MX" sz="1400" u="none" cap="none" strike="noStrike">
                <a:solidFill>
                  <a:srgbClr val="000000"/>
                </a:solidFill>
                <a:latin typeface="Arial"/>
                <a:ea typeface="Arial"/>
                <a:cs typeface="Arial"/>
                <a:sym typeface="Arial"/>
              </a:rPr>
              <a:t>Protección de datos de clientes (RNF01)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s-MX" sz="1400" u="none" cap="none" strike="noStrike">
                <a:solidFill>
                  <a:srgbClr val="000000"/>
                </a:solidFill>
                <a:latin typeface="Arial"/>
                <a:ea typeface="Arial"/>
                <a:cs typeface="Arial"/>
                <a:sym typeface="Arial"/>
              </a:rPr>
              <a:t>Acceso restringido por roles (RNF03)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s-MX" sz="1400" u="none" cap="none" strike="noStrike">
                <a:solidFill>
                  <a:srgbClr val="000000"/>
                </a:solidFill>
                <a:latin typeface="Arial"/>
                <a:ea typeface="Arial"/>
                <a:cs typeface="Arial"/>
                <a:sym typeface="Arial"/>
              </a:rPr>
              <a:t>Manejo seguro de la información (RNF04) </a:t>
            </a:r>
            <a:endParaRPr b="0" i="0" sz="1400" u="none" cap="none" strike="noStrike">
              <a:solidFill>
                <a:srgbClr val="000000"/>
              </a:solidFill>
              <a:latin typeface="Arial"/>
              <a:ea typeface="Arial"/>
              <a:cs typeface="Arial"/>
              <a:sym typeface="Arial"/>
            </a:endParaRPr>
          </a:p>
        </p:txBody>
      </p:sp>
      <p:pic>
        <p:nvPicPr>
          <p:cNvPr id="236" name="Google Shape;236;p31">
            <a:hlinkClick r:id="rId4"/>
          </p:cNvPr>
          <p:cNvPicPr preferRelativeResize="0"/>
          <p:nvPr/>
        </p:nvPicPr>
        <p:blipFill rotWithShape="1">
          <a:blip r:embed="rId5">
            <a:alphaModFix/>
          </a:blip>
          <a:srcRect b="0" l="0" r="0" t="0"/>
          <a:stretch/>
        </p:blipFill>
        <p:spPr>
          <a:xfrm>
            <a:off x="8956266" y="2045445"/>
            <a:ext cx="2168843" cy="1936251"/>
          </a:xfrm>
          <a:prstGeom prst="rect">
            <a:avLst/>
          </a:prstGeom>
          <a:noFill/>
          <a:ln>
            <a:noFill/>
          </a:ln>
        </p:spPr>
      </p:pic>
      <p:sp>
        <p:nvSpPr>
          <p:cNvPr id="237" name="Google Shape;237;p31"/>
          <p:cNvSpPr/>
          <p:nvPr/>
        </p:nvSpPr>
        <p:spPr>
          <a:xfrm>
            <a:off x="2957706" y="4521139"/>
            <a:ext cx="3491080" cy="1613415"/>
          </a:xfrm>
          <a:prstGeom prst="rect">
            <a:avLst/>
          </a:prstGeom>
          <a:noFill/>
          <a:ln cap="flat" cmpd="sng" w="254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38" name="Google Shape;238;p31"/>
          <p:cNvSpPr txBox="1"/>
          <p:nvPr/>
        </p:nvSpPr>
        <p:spPr>
          <a:xfrm>
            <a:off x="2957706" y="4534157"/>
            <a:ext cx="3491080" cy="160039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s-MX" sz="1400" u="none" cap="none" strike="noStrike">
                <a:solidFill>
                  <a:srgbClr val="000000"/>
                </a:solidFill>
                <a:latin typeface="Arial"/>
                <a:ea typeface="Arial"/>
                <a:cs typeface="Arial"/>
                <a:sym typeface="Arial"/>
              </a:rPr>
              <a:t>Mantenimiento y Escalabilidad</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s-MX" sz="1400" u="none" cap="none" strike="noStrike">
                <a:solidFill>
                  <a:srgbClr val="000000"/>
                </a:solidFill>
                <a:latin typeface="Arial"/>
                <a:ea typeface="Arial"/>
                <a:cs typeface="Arial"/>
                <a:sym typeface="Arial"/>
              </a:rPr>
              <a:t>Código organizado y fácil de mantener (RNF13)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s-MX" sz="1400" u="none" cap="none" strike="noStrike">
                <a:solidFill>
                  <a:srgbClr val="000000"/>
                </a:solidFill>
                <a:latin typeface="Arial"/>
                <a:ea typeface="Arial"/>
                <a:cs typeface="Arial"/>
                <a:sym typeface="Arial"/>
              </a:rPr>
              <a:t>Posibilidad de agregar nuevas funciones (RNF14)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s-MX" sz="1400" u="none" cap="none" strike="noStrike">
                <a:solidFill>
                  <a:srgbClr val="000000"/>
                </a:solidFill>
                <a:latin typeface="Arial"/>
                <a:ea typeface="Arial"/>
                <a:cs typeface="Arial"/>
                <a:sym typeface="Arial"/>
              </a:rPr>
              <a:t>Actualizaciones sin afectar el sistema (RNF15)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pic>
        <p:nvPicPr>
          <p:cNvPr descr="Servicio Nacional de Aprendizaje - SENA | Bogota.gov.co" id="243" name="Google Shape;243;p32"/>
          <p:cNvPicPr preferRelativeResize="0"/>
          <p:nvPr/>
        </p:nvPicPr>
        <p:blipFill rotWithShape="1">
          <a:blip r:embed="rId3">
            <a:alphaModFix/>
          </a:blip>
          <a:srcRect b="0" l="0" r="0" t="0"/>
          <a:stretch/>
        </p:blipFill>
        <p:spPr>
          <a:xfrm>
            <a:off x="11262712" y="314959"/>
            <a:ext cx="651382" cy="636867"/>
          </a:xfrm>
          <a:prstGeom prst="rect">
            <a:avLst/>
          </a:prstGeom>
          <a:noFill/>
          <a:ln>
            <a:noFill/>
          </a:ln>
        </p:spPr>
      </p:pic>
      <p:sp>
        <p:nvSpPr>
          <p:cNvPr id="244" name="Google Shape;244;p32"/>
          <p:cNvSpPr txBox="1"/>
          <p:nvPr/>
        </p:nvSpPr>
        <p:spPr>
          <a:xfrm>
            <a:off x="526287" y="3101342"/>
            <a:ext cx="8874385" cy="623232"/>
          </a:xfrm>
          <a:prstGeom prst="rect">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chemeClr val="dk1"/>
              </a:buClr>
              <a:buSzPts val="6000"/>
              <a:buFont typeface="Calibri"/>
              <a:buNone/>
            </a:pPr>
            <a:r>
              <a:rPr b="1" i="0" lang="es-MX" sz="4800" u="none" cap="none" strike="noStrike">
                <a:solidFill>
                  <a:srgbClr val="000000"/>
                </a:solidFill>
                <a:latin typeface="Work Sans"/>
                <a:ea typeface="Work Sans"/>
                <a:cs typeface="Work Sans"/>
                <a:sym typeface="Work Sans"/>
              </a:rPr>
              <a:t>10. Historias de usuario</a:t>
            </a:r>
            <a:endParaRPr b="1" i="0" sz="3600" u="none" cap="none" strike="noStrike">
              <a:solidFill>
                <a:srgbClr val="000000"/>
              </a:solidFill>
              <a:latin typeface="Work Sans"/>
              <a:ea typeface="Work Sans"/>
              <a:cs typeface="Work Sans"/>
              <a:sym typeface="Work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pic>
        <p:nvPicPr>
          <p:cNvPr descr="Servicio Nacional de Aprendizaje - SENA | Bogota.gov.co" id="249" name="Google Shape;249;p33"/>
          <p:cNvPicPr preferRelativeResize="0"/>
          <p:nvPr/>
        </p:nvPicPr>
        <p:blipFill rotWithShape="1">
          <a:blip r:embed="rId3">
            <a:alphaModFix/>
          </a:blip>
          <a:srcRect b="0" l="0" r="0" t="0"/>
          <a:stretch/>
        </p:blipFill>
        <p:spPr>
          <a:xfrm>
            <a:off x="11262712" y="314959"/>
            <a:ext cx="651382" cy="636867"/>
          </a:xfrm>
          <a:prstGeom prst="rect">
            <a:avLst/>
          </a:prstGeom>
          <a:noFill/>
          <a:ln>
            <a:noFill/>
          </a:ln>
        </p:spPr>
      </p:pic>
      <p:pic>
        <p:nvPicPr>
          <p:cNvPr descr="icono de línea de historias de usuario 14808852 Vector en Vecteezy" id="250" name="Google Shape;250;p33">
            <a:hlinkClick r:id="rId4"/>
          </p:cNvPr>
          <p:cNvPicPr preferRelativeResize="0"/>
          <p:nvPr/>
        </p:nvPicPr>
        <p:blipFill rotWithShape="1">
          <a:blip r:embed="rId5">
            <a:alphaModFix/>
          </a:blip>
          <a:srcRect b="0" l="0" r="0" t="0"/>
          <a:stretch/>
        </p:blipFill>
        <p:spPr>
          <a:xfrm>
            <a:off x="4510327" y="2071115"/>
            <a:ext cx="2209240" cy="2209240"/>
          </a:xfrm>
          <a:prstGeom prst="rect">
            <a:avLst/>
          </a:prstGeom>
          <a:noFill/>
          <a:ln>
            <a:noFill/>
          </a:ln>
        </p:spPr>
      </p:pic>
      <p:sp>
        <p:nvSpPr>
          <p:cNvPr id="251" name="Google Shape;251;p33"/>
          <p:cNvSpPr/>
          <p:nvPr/>
        </p:nvSpPr>
        <p:spPr>
          <a:xfrm>
            <a:off x="678738" y="1274890"/>
            <a:ext cx="3496563" cy="1900845"/>
          </a:xfrm>
          <a:prstGeom prst="rect">
            <a:avLst/>
          </a:prstGeom>
          <a:noFill/>
          <a:ln cap="flat" cmpd="sng" w="254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52" name="Google Shape;252;p33"/>
          <p:cNvSpPr txBox="1"/>
          <p:nvPr/>
        </p:nvSpPr>
        <p:spPr>
          <a:xfrm>
            <a:off x="678738" y="1245346"/>
            <a:ext cx="3496563" cy="175432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000000"/>
                </a:solidFill>
                <a:latin typeface="Calibri"/>
                <a:ea typeface="Calibri"/>
                <a:cs typeface="Calibri"/>
                <a:sym typeface="Calibri"/>
              </a:rPr>
              <a:t>Inventario</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0" i="0" lang="es-MX" sz="1800" u="none" cap="none" strike="noStrike">
                <a:solidFill>
                  <a:srgbClr val="000000"/>
                </a:solidFill>
                <a:latin typeface="Calibri"/>
                <a:ea typeface="Calibri"/>
                <a:cs typeface="Calibri"/>
                <a:sym typeface="Calibri"/>
              </a:rPr>
              <a:t>Registrar productos (HU01)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0" i="0" lang="es-MX" sz="1800" u="none" cap="none" strike="noStrike">
                <a:solidFill>
                  <a:srgbClr val="000000"/>
                </a:solidFill>
                <a:latin typeface="Calibri"/>
                <a:ea typeface="Calibri"/>
                <a:cs typeface="Calibri"/>
                <a:sym typeface="Calibri"/>
              </a:rPr>
              <a:t>Editar o eliminar productos (HU03)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0" i="0" lang="es-MX" sz="1800" u="none" cap="none" strike="noStrike">
                <a:solidFill>
                  <a:srgbClr val="000000"/>
                </a:solidFill>
                <a:latin typeface="Calibri"/>
                <a:ea typeface="Calibri"/>
                <a:cs typeface="Calibri"/>
                <a:sym typeface="Calibri"/>
              </a:rPr>
              <a:t>Registrar proveedores (HU04)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0" i="0" lang="es-MX" sz="1800" u="none" cap="none" strike="noStrike">
                <a:solidFill>
                  <a:srgbClr val="000000"/>
                </a:solidFill>
                <a:latin typeface="Calibri"/>
                <a:ea typeface="Calibri"/>
                <a:cs typeface="Calibri"/>
                <a:sym typeface="Calibri"/>
              </a:rPr>
              <a:t>Alertas de stock mínimo (HU12)</a:t>
            </a:r>
            <a:endParaRPr b="0" i="0" sz="1400" u="none" cap="none" strike="noStrike">
              <a:solidFill>
                <a:srgbClr val="000000"/>
              </a:solidFill>
              <a:latin typeface="Arial"/>
              <a:ea typeface="Arial"/>
              <a:cs typeface="Arial"/>
              <a:sym typeface="Arial"/>
            </a:endParaRPr>
          </a:p>
        </p:txBody>
      </p:sp>
      <p:sp>
        <p:nvSpPr>
          <p:cNvPr id="253" name="Google Shape;253;p33"/>
          <p:cNvSpPr/>
          <p:nvPr/>
        </p:nvSpPr>
        <p:spPr>
          <a:xfrm>
            <a:off x="678738" y="3535747"/>
            <a:ext cx="3496563" cy="1900845"/>
          </a:xfrm>
          <a:prstGeom prst="rect">
            <a:avLst/>
          </a:prstGeom>
          <a:noFill/>
          <a:ln cap="flat" cmpd="sng" w="254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54" name="Google Shape;254;p33"/>
          <p:cNvSpPr txBox="1"/>
          <p:nvPr/>
        </p:nvSpPr>
        <p:spPr>
          <a:xfrm>
            <a:off x="678738" y="3535747"/>
            <a:ext cx="3496563" cy="175432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000000"/>
                </a:solidFill>
                <a:latin typeface="Arial"/>
                <a:ea typeface="Arial"/>
                <a:cs typeface="Arial"/>
                <a:sym typeface="Arial"/>
              </a:rPr>
              <a:t>Compras y Pagos</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1800"/>
              <a:buFont typeface="Arial"/>
              <a:buChar char="•"/>
            </a:pPr>
            <a:r>
              <a:rPr b="0" i="0" lang="es-MX" sz="1800" u="none" cap="none" strike="noStrike">
                <a:solidFill>
                  <a:srgbClr val="000000"/>
                </a:solidFill>
                <a:latin typeface="Arial"/>
                <a:ea typeface="Arial"/>
                <a:cs typeface="Arial"/>
                <a:sym typeface="Arial"/>
              </a:rPr>
              <a:t>Carrito de compras (HU07)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1800"/>
              <a:buFont typeface="Arial"/>
              <a:buChar char="•"/>
            </a:pPr>
            <a:r>
              <a:rPr b="0" i="0" lang="es-MX" sz="1800" u="none" cap="none" strike="noStrike">
                <a:solidFill>
                  <a:srgbClr val="000000"/>
                </a:solidFill>
                <a:latin typeface="Arial"/>
                <a:ea typeface="Arial"/>
                <a:cs typeface="Arial"/>
                <a:sym typeface="Arial"/>
              </a:rPr>
              <a:t>Pago por Nequi / QR (HU08, HU10)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1800"/>
              <a:buFont typeface="Arial"/>
              <a:buChar char="•"/>
            </a:pPr>
            <a:r>
              <a:rPr b="0" i="0" lang="es-MX" sz="1800" u="none" cap="none" strike="noStrike">
                <a:solidFill>
                  <a:srgbClr val="000000"/>
                </a:solidFill>
                <a:latin typeface="Arial"/>
                <a:ea typeface="Arial"/>
                <a:cs typeface="Arial"/>
                <a:sym typeface="Arial"/>
              </a:rPr>
              <a:t>Pago contra entrega (HU11)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1800"/>
              <a:buFont typeface="Arial"/>
              <a:buChar char="•"/>
            </a:pPr>
            <a:r>
              <a:rPr b="0" i="0" lang="es-MX" sz="1800" u="none" cap="none" strike="noStrike">
                <a:solidFill>
                  <a:srgbClr val="000000"/>
                </a:solidFill>
                <a:latin typeface="Arial"/>
                <a:ea typeface="Arial"/>
                <a:cs typeface="Arial"/>
                <a:sym typeface="Arial"/>
              </a:rPr>
              <a:t>Cancelar pedidos (HU15)</a:t>
            </a:r>
            <a:endParaRPr b="0" i="0" sz="1400" u="none" cap="none" strike="noStrike">
              <a:solidFill>
                <a:srgbClr val="000000"/>
              </a:solidFill>
              <a:latin typeface="Arial"/>
              <a:ea typeface="Arial"/>
              <a:cs typeface="Arial"/>
              <a:sym typeface="Arial"/>
            </a:endParaRPr>
          </a:p>
        </p:txBody>
      </p:sp>
      <p:sp>
        <p:nvSpPr>
          <p:cNvPr id="255" name="Google Shape;255;p33"/>
          <p:cNvSpPr/>
          <p:nvPr/>
        </p:nvSpPr>
        <p:spPr>
          <a:xfrm>
            <a:off x="7766149" y="1274890"/>
            <a:ext cx="3496563" cy="1900845"/>
          </a:xfrm>
          <a:prstGeom prst="rect">
            <a:avLst/>
          </a:prstGeom>
          <a:noFill/>
          <a:ln cap="flat" cmpd="sng" w="254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56" name="Google Shape;256;p33"/>
          <p:cNvSpPr txBox="1"/>
          <p:nvPr/>
        </p:nvSpPr>
        <p:spPr>
          <a:xfrm>
            <a:off x="7804841" y="1245346"/>
            <a:ext cx="3496563" cy="147732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000000"/>
                </a:solidFill>
                <a:latin typeface="Calibri"/>
                <a:ea typeface="Calibri"/>
                <a:cs typeface="Calibri"/>
                <a:sym typeface="Calibri"/>
              </a:rPr>
              <a:t>Cliente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0" i="0" lang="es-MX" sz="1800" u="none" cap="none" strike="noStrike">
                <a:solidFill>
                  <a:srgbClr val="000000"/>
                </a:solidFill>
                <a:latin typeface="Calibri"/>
                <a:ea typeface="Calibri"/>
                <a:cs typeface="Calibri"/>
                <a:sym typeface="Calibri"/>
              </a:rPr>
              <a:t>Buscar productos (HU05)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0" i="0" lang="es-MX" sz="1800" u="none" cap="none" strike="noStrike">
                <a:solidFill>
                  <a:srgbClr val="000000"/>
                </a:solidFill>
                <a:latin typeface="Calibri"/>
                <a:ea typeface="Calibri"/>
                <a:cs typeface="Calibri"/>
                <a:sym typeface="Calibri"/>
              </a:rPr>
              <a:t>Ver imágenes (HU06)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0" i="0" lang="es-MX" sz="1800" u="none" cap="none" strike="noStrike">
                <a:solidFill>
                  <a:srgbClr val="000000"/>
                </a:solidFill>
                <a:latin typeface="Calibri"/>
                <a:ea typeface="Calibri"/>
                <a:cs typeface="Calibri"/>
                <a:sym typeface="Calibri"/>
              </a:rPr>
              <a:t>Reseñas y calificaciones (HU13)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0" i="0" lang="es-MX" sz="1800" u="none" cap="none" strike="noStrike">
                <a:solidFill>
                  <a:srgbClr val="000000"/>
                </a:solidFill>
                <a:latin typeface="Calibri"/>
                <a:ea typeface="Calibri"/>
                <a:cs typeface="Calibri"/>
                <a:sym typeface="Calibri"/>
              </a:rPr>
              <a:t>Historial de compras (HU19)</a:t>
            </a:r>
            <a:endParaRPr b="0" i="0" sz="1400" u="none" cap="none" strike="noStrike">
              <a:solidFill>
                <a:srgbClr val="000000"/>
              </a:solidFill>
              <a:latin typeface="Arial"/>
              <a:ea typeface="Arial"/>
              <a:cs typeface="Arial"/>
              <a:sym typeface="Arial"/>
            </a:endParaRPr>
          </a:p>
        </p:txBody>
      </p:sp>
      <p:sp>
        <p:nvSpPr>
          <p:cNvPr id="257" name="Google Shape;257;p33"/>
          <p:cNvSpPr/>
          <p:nvPr/>
        </p:nvSpPr>
        <p:spPr>
          <a:xfrm>
            <a:off x="7804841" y="3426207"/>
            <a:ext cx="3496563" cy="2010385"/>
          </a:xfrm>
          <a:prstGeom prst="rect">
            <a:avLst/>
          </a:prstGeom>
          <a:noFill/>
          <a:ln cap="flat" cmpd="sng" w="254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58" name="Google Shape;258;p33"/>
          <p:cNvSpPr txBox="1"/>
          <p:nvPr/>
        </p:nvSpPr>
        <p:spPr>
          <a:xfrm>
            <a:off x="7843533" y="3396663"/>
            <a:ext cx="3496563" cy="175432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chemeClr val="dk1"/>
                </a:solidFill>
                <a:latin typeface="Calibri"/>
                <a:ea typeface="Calibri"/>
                <a:cs typeface="Calibri"/>
                <a:sym typeface="Calibri"/>
              </a:rPr>
              <a:t>Reportes y Ventas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0" i="0" lang="es-MX" sz="1800" u="none" cap="none" strike="noStrike">
                <a:solidFill>
                  <a:schemeClr val="dk1"/>
                </a:solidFill>
                <a:latin typeface="Calibri"/>
                <a:ea typeface="Calibri"/>
                <a:cs typeface="Calibri"/>
                <a:sym typeface="Calibri"/>
              </a:rPr>
              <a:t>Comprobante de compra (HU14)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0" i="0" lang="es-MX" sz="1800" u="none" cap="none" strike="noStrike">
                <a:solidFill>
                  <a:schemeClr val="dk1"/>
                </a:solidFill>
                <a:latin typeface="Calibri"/>
                <a:ea typeface="Calibri"/>
                <a:cs typeface="Calibri"/>
                <a:sym typeface="Calibri"/>
              </a:rPr>
              <a:t>Reportes diarios en PDF (HU16)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0" i="0" lang="es-MX" sz="1800" u="none" cap="none" strike="noStrike">
                <a:solidFill>
                  <a:schemeClr val="dk1"/>
                </a:solidFill>
                <a:latin typeface="Calibri"/>
                <a:ea typeface="Calibri"/>
                <a:cs typeface="Calibri"/>
                <a:sym typeface="Calibri"/>
              </a:rPr>
              <a:t>Reporte de utilidades (HU17)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0" i="0" lang="es-MX" sz="1800" u="none" cap="none" strike="noStrike">
                <a:solidFill>
                  <a:schemeClr val="dk1"/>
                </a:solidFill>
                <a:latin typeface="Calibri"/>
                <a:ea typeface="Calibri"/>
                <a:cs typeface="Calibri"/>
                <a:sym typeface="Calibri"/>
              </a:rPr>
              <a:t>Cupones de descuento (HU18)</a:t>
            </a:r>
            <a:endParaRPr b="0" i="0" sz="1400" u="none" cap="none" strike="noStrike">
              <a:solidFill>
                <a:srgbClr val="000000"/>
              </a:solidFill>
              <a:latin typeface="Arial"/>
              <a:ea typeface="Arial"/>
              <a:cs typeface="Arial"/>
              <a:sym typeface="Arial"/>
            </a:endParaRPr>
          </a:p>
        </p:txBody>
      </p:sp>
      <p:sp>
        <p:nvSpPr>
          <p:cNvPr id="259" name="Google Shape;259;p33"/>
          <p:cNvSpPr/>
          <p:nvPr/>
        </p:nvSpPr>
        <p:spPr>
          <a:xfrm>
            <a:off x="4467434" y="4671642"/>
            <a:ext cx="3045273" cy="1529897"/>
          </a:xfrm>
          <a:prstGeom prst="rect">
            <a:avLst/>
          </a:prstGeom>
          <a:noFill/>
          <a:ln cap="flat" cmpd="sng" w="254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60" name="Google Shape;260;p33"/>
          <p:cNvSpPr txBox="1"/>
          <p:nvPr/>
        </p:nvSpPr>
        <p:spPr>
          <a:xfrm>
            <a:off x="4467434" y="4797292"/>
            <a:ext cx="3045273"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s-MX" sz="1800" u="none" cap="none" strike="noStrike">
                <a:solidFill>
                  <a:srgbClr val="000000"/>
                </a:solidFill>
                <a:latin typeface="Calibri"/>
                <a:ea typeface="Calibri"/>
                <a:cs typeface="Calibri"/>
                <a:sym typeface="Calibri"/>
              </a:rPr>
              <a:t>Administración</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0" i="0" lang="es-MX" sz="1800" u="none" cap="none" strike="noStrike">
                <a:solidFill>
                  <a:srgbClr val="000000"/>
                </a:solidFill>
                <a:latin typeface="Calibri"/>
                <a:ea typeface="Calibri"/>
                <a:cs typeface="Calibri"/>
                <a:sym typeface="Calibri"/>
              </a:rPr>
              <a:t>Asignar precios (HU02)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0" i="0" lang="es-MX" sz="1800" u="none" cap="none" strike="noStrike">
                <a:solidFill>
                  <a:srgbClr val="000000"/>
                </a:solidFill>
                <a:latin typeface="Calibri"/>
                <a:ea typeface="Calibri"/>
                <a:cs typeface="Calibri"/>
                <a:sym typeface="Calibri"/>
              </a:rPr>
              <a:t>Datos de envío (HU09)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0" i="0" lang="es-MX" sz="1800" u="none" cap="none" strike="noStrike">
                <a:solidFill>
                  <a:srgbClr val="000000"/>
                </a:solidFill>
                <a:latin typeface="Calibri"/>
                <a:ea typeface="Calibri"/>
                <a:cs typeface="Calibri"/>
                <a:sym typeface="Calibri"/>
              </a:rPr>
              <a:t>Gestión de accesos (HU20)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pic>
        <p:nvPicPr>
          <p:cNvPr descr="Servicio Nacional de Aprendizaje - SENA | Bogota.gov.co" id="265" name="Google Shape;265;p34"/>
          <p:cNvPicPr preferRelativeResize="0"/>
          <p:nvPr/>
        </p:nvPicPr>
        <p:blipFill rotWithShape="1">
          <a:blip r:embed="rId3">
            <a:alphaModFix/>
          </a:blip>
          <a:srcRect b="0" l="0" r="0" t="0"/>
          <a:stretch/>
        </p:blipFill>
        <p:spPr>
          <a:xfrm>
            <a:off x="11262712" y="314959"/>
            <a:ext cx="651382" cy="636867"/>
          </a:xfrm>
          <a:prstGeom prst="rect">
            <a:avLst/>
          </a:prstGeom>
          <a:noFill/>
          <a:ln>
            <a:noFill/>
          </a:ln>
        </p:spPr>
      </p:pic>
      <p:sp>
        <p:nvSpPr>
          <p:cNvPr id="266" name="Google Shape;266;p34"/>
          <p:cNvSpPr txBox="1"/>
          <p:nvPr/>
        </p:nvSpPr>
        <p:spPr>
          <a:xfrm>
            <a:off x="409507" y="3110566"/>
            <a:ext cx="6592437" cy="636867"/>
          </a:xfrm>
          <a:prstGeom prst="rect">
            <a:avLst/>
          </a:prstGeom>
          <a:noFill/>
          <a:ln>
            <a:noFill/>
          </a:ln>
        </p:spPr>
        <p:txBody>
          <a:bodyPr anchorCtr="0" anchor="b" bIns="45700" lIns="91425" spcFirstLastPara="1" rIns="91425" wrap="square" tIns="45700">
            <a:noAutofit/>
          </a:bodyPr>
          <a:lstStyle/>
          <a:p>
            <a:pPr indent="0" lvl="0" marL="228600" marR="0" rtl="0" algn="l">
              <a:lnSpc>
                <a:spcPct val="100000"/>
              </a:lnSpc>
              <a:spcBef>
                <a:spcPts val="0"/>
              </a:spcBef>
              <a:spcAft>
                <a:spcPts val="0"/>
              </a:spcAft>
              <a:buClr>
                <a:srgbClr val="000000"/>
              </a:buClr>
              <a:buSzPts val="4800"/>
              <a:buFont typeface="Arial"/>
              <a:buNone/>
            </a:pPr>
            <a:r>
              <a:rPr b="1" i="0" lang="es-MX" sz="4800" u="none" cap="none" strike="noStrike">
                <a:solidFill>
                  <a:schemeClr val="dk1"/>
                </a:solidFill>
                <a:latin typeface="Work Sans"/>
                <a:ea typeface="Work Sans"/>
                <a:cs typeface="Work Sans"/>
                <a:sym typeface="Work Sans"/>
              </a:rPr>
              <a:t>11. Relación  RF-HU</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pic>
        <p:nvPicPr>
          <p:cNvPr descr="Servicio Nacional de Aprendizaje - SENA | Bogota.gov.co" id="271" name="Google Shape;271;p35"/>
          <p:cNvPicPr preferRelativeResize="0"/>
          <p:nvPr/>
        </p:nvPicPr>
        <p:blipFill rotWithShape="1">
          <a:blip r:embed="rId3">
            <a:alphaModFix/>
          </a:blip>
          <a:srcRect b="0" l="0" r="0" t="0"/>
          <a:stretch/>
        </p:blipFill>
        <p:spPr>
          <a:xfrm>
            <a:off x="11418348" y="257683"/>
            <a:ext cx="651382" cy="636867"/>
          </a:xfrm>
          <a:prstGeom prst="rect">
            <a:avLst/>
          </a:prstGeom>
          <a:noFill/>
          <a:ln>
            <a:noFill/>
          </a:ln>
        </p:spPr>
      </p:pic>
      <p:graphicFrame>
        <p:nvGraphicFramePr>
          <p:cNvPr id="272" name="Google Shape;272;p35"/>
          <p:cNvGraphicFramePr/>
          <p:nvPr/>
        </p:nvGraphicFramePr>
        <p:xfrm>
          <a:off x="447960" y="894550"/>
          <a:ext cx="3000000" cy="3000000"/>
        </p:xfrm>
        <a:graphic>
          <a:graphicData uri="http://schemas.openxmlformats.org/drawingml/2006/table">
            <a:tbl>
              <a:tblPr>
                <a:noFill/>
                <a:tableStyleId>{9E162717-495E-49A1-95A1-FCD24B269607}</a:tableStyleId>
              </a:tblPr>
              <a:tblGrid>
                <a:gridCol w="5648050"/>
                <a:gridCol w="5648050"/>
              </a:tblGrid>
              <a:tr h="162875">
                <a:tc>
                  <a:txBody>
                    <a:bodyPr/>
                    <a:lstStyle/>
                    <a:p>
                      <a:pPr indent="0" lvl="0" marL="0" marR="0" rtl="0" algn="l">
                        <a:lnSpc>
                          <a:spcPct val="100000"/>
                        </a:lnSpc>
                        <a:spcBef>
                          <a:spcPts val="0"/>
                        </a:spcBef>
                        <a:spcAft>
                          <a:spcPts val="0"/>
                        </a:spcAft>
                        <a:buClr>
                          <a:srgbClr val="000000"/>
                        </a:buClr>
                        <a:buSzPts val="1200"/>
                        <a:buFont typeface="Arial"/>
                        <a:buNone/>
                      </a:pPr>
                      <a:r>
                        <a:rPr b="1" i="0" lang="es-MX" sz="1200" u="none" cap="none" strike="noStrike">
                          <a:solidFill>
                            <a:srgbClr val="FFFFFF"/>
                          </a:solidFill>
                          <a:latin typeface="Calibri"/>
                          <a:ea typeface="Calibri"/>
                          <a:cs typeface="Calibri"/>
                          <a:sym typeface="Calibri"/>
                        </a:rPr>
                        <a:t>Requerimiento Funcional</a:t>
                      </a:r>
                      <a:endParaRPr sz="1200" u="none" cap="none" strike="noStrike"/>
                    </a:p>
                  </a:txBody>
                  <a:tcPr marT="19225" marB="19225" marR="38450" marL="38450">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12675">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0066CC"/>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1" i="0" lang="es-MX" sz="1200" u="none" cap="none" strike="noStrike">
                          <a:solidFill>
                            <a:srgbClr val="FFFFFF"/>
                          </a:solidFill>
                          <a:latin typeface="Calibri"/>
                          <a:ea typeface="Calibri"/>
                          <a:cs typeface="Calibri"/>
                          <a:sym typeface="Calibri"/>
                        </a:rPr>
                        <a:t>Historia de Usuario</a:t>
                      </a:r>
                      <a:endParaRPr sz="1200" u="none" cap="none" strike="noStrike"/>
                    </a:p>
                  </a:txBody>
                  <a:tcPr marT="19225" marB="19225" marR="38450" marL="38450">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12675">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0066CC"/>
                    </a:solidFill>
                  </a:tcPr>
                </a:tc>
              </a:tr>
              <a:tr h="250700">
                <a:tc>
                  <a:txBody>
                    <a:bodyPr/>
                    <a:lstStyle/>
                    <a:p>
                      <a:pPr indent="0" lvl="0" marL="0" marR="0" rtl="0" algn="l">
                        <a:lnSpc>
                          <a:spcPct val="100000"/>
                        </a:lnSpc>
                        <a:spcBef>
                          <a:spcPts val="0"/>
                        </a:spcBef>
                        <a:spcAft>
                          <a:spcPts val="0"/>
                        </a:spcAft>
                        <a:buClr>
                          <a:srgbClr val="000000"/>
                        </a:buClr>
                        <a:buSzPts val="1200"/>
                        <a:buFont typeface="Arial"/>
                        <a:buNone/>
                      </a:pPr>
                      <a:r>
                        <a:rPr b="0" i="0" lang="es-MX" sz="1200" u="none" cap="none" strike="noStrike">
                          <a:solidFill>
                            <a:srgbClr val="000000"/>
                          </a:solidFill>
                          <a:latin typeface="Calibri"/>
                          <a:ea typeface="Calibri"/>
                          <a:cs typeface="Calibri"/>
                          <a:sym typeface="Calibri"/>
                        </a:rPr>
                        <a:t>Registro de nuevos productos (nombre, categoría y descripción). RF01</a:t>
                      </a:r>
                      <a:endParaRPr sz="1200" u="none" cap="none" strike="noStrike"/>
                    </a:p>
                  </a:txBody>
                  <a:tcPr marT="19225" marB="19225" marR="38450" marL="38450">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675">
                      <a:solidFill>
                        <a:srgbClr val="FFFFFF"/>
                      </a:solidFill>
                      <a:prstDash val="solid"/>
                      <a:round/>
                      <a:headEnd len="sm" w="sm" type="none"/>
                      <a:tailEnd len="sm" w="sm" type="none"/>
                    </a:lnB>
                    <a:solidFill>
                      <a:srgbClr val="CFD7E7"/>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0" i="0" lang="es-MX" sz="1200" u="none" cap="none" strike="noStrike">
                          <a:solidFill>
                            <a:srgbClr val="000000"/>
                          </a:solidFill>
                          <a:latin typeface="Calibri"/>
                          <a:ea typeface="Calibri"/>
                          <a:cs typeface="Calibri"/>
                          <a:sym typeface="Calibri"/>
                        </a:rPr>
                        <a:t>Como Admin, quiero registrar productos para que aparezcan en el catálogo. HU01</a:t>
                      </a:r>
                      <a:endParaRPr sz="1200" u="none" cap="none" strike="noStrike"/>
                    </a:p>
                  </a:txBody>
                  <a:tcPr marT="19225" marB="19225" marR="38450" marL="38450">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675">
                      <a:solidFill>
                        <a:srgbClr val="FFFFFF"/>
                      </a:solidFill>
                      <a:prstDash val="solid"/>
                      <a:round/>
                      <a:headEnd len="sm" w="sm" type="none"/>
                      <a:tailEnd len="sm" w="sm" type="none"/>
                    </a:lnB>
                    <a:solidFill>
                      <a:srgbClr val="CFD7E7"/>
                    </a:solidFill>
                  </a:tcPr>
                </a:tc>
              </a:tr>
              <a:tr h="250700">
                <a:tc>
                  <a:txBody>
                    <a:bodyPr/>
                    <a:lstStyle/>
                    <a:p>
                      <a:pPr indent="0" lvl="0" marL="0" marR="0" rtl="0" algn="l">
                        <a:lnSpc>
                          <a:spcPct val="100000"/>
                        </a:lnSpc>
                        <a:spcBef>
                          <a:spcPts val="0"/>
                        </a:spcBef>
                        <a:spcAft>
                          <a:spcPts val="0"/>
                        </a:spcAft>
                        <a:buClr>
                          <a:srgbClr val="000000"/>
                        </a:buClr>
                        <a:buSzPts val="1200"/>
                        <a:buFont typeface="Arial"/>
                        <a:buNone/>
                      </a:pPr>
                      <a:r>
                        <a:rPr b="0" i="0" lang="es-MX" sz="1200" u="none" cap="none" strike="noStrike">
                          <a:solidFill>
                            <a:srgbClr val="000000"/>
                          </a:solidFill>
                          <a:latin typeface="Calibri"/>
                          <a:ea typeface="Calibri"/>
                          <a:cs typeface="Calibri"/>
                          <a:sym typeface="Calibri"/>
                        </a:rPr>
                        <a:t>Asignación de precios de compra y venta. RF02</a:t>
                      </a:r>
                      <a:endParaRPr sz="1200" u="none" cap="none" strike="noStrike"/>
                    </a:p>
                  </a:txBody>
                  <a:tcPr marT="19225" marB="19225" marR="38450" marL="38450">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12675">
                      <a:solidFill>
                        <a:srgbClr val="FFFFFF"/>
                      </a:solidFill>
                      <a:prstDash val="solid"/>
                      <a:round/>
                      <a:headEnd len="sm" w="sm" type="none"/>
                      <a:tailEnd len="sm" w="sm" type="none"/>
                    </a:lnT>
                    <a:lnB cap="flat" cmpd="sng" w="12675">
                      <a:solidFill>
                        <a:srgbClr val="FFFFFF"/>
                      </a:solidFill>
                      <a:prstDash val="solid"/>
                      <a:round/>
                      <a:headEnd len="sm" w="sm" type="none"/>
                      <a:tailEnd len="sm" w="sm" type="none"/>
                    </a:lnB>
                    <a:solidFill>
                      <a:srgbClr val="E6F0FF"/>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0" i="0" lang="es-MX" sz="1200" u="none" cap="none" strike="noStrike">
                          <a:solidFill>
                            <a:srgbClr val="000000"/>
                          </a:solidFill>
                          <a:latin typeface="Calibri"/>
                          <a:ea typeface="Calibri"/>
                          <a:cs typeface="Calibri"/>
                          <a:sym typeface="Calibri"/>
                        </a:rPr>
                        <a:t>Como Dueño, quiero definir precios para controlar costos y ganancias. HU02</a:t>
                      </a:r>
                      <a:endParaRPr sz="1200" u="none" cap="none" strike="noStrike"/>
                    </a:p>
                  </a:txBody>
                  <a:tcPr marT="19225" marB="19225" marR="38450" marL="38450">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12675">
                      <a:solidFill>
                        <a:srgbClr val="FFFFFF"/>
                      </a:solidFill>
                      <a:prstDash val="solid"/>
                      <a:round/>
                      <a:headEnd len="sm" w="sm" type="none"/>
                      <a:tailEnd len="sm" w="sm" type="none"/>
                    </a:lnT>
                    <a:lnB cap="flat" cmpd="sng" w="12675">
                      <a:solidFill>
                        <a:srgbClr val="FFFFFF"/>
                      </a:solidFill>
                      <a:prstDash val="solid"/>
                      <a:round/>
                      <a:headEnd len="sm" w="sm" type="none"/>
                      <a:tailEnd len="sm" w="sm" type="none"/>
                    </a:lnB>
                    <a:solidFill>
                      <a:srgbClr val="E6F0FF"/>
                    </a:solidFill>
                  </a:tcPr>
                </a:tc>
              </a:tr>
              <a:tr h="353175">
                <a:tc>
                  <a:txBody>
                    <a:bodyPr/>
                    <a:lstStyle/>
                    <a:p>
                      <a:pPr indent="0" lvl="0" marL="0" marR="0" rtl="0" algn="l">
                        <a:lnSpc>
                          <a:spcPct val="100000"/>
                        </a:lnSpc>
                        <a:spcBef>
                          <a:spcPts val="0"/>
                        </a:spcBef>
                        <a:spcAft>
                          <a:spcPts val="0"/>
                        </a:spcAft>
                        <a:buClr>
                          <a:srgbClr val="000000"/>
                        </a:buClr>
                        <a:buSzPts val="1200"/>
                        <a:buFont typeface="Arial"/>
                        <a:buNone/>
                      </a:pPr>
                      <a:r>
                        <a:rPr b="0" i="0" lang="es-MX" sz="1200" u="none" cap="none" strike="noStrike">
                          <a:solidFill>
                            <a:srgbClr val="000000"/>
                          </a:solidFill>
                          <a:latin typeface="Calibri"/>
                          <a:ea typeface="Calibri"/>
                          <a:cs typeface="Calibri"/>
                          <a:sym typeface="Calibri"/>
                        </a:rPr>
                        <a:t>Edición y eliminación lógica de productos con actualización de inventario  RF03.</a:t>
                      </a:r>
                      <a:endParaRPr sz="1200" u="none" cap="none" strike="noStrike"/>
                    </a:p>
                  </a:txBody>
                  <a:tcPr marT="19225" marB="19225" marR="38450" marL="38450">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12675">
                      <a:solidFill>
                        <a:srgbClr val="FFFFFF"/>
                      </a:solidFill>
                      <a:prstDash val="solid"/>
                      <a:round/>
                      <a:headEnd len="sm" w="sm" type="none"/>
                      <a:tailEnd len="sm" w="sm" type="none"/>
                    </a:lnT>
                    <a:lnB cap="flat" cmpd="sng" w="12675">
                      <a:solidFill>
                        <a:srgbClr val="FFFFFF"/>
                      </a:solidFill>
                      <a:prstDash val="solid"/>
                      <a:round/>
                      <a:headEnd len="sm" w="sm" type="none"/>
                      <a:tailEnd len="sm" w="sm" type="none"/>
                    </a:lnB>
                    <a:solidFill>
                      <a:srgbClr val="CFD7E7"/>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0" i="0" lang="es-MX" sz="1200" u="none" cap="none" strike="noStrike">
                          <a:solidFill>
                            <a:srgbClr val="000000"/>
                          </a:solidFill>
                          <a:latin typeface="Calibri"/>
                          <a:ea typeface="Calibri"/>
                          <a:cs typeface="Calibri"/>
                          <a:sym typeface="Calibri"/>
                        </a:rPr>
                        <a:t>Como Admin, quiero editar o desactivar productos para mantener actualizado el inventario. HU03</a:t>
                      </a:r>
                      <a:endParaRPr sz="1200" u="none" cap="none" strike="noStrike"/>
                    </a:p>
                  </a:txBody>
                  <a:tcPr marT="19225" marB="19225" marR="38450" marL="38450">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12675">
                      <a:solidFill>
                        <a:srgbClr val="FFFFFF"/>
                      </a:solidFill>
                      <a:prstDash val="solid"/>
                      <a:round/>
                      <a:headEnd len="sm" w="sm" type="none"/>
                      <a:tailEnd len="sm" w="sm" type="none"/>
                    </a:lnT>
                    <a:lnB cap="flat" cmpd="sng" w="12675">
                      <a:solidFill>
                        <a:srgbClr val="FFFFFF"/>
                      </a:solidFill>
                      <a:prstDash val="solid"/>
                      <a:round/>
                      <a:headEnd len="sm" w="sm" type="none"/>
                      <a:tailEnd len="sm" w="sm" type="none"/>
                    </a:lnB>
                    <a:solidFill>
                      <a:srgbClr val="CFD7E7"/>
                    </a:solidFill>
                  </a:tcPr>
                </a:tc>
              </a:tr>
              <a:tr h="142100">
                <a:tc>
                  <a:txBody>
                    <a:bodyPr/>
                    <a:lstStyle/>
                    <a:p>
                      <a:pPr indent="0" lvl="0" marL="0" marR="0" rtl="0" algn="l">
                        <a:lnSpc>
                          <a:spcPct val="100000"/>
                        </a:lnSpc>
                        <a:spcBef>
                          <a:spcPts val="0"/>
                        </a:spcBef>
                        <a:spcAft>
                          <a:spcPts val="0"/>
                        </a:spcAft>
                        <a:buClr>
                          <a:srgbClr val="000000"/>
                        </a:buClr>
                        <a:buSzPts val="1200"/>
                        <a:buFont typeface="Arial"/>
                        <a:buNone/>
                      </a:pPr>
                      <a:r>
                        <a:rPr b="0" i="0" lang="es-MX" sz="1200" u="none" cap="none" strike="noStrike">
                          <a:solidFill>
                            <a:srgbClr val="000000"/>
                          </a:solidFill>
                          <a:latin typeface="Calibri"/>
                          <a:ea typeface="Calibri"/>
                          <a:cs typeface="Calibri"/>
                          <a:sym typeface="Calibri"/>
                        </a:rPr>
                        <a:t>Registro de proveedores con datos de contacto. RF04</a:t>
                      </a:r>
                      <a:endParaRPr sz="1200" u="none" cap="none" strike="noStrike"/>
                    </a:p>
                  </a:txBody>
                  <a:tcPr marT="19225" marB="19225" marR="38450" marL="38450">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12675">
                      <a:solidFill>
                        <a:srgbClr val="FFFFFF"/>
                      </a:solidFill>
                      <a:prstDash val="solid"/>
                      <a:round/>
                      <a:headEnd len="sm" w="sm" type="none"/>
                      <a:tailEnd len="sm" w="sm" type="none"/>
                    </a:lnT>
                    <a:lnB cap="flat" cmpd="sng" w="12675">
                      <a:solidFill>
                        <a:srgbClr val="FFFFFF"/>
                      </a:solidFill>
                      <a:prstDash val="solid"/>
                      <a:round/>
                      <a:headEnd len="sm" w="sm" type="none"/>
                      <a:tailEnd len="sm" w="sm" type="none"/>
                    </a:lnB>
                    <a:solidFill>
                      <a:srgbClr val="E6F0FF"/>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0" i="0" lang="es-MX" sz="1200" u="none" cap="none" strike="noStrike">
                          <a:solidFill>
                            <a:srgbClr val="000000"/>
                          </a:solidFill>
                          <a:latin typeface="Calibri"/>
                          <a:ea typeface="Calibri"/>
                          <a:cs typeface="Calibri"/>
                          <a:sym typeface="Calibri"/>
                        </a:rPr>
                        <a:t>Como Dueño, quiero guardar datos de proveedores para contactarlos fácilmente. HU4</a:t>
                      </a:r>
                      <a:endParaRPr sz="1400" u="none" cap="none" strike="noStrike"/>
                    </a:p>
                  </a:txBody>
                  <a:tcPr marT="19225" marB="19225" marR="38450" marL="38450">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12675">
                      <a:solidFill>
                        <a:srgbClr val="FFFFFF"/>
                      </a:solidFill>
                      <a:prstDash val="solid"/>
                      <a:round/>
                      <a:headEnd len="sm" w="sm" type="none"/>
                      <a:tailEnd len="sm" w="sm" type="none"/>
                    </a:lnT>
                    <a:lnB cap="flat" cmpd="sng" w="12675">
                      <a:solidFill>
                        <a:srgbClr val="FFFFFF"/>
                      </a:solidFill>
                      <a:prstDash val="solid"/>
                      <a:round/>
                      <a:headEnd len="sm" w="sm" type="none"/>
                      <a:tailEnd len="sm" w="sm" type="none"/>
                    </a:lnB>
                    <a:solidFill>
                      <a:srgbClr val="E6F0FF"/>
                    </a:solidFill>
                  </a:tcPr>
                </a:tc>
              </a:tr>
              <a:tr h="250700">
                <a:tc>
                  <a:txBody>
                    <a:bodyPr/>
                    <a:lstStyle/>
                    <a:p>
                      <a:pPr indent="0" lvl="0" marL="0" marR="0" rtl="0" algn="l">
                        <a:lnSpc>
                          <a:spcPct val="100000"/>
                        </a:lnSpc>
                        <a:spcBef>
                          <a:spcPts val="0"/>
                        </a:spcBef>
                        <a:spcAft>
                          <a:spcPts val="0"/>
                        </a:spcAft>
                        <a:buClr>
                          <a:srgbClr val="000000"/>
                        </a:buClr>
                        <a:buSzPts val="1200"/>
                        <a:buFont typeface="Arial"/>
                        <a:buNone/>
                      </a:pPr>
                      <a:r>
                        <a:rPr b="0" i="0" lang="es-MX" sz="1200" u="none" cap="none" strike="noStrike">
                          <a:solidFill>
                            <a:srgbClr val="000000"/>
                          </a:solidFill>
                          <a:latin typeface="Calibri"/>
                          <a:ea typeface="Calibri"/>
                          <a:cs typeface="Calibri"/>
                          <a:sym typeface="Calibri"/>
                        </a:rPr>
                        <a:t>Búsqueda de productos por nombre o categoría. RF05</a:t>
                      </a:r>
                      <a:endParaRPr sz="1200" u="none" cap="none" strike="noStrike"/>
                    </a:p>
                  </a:txBody>
                  <a:tcPr marT="19225" marB="19225" marR="38450" marL="38450">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12675">
                      <a:solidFill>
                        <a:srgbClr val="FFFFFF"/>
                      </a:solidFill>
                      <a:prstDash val="solid"/>
                      <a:round/>
                      <a:headEnd len="sm" w="sm" type="none"/>
                      <a:tailEnd len="sm" w="sm" type="none"/>
                    </a:lnT>
                    <a:lnB cap="flat" cmpd="sng" w="12675">
                      <a:solidFill>
                        <a:srgbClr val="FFFFFF"/>
                      </a:solidFill>
                      <a:prstDash val="solid"/>
                      <a:round/>
                      <a:headEnd len="sm" w="sm" type="none"/>
                      <a:tailEnd len="sm" w="sm" type="none"/>
                    </a:lnB>
                    <a:solidFill>
                      <a:srgbClr val="CFD7E7"/>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0" i="0" lang="es-MX" sz="1200" u="none" cap="none" strike="noStrike">
                          <a:solidFill>
                            <a:srgbClr val="000000"/>
                          </a:solidFill>
                          <a:latin typeface="Calibri"/>
                          <a:ea typeface="Calibri"/>
                          <a:cs typeface="Calibri"/>
                          <a:sym typeface="Calibri"/>
                        </a:rPr>
                        <a:t>Como Cliente, quiero buscar productos para encontrarlos rápidamente. HU05</a:t>
                      </a:r>
                      <a:endParaRPr sz="1200" u="none" cap="none" strike="noStrike"/>
                    </a:p>
                  </a:txBody>
                  <a:tcPr marT="19225" marB="19225" marR="38450" marL="38450">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12675">
                      <a:solidFill>
                        <a:srgbClr val="FFFFFF"/>
                      </a:solidFill>
                      <a:prstDash val="solid"/>
                      <a:round/>
                      <a:headEnd len="sm" w="sm" type="none"/>
                      <a:tailEnd len="sm" w="sm" type="none"/>
                    </a:lnT>
                    <a:lnB cap="flat" cmpd="sng" w="12675">
                      <a:solidFill>
                        <a:srgbClr val="FFFFFF"/>
                      </a:solidFill>
                      <a:prstDash val="solid"/>
                      <a:round/>
                      <a:headEnd len="sm" w="sm" type="none"/>
                      <a:tailEnd len="sm" w="sm" type="none"/>
                    </a:lnB>
                    <a:solidFill>
                      <a:srgbClr val="CFD7E7"/>
                    </a:solidFill>
                  </a:tcPr>
                </a:tc>
              </a:tr>
              <a:tr h="250700">
                <a:tc>
                  <a:txBody>
                    <a:bodyPr/>
                    <a:lstStyle/>
                    <a:p>
                      <a:pPr indent="0" lvl="0" marL="0" marR="0" rtl="0" algn="l">
                        <a:lnSpc>
                          <a:spcPct val="100000"/>
                        </a:lnSpc>
                        <a:spcBef>
                          <a:spcPts val="0"/>
                        </a:spcBef>
                        <a:spcAft>
                          <a:spcPts val="0"/>
                        </a:spcAft>
                        <a:buClr>
                          <a:srgbClr val="000000"/>
                        </a:buClr>
                        <a:buSzPts val="1200"/>
                        <a:buFont typeface="Arial"/>
                        <a:buNone/>
                      </a:pPr>
                      <a:r>
                        <a:rPr b="0" i="0" lang="es-MX" sz="1200" u="none" cap="none" strike="noStrike">
                          <a:solidFill>
                            <a:srgbClr val="000000"/>
                          </a:solidFill>
                          <a:latin typeface="Calibri"/>
                          <a:ea typeface="Calibri"/>
                          <a:cs typeface="Calibri"/>
                          <a:sym typeface="Calibri"/>
                        </a:rPr>
                        <a:t>Visualización de imágenes de productos en el catálogo. RF06</a:t>
                      </a:r>
                      <a:endParaRPr sz="1200" u="none" cap="none" strike="noStrike"/>
                    </a:p>
                  </a:txBody>
                  <a:tcPr marT="19225" marB="19225" marR="38450" marL="38450">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12675">
                      <a:solidFill>
                        <a:srgbClr val="FFFFFF"/>
                      </a:solidFill>
                      <a:prstDash val="solid"/>
                      <a:round/>
                      <a:headEnd len="sm" w="sm" type="none"/>
                      <a:tailEnd len="sm" w="sm" type="none"/>
                    </a:lnT>
                    <a:lnB cap="flat" cmpd="sng" w="12675">
                      <a:solidFill>
                        <a:srgbClr val="FFFFFF"/>
                      </a:solidFill>
                      <a:prstDash val="solid"/>
                      <a:round/>
                      <a:headEnd len="sm" w="sm" type="none"/>
                      <a:tailEnd len="sm" w="sm" type="none"/>
                    </a:lnB>
                    <a:solidFill>
                      <a:srgbClr val="E6F0FF"/>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0" i="0" lang="es-MX" sz="1200" u="none" cap="none" strike="noStrike">
                          <a:solidFill>
                            <a:srgbClr val="000000"/>
                          </a:solidFill>
                          <a:latin typeface="Calibri"/>
                          <a:ea typeface="Calibri"/>
                          <a:cs typeface="Calibri"/>
                          <a:sym typeface="Calibri"/>
                        </a:rPr>
                        <a:t>Como Cliente, quiero ver fotos de los productos antes de comprar. HU06</a:t>
                      </a:r>
                      <a:endParaRPr sz="1200" u="none" cap="none" strike="noStrike"/>
                    </a:p>
                  </a:txBody>
                  <a:tcPr marT="19225" marB="19225" marR="38450" marL="38450">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12675">
                      <a:solidFill>
                        <a:srgbClr val="FFFFFF"/>
                      </a:solidFill>
                      <a:prstDash val="solid"/>
                      <a:round/>
                      <a:headEnd len="sm" w="sm" type="none"/>
                      <a:tailEnd len="sm" w="sm" type="none"/>
                    </a:lnT>
                    <a:lnB cap="flat" cmpd="sng" w="12675">
                      <a:solidFill>
                        <a:srgbClr val="FFFFFF"/>
                      </a:solidFill>
                      <a:prstDash val="solid"/>
                      <a:round/>
                      <a:headEnd len="sm" w="sm" type="none"/>
                      <a:tailEnd len="sm" w="sm" type="none"/>
                    </a:lnB>
                    <a:solidFill>
                      <a:srgbClr val="E6F0FF"/>
                    </a:solidFill>
                  </a:tcPr>
                </a:tc>
              </a:tr>
              <a:tr h="250700">
                <a:tc>
                  <a:txBody>
                    <a:bodyPr/>
                    <a:lstStyle/>
                    <a:p>
                      <a:pPr indent="0" lvl="0" marL="0" marR="0" rtl="0" algn="l">
                        <a:lnSpc>
                          <a:spcPct val="100000"/>
                        </a:lnSpc>
                        <a:spcBef>
                          <a:spcPts val="0"/>
                        </a:spcBef>
                        <a:spcAft>
                          <a:spcPts val="0"/>
                        </a:spcAft>
                        <a:buClr>
                          <a:srgbClr val="000000"/>
                        </a:buClr>
                        <a:buSzPts val="1200"/>
                        <a:buFont typeface="Arial"/>
                        <a:buNone/>
                      </a:pPr>
                      <a:r>
                        <a:rPr b="0" i="0" lang="es-MX" sz="1200" u="none" cap="none" strike="noStrike">
                          <a:solidFill>
                            <a:srgbClr val="000000"/>
                          </a:solidFill>
                          <a:latin typeface="Calibri"/>
                          <a:ea typeface="Calibri"/>
                          <a:cs typeface="Calibri"/>
                          <a:sym typeface="Calibri"/>
                        </a:rPr>
                        <a:t>Carrito de compras para añadir o quitar productos. RF07</a:t>
                      </a:r>
                      <a:endParaRPr sz="1200" u="none" cap="none" strike="noStrike"/>
                    </a:p>
                  </a:txBody>
                  <a:tcPr marT="19225" marB="19225" marR="38450" marL="38450">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12675">
                      <a:solidFill>
                        <a:srgbClr val="FFFFFF"/>
                      </a:solidFill>
                      <a:prstDash val="solid"/>
                      <a:round/>
                      <a:headEnd len="sm" w="sm" type="none"/>
                      <a:tailEnd len="sm" w="sm" type="none"/>
                    </a:lnT>
                    <a:lnB cap="flat" cmpd="sng" w="12675">
                      <a:solidFill>
                        <a:srgbClr val="FFFFFF"/>
                      </a:solidFill>
                      <a:prstDash val="solid"/>
                      <a:round/>
                      <a:headEnd len="sm" w="sm" type="none"/>
                      <a:tailEnd len="sm" w="sm" type="none"/>
                    </a:lnB>
                    <a:solidFill>
                      <a:srgbClr val="CFD7E7"/>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0" i="0" lang="es-MX" sz="1200" u="none" cap="none" strike="noStrike">
                          <a:solidFill>
                            <a:srgbClr val="000000"/>
                          </a:solidFill>
                          <a:latin typeface="Calibri"/>
                          <a:ea typeface="Calibri"/>
                          <a:cs typeface="Calibri"/>
                          <a:sym typeface="Calibri"/>
                        </a:rPr>
                        <a:t>Como Cliente, quiero gestionar mi carrito antes de confirmar la compra. HU07</a:t>
                      </a:r>
                      <a:endParaRPr sz="1200" u="none" cap="none" strike="noStrike"/>
                    </a:p>
                  </a:txBody>
                  <a:tcPr marT="19225" marB="19225" marR="38450" marL="38450">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12675">
                      <a:solidFill>
                        <a:srgbClr val="FFFFFF"/>
                      </a:solidFill>
                      <a:prstDash val="solid"/>
                      <a:round/>
                      <a:headEnd len="sm" w="sm" type="none"/>
                      <a:tailEnd len="sm" w="sm" type="none"/>
                    </a:lnT>
                    <a:lnB cap="flat" cmpd="sng" w="12675">
                      <a:solidFill>
                        <a:srgbClr val="FFFFFF"/>
                      </a:solidFill>
                      <a:prstDash val="solid"/>
                      <a:round/>
                      <a:headEnd len="sm" w="sm" type="none"/>
                      <a:tailEnd len="sm" w="sm" type="none"/>
                    </a:lnB>
                    <a:solidFill>
                      <a:srgbClr val="CFD7E7"/>
                    </a:solidFill>
                  </a:tcPr>
                </a:tc>
              </a:tr>
              <a:tr h="250700">
                <a:tc>
                  <a:txBody>
                    <a:bodyPr/>
                    <a:lstStyle/>
                    <a:p>
                      <a:pPr indent="0" lvl="0" marL="0" marR="0" rtl="0" algn="l">
                        <a:lnSpc>
                          <a:spcPct val="100000"/>
                        </a:lnSpc>
                        <a:spcBef>
                          <a:spcPts val="0"/>
                        </a:spcBef>
                        <a:spcAft>
                          <a:spcPts val="0"/>
                        </a:spcAft>
                        <a:buClr>
                          <a:srgbClr val="000000"/>
                        </a:buClr>
                        <a:buSzPts val="1200"/>
                        <a:buFont typeface="Arial"/>
                        <a:buNone/>
                      </a:pPr>
                      <a:r>
                        <a:rPr b="0" i="0" lang="es-MX" sz="1200" u="none" cap="none" strike="noStrike">
                          <a:solidFill>
                            <a:srgbClr val="000000"/>
                          </a:solidFill>
                          <a:latin typeface="Calibri"/>
                          <a:ea typeface="Calibri"/>
                          <a:cs typeface="Calibri"/>
                          <a:sym typeface="Calibri"/>
                        </a:rPr>
                        <a:t>Mostrar número o QR de Nequi para pagos. RF08</a:t>
                      </a:r>
                      <a:endParaRPr sz="1200" u="none" cap="none" strike="noStrike"/>
                    </a:p>
                  </a:txBody>
                  <a:tcPr marT="19225" marB="19225" marR="38450" marL="38450">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12675">
                      <a:solidFill>
                        <a:srgbClr val="FFFFFF"/>
                      </a:solidFill>
                      <a:prstDash val="solid"/>
                      <a:round/>
                      <a:headEnd len="sm" w="sm" type="none"/>
                      <a:tailEnd len="sm" w="sm" type="none"/>
                    </a:lnT>
                    <a:lnB cap="flat" cmpd="sng" w="12675">
                      <a:solidFill>
                        <a:srgbClr val="FFFFFF"/>
                      </a:solidFill>
                      <a:prstDash val="solid"/>
                      <a:round/>
                      <a:headEnd len="sm" w="sm" type="none"/>
                      <a:tailEnd len="sm" w="sm" type="none"/>
                    </a:lnB>
                    <a:solidFill>
                      <a:srgbClr val="E6F0FF"/>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0" i="0" lang="es-MX" sz="1200" u="none" cap="none" strike="noStrike">
                          <a:solidFill>
                            <a:srgbClr val="000000"/>
                          </a:solidFill>
                          <a:latin typeface="Calibri"/>
                          <a:ea typeface="Calibri"/>
                          <a:cs typeface="Calibri"/>
                          <a:sym typeface="Calibri"/>
                        </a:rPr>
                        <a:t>Como Cliente, quiero ver el QR o número de Nequi para pagar fácilmente. HU08</a:t>
                      </a:r>
                      <a:endParaRPr sz="1200" u="none" cap="none" strike="noStrike"/>
                    </a:p>
                  </a:txBody>
                  <a:tcPr marT="19225" marB="19225" marR="38450" marL="38450">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12675">
                      <a:solidFill>
                        <a:srgbClr val="FFFFFF"/>
                      </a:solidFill>
                      <a:prstDash val="solid"/>
                      <a:round/>
                      <a:headEnd len="sm" w="sm" type="none"/>
                      <a:tailEnd len="sm" w="sm" type="none"/>
                    </a:lnT>
                    <a:lnB cap="flat" cmpd="sng" w="12675">
                      <a:solidFill>
                        <a:srgbClr val="FFFFFF"/>
                      </a:solidFill>
                      <a:prstDash val="solid"/>
                      <a:round/>
                      <a:headEnd len="sm" w="sm" type="none"/>
                      <a:tailEnd len="sm" w="sm" type="none"/>
                    </a:lnB>
                    <a:solidFill>
                      <a:srgbClr val="E6F0FF"/>
                    </a:solidFill>
                  </a:tcPr>
                </a:tc>
              </a:tr>
              <a:tr h="250700">
                <a:tc>
                  <a:txBody>
                    <a:bodyPr/>
                    <a:lstStyle/>
                    <a:p>
                      <a:pPr indent="0" lvl="0" marL="0" marR="0" rtl="0" algn="l">
                        <a:lnSpc>
                          <a:spcPct val="100000"/>
                        </a:lnSpc>
                        <a:spcBef>
                          <a:spcPts val="0"/>
                        </a:spcBef>
                        <a:spcAft>
                          <a:spcPts val="0"/>
                        </a:spcAft>
                        <a:buClr>
                          <a:srgbClr val="000000"/>
                        </a:buClr>
                        <a:buSzPts val="1200"/>
                        <a:buFont typeface="Arial"/>
                        <a:buNone/>
                      </a:pPr>
                      <a:r>
                        <a:rPr b="0" i="0" lang="es-MX" sz="1200" u="none" cap="none" strike="noStrike">
                          <a:solidFill>
                            <a:srgbClr val="000000"/>
                          </a:solidFill>
                          <a:latin typeface="Calibri"/>
                          <a:ea typeface="Calibri"/>
                          <a:cs typeface="Calibri"/>
                          <a:sym typeface="Calibri"/>
                        </a:rPr>
                        <a:t>Formulario de datos de envío (dirección y teléfono). RF09</a:t>
                      </a:r>
                      <a:endParaRPr sz="1200" u="none" cap="none" strike="noStrike"/>
                    </a:p>
                  </a:txBody>
                  <a:tcPr marT="19225" marB="19225" marR="38450" marL="38450">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12675">
                      <a:solidFill>
                        <a:srgbClr val="FFFFFF"/>
                      </a:solidFill>
                      <a:prstDash val="solid"/>
                      <a:round/>
                      <a:headEnd len="sm" w="sm" type="none"/>
                      <a:tailEnd len="sm" w="sm" type="none"/>
                    </a:lnT>
                    <a:lnB cap="flat" cmpd="sng" w="12675">
                      <a:solidFill>
                        <a:srgbClr val="FFFFFF"/>
                      </a:solidFill>
                      <a:prstDash val="solid"/>
                      <a:round/>
                      <a:headEnd len="sm" w="sm" type="none"/>
                      <a:tailEnd len="sm" w="sm" type="none"/>
                    </a:lnB>
                    <a:solidFill>
                      <a:srgbClr val="CFD7E7"/>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0" i="0" lang="es-MX" sz="1200" u="none" cap="none" strike="noStrike">
                          <a:solidFill>
                            <a:srgbClr val="000000"/>
                          </a:solidFill>
                          <a:latin typeface="Calibri"/>
                          <a:ea typeface="Calibri"/>
                          <a:cs typeface="Calibri"/>
                          <a:sym typeface="Calibri"/>
                        </a:rPr>
                        <a:t>Como Cliente, quiero ingresar mis datos de envío para recibir el pedido. HU09</a:t>
                      </a:r>
                      <a:endParaRPr sz="1200" u="none" cap="none" strike="noStrike"/>
                    </a:p>
                  </a:txBody>
                  <a:tcPr marT="19225" marB="19225" marR="38450" marL="38450">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12675">
                      <a:solidFill>
                        <a:srgbClr val="FFFFFF"/>
                      </a:solidFill>
                      <a:prstDash val="solid"/>
                      <a:round/>
                      <a:headEnd len="sm" w="sm" type="none"/>
                      <a:tailEnd len="sm" w="sm" type="none"/>
                    </a:lnT>
                    <a:lnB cap="flat" cmpd="sng" w="12675">
                      <a:solidFill>
                        <a:srgbClr val="FFFFFF"/>
                      </a:solidFill>
                      <a:prstDash val="solid"/>
                      <a:round/>
                      <a:headEnd len="sm" w="sm" type="none"/>
                      <a:tailEnd len="sm" w="sm" type="none"/>
                    </a:lnB>
                    <a:solidFill>
                      <a:srgbClr val="CFD7E7"/>
                    </a:solidFill>
                  </a:tcPr>
                </a:tc>
              </a:tr>
              <a:tr h="250700">
                <a:tc>
                  <a:txBody>
                    <a:bodyPr/>
                    <a:lstStyle/>
                    <a:p>
                      <a:pPr indent="0" lvl="0" marL="0" marR="0" rtl="0" algn="l">
                        <a:lnSpc>
                          <a:spcPct val="100000"/>
                        </a:lnSpc>
                        <a:spcBef>
                          <a:spcPts val="0"/>
                        </a:spcBef>
                        <a:spcAft>
                          <a:spcPts val="0"/>
                        </a:spcAft>
                        <a:buClr>
                          <a:srgbClr val="000000"/>
                        </a:buClr>
                        <a:buSzPts val="1200"/>
                        <a:buFont typeface="Arial"/>
                        <a:buNone/>
                      </a:pPr>
                      <a:r>
                        <a:rPr b="0" i="0" lang="es-MX" sz="1200" u="none" cap="none" strike="noStrike">
                          <a:solidFill>
                            <a:srgbClr val="000000"/>
                          </a:solidFill>
                          <a:latin typeface="Calibri"/>
                          <a:ea typeface="Calibri"/>
                          <a:cs typeface="Calibri"/>
                          <a:sym typeface="Calibri"/>
                        </a:rPr>
                        <a:t>Pago por transferencia Nequi con comprobante. RF10</a:t>
                      </a:r>
                      <a:endParaRPr sz="1200" u="none" cap="none" strike="noStrike"/>
                    </a:p>
                  </a:txBody>
                  <a:tcPr marT="19225" marB="19225" marR="38450" marL="38450">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12675">
                      <a:solidFill>
                        <a:srgbClr val="FFFFFF"/>
                      </a:solidFill>
                      <a:prstDash val="solid"/>
                      <a:round/>
                      <a:headEnd len="sm" w="sm" type="none"/>
                      <a:tailEnd len="sm" w="sm" type="none"/>
                    </a:lnT>
                    <a:lnB cap="flat" cmpd="sng" w="12675">
                      <a:solidFill>
                        <a:srgbClr val="FFFFFF"/>
                      </a:solidFill>
                      <a:prstDash val="solid"/>
                      <a:round/>
                      <a:headEnd len="sm" w="sm" type="none"/>
                      <a:tailEnd len="sm" w="sm" type="none"/>
                    </a:lnB>
                    <a:solidFill>
                      <a:srgbClr val="E6F0FF"/>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0" i="0" lang="es-MX" sz="1200" u="none" cap="none" strike="noStrike">
                          <a:solidFill>
                            <a:srgbClr val="000000"/>
                          </a:solidFill>
                          <a:latin typeface="Calibri"/>
                          <a:ea typeface="Calibri"/>
                          <a:cs typeface="Calibri"/>
                          <a:sym typeface="Calibri"/>
                        </a:rPr>
                        <a:t>Como Cliente, quiero subir el comprobante de pago para confirmar mi compra. HU10</a:t>
                      </a:r>
                      <a:endParaRPr sz="1200" u="none" cap="none" strike="noStrike"/>
                    </a:p>
                  </a:txBody>
                  <a:tcPr marT="19225" marB="19225" marR="38450" marL="38450">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12675">
                      <a:solidFill>
                        <a:srgbClr val="FFFFFF"/>
                      </a:solidFill>
                      <a:prstDash val="solid"/>
                      <a:round/>
                      <a:headEnd len="sm" w="sm" type="none"/>
                      <a:tailEnd len="sm" w="sm" type="none"/>
                    </a:lnT>
                    <a:lnB cap="flat" cmpd="sng" w="12675">
                      <a:solidFill>
                        <a:srgbClr val="FFFFFF"/>
                      </a:solidFill>
                      <a:prstDash val="solid"/>
                      <a:round/>
                      <a:headEnd len="sm" w="sm" type="none"/>
                      <a:tailEnd len="sm" w="sm" type="none"/>
                    </a:lnB>
                    <a:solidFill>
                      <a:srgbClr val="E6F0FF"/>
                    </a:solidFill>
                  </a:tcPr>
                </a:tc>
              </a:tr>
              <a:tr h="154525">
                <a:tc>
                  <a:txBody>
                    <a:bodyPr/>
                    <a:lstStyle/>
                    <a:p>
                      <a:pPr indent="0" lvl="0" marL="0" marR="0" rtl="0" algn="l">
                        <a:lnSpc>
                          <a:spcPct val="100000"/>
                        </a:lnSpc>
                        <a:spcBef>
                          <a:spcPts val="0"/>
                        </a:spcBef>
                        <a:spcAft>
                          <a:spcPts val="0"/>
                        </a:spcAft>
                        <a:buClr>
                          <a:srgbClr val="000000"/>
                        </a:buClr>
                        <a:buSzPts val="1200"/>
                        <a:buFont typeface="Arial"/>
                        <a:buNone/>
                      </a:pPr>
                      <a:r>
                        <a:rPr b="0" i="0" lang="es-MX" sz="1200" u="none" cap="none" strike="noStrike">
                          <a:solidFill>
                            <a:srgbClr val="000000"/>
                          </a:solidFill>
                          <a:latin typeface="Calibri"/>
                          <a:ea typeface="Calibri"/>
                          <a:cs typeface="Calibri"/>
                          <a:sym typeface="Calibri"/>
                        </a:rPr>
                        <a:t>Opción de pago contra entrega. RF11</a:t>
                      </a:r>
                      <a:endParaRPr sz="1200" u="none" cap="none" strike="noStrike"/>
                    </a:p>
                  </a:txBody>
                  <a:tcPr marT="19225" marB="19225" marR="38450" marL="38450">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12675">
                      <a:solidFill>
                        <a:srgbClr val="FFFFFF"/>
                      </a:solidFill>
                      <a:prstDash val="solid"/>
                      <a:round/>
                      <a:headEnd len="sm" w="sm" type="none"/>
                      <a:tailEnd len="sm" w="sm" type="none"/>
                    </a:lnT>
                    <a:lnB cap="flat" cmpd="sng" w="12675">
                      <a:solidFill>
                        <a:srgbClr val="FFFFFF"/>
                      </a:solidFill>
                      <a:prstDash val="solid"/>
                      <a:round/>
                      <a:headEnd len="sm" w="sm" type="none"/>
                      <a:tailEnd len="sm" w="sm" type="none"/>
                    </a:lnB>
                    <a:solidFill>
                      <a:srgbClr val="CFD7E7"/>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0" i="0" lang="es-MX" sz="1200" u="none" cap="none" strike="noStrike">
                          <a:solidFill>
                            <a:srgbClr val="000000"/>
                          </a:solidFill>
                          <a:latin typeface="Calibri"/>
                          <a:ea typeface="Calibri"/>
                          <a:cs typeface="Calibri"/>
                          <a:sym typeface="Calibri"/>
                        </a:rPr>
                        <a:t>Como Cliente, quiero pagar al recibir el pedido. HU11</a:t>
                      </a:r>
                      <a:endParaRPr sz="1200" u="none" cap="none" strike="noStrike"/>
                    </a:p>
                  </a:txBody>
                  <a:tcPr marT="19225" marB="19225" marR="38450" marL="38450">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12675">
                      <a:solidFill>
                        <a:srgbClr val="FFFFFF"/>
                      </a:solidFill>
                      <a:prstDash val="solid"/>
                      <a:round/>
                      <a:headEnd len="sm" w="sm" type="none"/>
                      <a:tailEnd len="sm" w="sm" type="none"/>
                    </a:lnT>
                    <a:lnB cap="flat" cmpd="sng" w="12675">
                      <a:solidFill>
                        <a:srgbClr val="FFFFFF"/>
                      </a:solidFill>
                      <a:prstDash val="solid"/>
                      <a:round/>
                      <a:headEnd len="sm" w="sm" type="none"/>
                      <a:tailEnd len="sm" w="sm" type="none"/>
                    </a:lnB>
                    <a:solidFill>
                      <a:srgbClr val="CFD7E7"/>
                    </a:solidFill>
                  </a:tcPr>
                </a:tc>
              </a:tr>
              <a:tr h="250700">
                <a:tc>
                  <a:txBody>
                    <a:bodyPr/>
                    <a:lstStyle/>
                    <a:p>
                      <a:pPr indent="0" lvl="0" marL="0" marR="0" rtl="0" algn="l">
                        <a:lnSpc>
                          <a:spcPct val="100000"/>
                        </a:lnSpc>
                        <a:spcBef>
                          <a:spcPts val="0"/>
                        </a:spcBef>
                        <a:spcAft>
                          <a:spcPts val="0"/>
                        </a:spcAft>
                        <a:buClr>
                          <a:srgbClr val="000000"/>
                        </a:buClr>
                        <a:buSzPts val="1200"/>
                        <a:buFont typeface="Arial"/>
                        <a:buNone/>
                      </a:pPr>
                      <a:r>
                        <a:rPr b="0" i="0" lang="es-MX" sz="1200" u="none" cap="none" strike="noStrike">
                          <a:solidFill>
                            <a:srgbClr val="000000"/>
                          </a:solidFill>
                          <a:latin typeface="Calibri"/>
                          <a:ea typeface="Calibri"/>
                          <a:cs typeface="Calibri"/>
                          <a:sym typeface="Calibri"/>
                        </a:rPr>
                        <a:t>Alertas de inventario cuando el stock sea mínimo. RF12</a:t>
                      </a:r>
                      <a:endParaRPr sz="1200" u="none" cap="none" strike="noStrike"/>
                    </a:p>
                  </a:txBody>
                  <a:tcPr marT="19225" marB="19225" marR="38450" marL="38450">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12675">
                      <a:solidFill>
                        <a:srgbClr val="FFFFFF"/>
                      </a:solidFill>
                      <a:prstDash val="solid"/>
                      <a:round/>
                      <a:headEnd len="sm" w="sm" type="none"/>
                      <a:tailEnd len="sm" w="sm" type="none"/>
                    </a:lnT>
                    <a:lnB cap="flat" cmpd="sng" w="12675">
                      <a:solidFill>
                        <a:srgbClr val="FFFFFF"/>
                      </a:solidFill>
                      <a:prstDash val="solid"/>
                      <a:round/>
                      <a:headEnd len="sm" w="sm" type="none"/>
                      <a:tailEnd len="sm" w="sm" type="none"/>
                    </a:lnB>
                    <a:solidFill>
                      <a:srgbClr val="E6F0FF"/>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0" i="0" lang="es-MX" sz="1200" u="none" cap="none" strike="noStrike">
                          <a:solidFill>
                            <a:srgbClr val="000000"/>
                          </a:solidFill>
                          <a:latin typeface="Calibri"/>
                          <a:ea typeface="Calibri"/>
                          <a:cs typeface="Calibri"/>
                          <a:sym typeface="Calibri"/>
                        </a:rPr>
                        <a:t>Como Admin, quiero recibir alertas de bajo stock para reponer productos. HU12</a:t>
                      </a:r>
                      <a:endParaRPr sz="1200" u="none" cap="none" strike="noStrike"/>
                    </a:p>
                  </a:txBody>
                  <a:tcPr marT="19225" marB="19225" marR="38450" marL="38450">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12675">
                      <a:solidFill>
                        <a:srgbClr val="FFFFFF"/>
                      </a:solidFill>
                      <a:prstDash val="solid"/>
                      <a:round/>
                      <a:headEnd len="sm" w="sm" type="none"/>
                      <a:tailEnd len="sm" w="sm" type="none"/>
                    </a:lnT>
                    <a:lnB cap="flat" cmpd="sng" w="12675">
                      <a:solidFill>
                        <a:srgbClr val="FFFFFF"/>
                      </a:solidFill>
                      <a:prstDash val="solid"/>
                      <a:round/>
                      <a:headEnd len="sm" w="sm" type="none"/>
                      <a:tailEnd len="sm" w="sm" type="none"/>
                    </a:lnB>
                    <a:solidFill>
                      <a:srgbClr val="E6F0FF"/>
                    </a:solidFill>
                  </a:tcPr>
                </a:tc>
              </a:tr>
              <a:tr h="250700">
                <a:tc>
                  <a:txBody>
                    <a:bodyPr/>
                    <a:lstStyle/>
                    <a:p>
                      <a:pPr indent="0" lvl="0" marL="0" marR="0" rtl="0" algn="l">
                        <a:lnSpc>
                          <a:spcPct val="100000"/>
                        </a:lnSpc>
                        <a:spcBef>
                          <a:spcPts val="0"/>
                        </a:spcBef>
                        <a:spcAft>
                          <a:spcPts val="0"/>
                        </a:spcAft>
                        <a:buClr>
                          <a:srgbClr val="000000"/>
                        </a:buClr>
                        <a:buSzPts val="1200"/>
                        <a:buFont typeface="Arial"/>
                        <a:buNone/>
                      </a:pPr>
                      <a:r>
                        <a:rPr b="0" i="0" lang="es-MX" sz="1200" u="none" cap="none" strike="noStrike">
                          <a:solidFill>
                            <a:srgbClr val="000000"/>
                          </a:solidFill>
                          <a:latin typeface="Calibri"/>
                          <a:ea typeface="Calibri"/>
                          <a:cs typeface="Calibri"/>
                          <a:sym typeface="Calibri"/>
                        </a:rPr>
                        <a:t>Sistema de reseñas y calificación con estrellas. RF13</a:t>
                      </a:r>
                      <a:endParaRPr sz="1200" u="none" cap="none" strike="noStrike"/>
                    </a:p>
                  </a:txBody>
                  <a:tcPr marT="19225" marB="19225" marR="38450" marL="38450">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12675">
                      <a:solidFill>
                        <a:srgbClr val="FFFFFF"/>
                      </a:solidFill>
                      <a:prstDash val="solid"/>
                      <a:round/>
                      <a:headEnd len="sm" w="sm" type="none"/>
                      <a:tailEnd len="sm" w="sm" type="none"/>
                    </a:lnT>
                    <a:lnB cap="flat" cmpd="sng" w="12675">
                      <a:solidFill>
                        <a:srgbClr val="FFFFFF"/>
                      </a:solidFill>
                      <a:prstDash val="solid"/>
                      <a:round/>
                      <a:headEnd len="sm" w="sm" type="none"/>
                      <a:tailEnd len="sm" w="sm" type="none"/>
                    </a:lnB>
                    <a:solidFill>
                      <a:srgbClr val="CFD7E7"/>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0" i="0" lang="es-MX" sz="1200" u="none" cap="none" strike="noStrike">
                          <a:solidFill>
                            <a:srgbClr val="000000"/>
                          </a:solidFill>
                          <a:latin typeface="Calibri"/>
                          <a:ea typeface="Calibri"/>
                          <a:cs typeface="Calibri"/>
                          <a:sym typeface="Calibri"/>
                        </a:rPr>
                        <a:t>Como Cliente, quiero calificar productos y dejar reseñas.HU13</a:t>
                      </a:r>
                      <a:endParaRPr sz="1200" u="none" cap="none" strike="noStrike"/>
                    </a:p>
                  </a:txBody>
                  <a:tcPr marT="19225" marB="19225" marR="38450" marL="38450">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12675">
                      <a:solidFill>
                        <a:srgbClr val="FFFFFF"/>
                      </a:solidFill>
                      <a:prstDash val="solid"/>
                      <a:round/>
                      <a:headEnd len="sm" w="sm" type="none"/>
                      <a:tailEnd len="sm" w="sm" type="none"/>
                    </a:lnT>
                    <a:lnB cap="flat" cmpd="sng" w="12675">
                      <a:solidFill>
                        <a:srgbClr val="FFFFFF"/>
                      </a:solidFill>
                      <a:prstDash val="solid"/>
                      <a:round/>
                      <a:headEnd len="sm" w="sm" type="none"/>
                      <a:tailEnd len="sm" w="sm" type="none"/>
                    </a:lnB>
                    <a:solidFill>
                      <a:srgbClr val="CFD7E7"/>
                    </a:solidFill>
                  </a:tcPr>
                </a:tc>
              </a:tr>
              <a:tr h="250700">
                <a:tc>
                  <a:txBody>
                    <a:bodyPr/>
                    <a:lstStyle/>
                    <a:p>
                      <a:pPr indent="0" lvl="0" marL="0" marR="0" rtl="0" algn="l">
                        <a:lnSpc>
                          <a:spcPct val="100000"/>
                        </a:lnSpc>
                        <a:spcBef>
                          <a:spcPts val="0"/>
                        </a:spcBef>
                        <a:spcAft>
                          <a:spcPts val="0"/>
                        </a:spcAft>
                        <a:buClr>
                          <a:srgbClr val="000000"/>
                        </a:buClr>
                        <a:buSzPts val="1200"/>
                        <a:buFont typeface="Arial"/>
                        <a:buNone/>
                      </a:pPr>
                      <a:r>
                        <a:rPr b="0" i="0" lang="es-MX" sz="1200" u="none" cap="none" strike="noStrike">
                          <a:solidFill>
                            <a:srgbClr val="000000"/>
                          </a:solidFill>
                          <a:latin typeface="Calibri"/>
                          <a:ea typeface="Calibri"/>
                          <a:cs typeface="Calibri"/>
                          <a:sym typeface="Calibri"/>
                        </a:rPr>
                        <a:t>Generación de comprobantes de venta digitales. RF14</a:t>
                      </a:r>
                      <a:endParaRPr sz="1200" u="none" cap="none" strike="noStrike"/>
                    </a:p>
                  </a:txBody>
                  <a:tcPr marT="19225" marB="19225" marR="38450" marL="38450">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12675">
                      <a:solidFill>
                        <a:srgbClr val="FFFFFF"/>
                      </a:solidFill>
                      <a:prstDash val="solid"/>
                      <a:round/>
                      <a:headEnd len="sm" w="sm" type="none"/>
                      <a:tailEnd len="sm" w="sm" type="none"/>
                    </a:lnT>
                    <a:lnB cap="flat" cmpd="sng" w="12675">
                      <a:solidFill>
                        <a:srgbClr val="FFFFFF"/>
                      </a:solidFill>
                      <a:prstDash val="solid"/>
                      <a:round/>
                      <a:headEnd len="sm" w="sm" type="none"/>
                      <a:tailEnd len="sm" w="sm" type="none"/>
                    </a:lnB>
                    <a:solidFill>
                      <a:srgbClr val="E6F0FF"/>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0" i="0" lang="es-MX" sz="1200" u="none" cap="none" strike="noStrike">
                          <a:solidFill>
                            <a:srgbClr val="000000"/>
                          </a:solidFill>
                          <a:latin typeface="Calibri"/>
                          <a:ea typeface="Calibri"/>
                          <a:cs typeface="Calibri"/>
                          <a:sym typeface="Calibri"/>
                        </a:rPr>
                        <a:t>Como Cliente, quiero descargar un comprobante de mi compra. HU14</a:t>
                      </a:r>
                      <a:endParaRPr sz="1200" u="none" cap="none" strike="noStrike"/>
                    </a:p>
                  </a:txBody>
                  <a:tcPr marT="19225" marB="19225" marR="38450" marL="38450">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12675">
                      <a:solidFill>
                        <a:srgbClr val="FFFFFF"/>
                      </a:solidFill>
                      <a:prstDash val="solid"/>
                      <a:round/>
                      <a:headEnd len="sm" w="sm" type="none"/>
                      <a:tailEnd len="sm" w="sm" type="none"/>
                    </a:lnT>
                    <a:lnB cap="flat" cmpd="sng" w="12675">
                      <a:solidFill>
                        <a:srgbClr val="FFFFFF"/>
                      </a:solidFill>
                      <a:prstDash val="solid"/>
                      <a:round/>
                      <a:headEnd len="sm" w="sm" type="none"/>
                      <a:tailEnd len="sm" w="sm" type="none"/>
                    </a:lnB>
                    <a:solidFill>
                      <a:srgbClr val="E6F0FF"/>
                    </a:solidFill>
                  </a:tcPr>
                </a:tc>
              </a:tr>
              <a:tr h="250700">
                <a:tc>
                  <a:txBody>
                    <a:bodyPr/>
                    <a:lstStyle/>
                    <a:p>
                      <a:pPr indent="0" lvl="0" marL="0" marR="0" rtl="0" algn="l">
                        <a:lnSpc>
                          <a:spcPct val="100000"/>
                        </a:lnSpc>
                        <a:spcBef>
                          <a:spcPts val="0"/>
                        </a:spcBef>
                        <a:spcAft>
                          <a:spcPts val="0"/>
                        </a:spcAft>
                        <a:buClr>
                          <a:srgbClr val="000000"/>
                        </a:buClr>
                        <a:buSzPts val="1200"/>
                        <a:buFont typeface="Arial"/>
                        <a:buNone/>
                      </a:pPr>
                      <a:r>
                        <a:rPr b="0" i="0" lang="es-MX" sz="1200" u="none" cap="none" strike="noStrike">
                          <a:solidFill>
                            <a:srgbClr val="000000"/>
                          </a:solidFill>
                          <a:latin typeface="Calibri"/>
                          <a:ea typeface="Calibri"/>
                          <a:cs typeface="Calibri"/>
                          <a:sym typeface="Calibri"/>
                        </a:rPr>
                        <a:t>Cancelación de pedidos antes del envío. RF15</a:t>
                      </a:r>
                      <a:endParaRPr sz="1200" u="none" cap="none" strike="noStrike"/>
                    </a:p>
                  </a:txBody>
                  <a:tcPr marT="19225" marB="19225" marR="38450" marL="38450">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12675">
                      <a:solidFill>
                        <a:srgbClr val="FFFFFF"/>
                      </a:solidFill>
                      <a:prstDash val="solid"/>
                      <a:round/>
                      <a:headEnd len="sm" w="sm" type="none"/>
                      <a:tailEnd len="sm" w="sm" type="none"/>
                    </a:lnT>
                    <a:lnB cap="flat" cmpd="sng" w="12675">
                      <a:solidFill>
                        <a:srgbClr val="FFFFFF"/>
                      </a:solidFill>
                      <a:prstDash val="solid"/>
                      <a:round/>
                      <a:headEnd len="sm" w="sm" type="none"/>
                      <a:tailEnd len="sm" w="sm" type="none"/>
                    </a:lnB>
                    <a:solidFill>
                      <a:srgbClr val="CFD7E7"/>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0" i="0" lang="es-MX" sz="1200" u="none" cap="none" strike="noStrike">
                          <a:solidFill>
                            <a:srgbClr val="000000"/>
                          </a:solidFill>
                          <a:latin typeface="Calibri"/>
                          <a:ea typeface="Calibri"/>
                          <a:cs typeface="Calibri"/>
                          <a:sym typeface="Calibri"/>
                        </a:rPr>
                        <a:t>Como Cliente, quiero cancelar un pedido antes de que sea enviado. HU15</a:t>
                      </a:r>
                      <a:endParaRPr sz="1200" u="none" cap="none" strike="noStrike"/>
                    </a:p>
                  </a:txBody>
                  <a:tcPr marT="19225" marB="19225" marR="38450" marL="38450">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12675">
                      <a:solidFill>
                        <a:srgbClr val="FFFFFF"/>
                      </a:solidFill>
                      <a:prstDash val="solid"/>
                      <a:round/>
                      <a:headEnd len="sm" w="sm" type="none"/>
                      <a:tailEnd len="sm" w="sm" type="none"/>
                    </a:lnT>
                    <a:lnB cap="flat" cmpd="sng" w="12675">
                      <a:solidFill>
                        <a:srgbClr val="FFFFFF"/>
                      </a:solidFill>
                      <a:prstDash val="solid"/>
                      <a:round/>
                      <a:headEnd len="sm" w="sm" type="none"/>
                      <a:tailEnd len="sm" w="sm" type="none"/>
                    </a:lnB>
                    <a:solidFill>
                      <a:srgbClr val="CFD7E7"/>
                    </a:solidFill>
                  </a:tcPr>
                </a:tc>
              </a:tr>
              <a:tr h="250700">
                <a:tc>
                  <a:txBody>
                    <a:bodyPr/>
                    <a:lstStyle/>
                    <a:p>
                      <a:pPr indent="0" lvl="0" marL="0" marR="0" rtl="0" algn="l">
                        <a:lnSpc>
                          <a:spcPct val="100000"/>
                        </a:lnSpc>
                        <a:spcBef>
                          <a:spcPts val="0"/>
                        </a:spcBef>
                        <a:spcAft>
                          <a:spcPts val="0"/>
                        </a:spcAft>
                        <a:buClr>
                          <a:srgbClr val="000000"/>
                        </a:buClr>
                        <a:buSzPts val="1200"/>
                        <a:buFont typeface="Arial"/>
                        <a:buNone/>
                      </a:pPr>
                      <a:r>
                        <a:rPr b="0" i="0" lang="es-MX" sz="1200" u="none" cap="none" strike="noStrike">
                          <a:solidFill>
                            <a:srgbClr val="000000"/>
                          </a:solidFill>
                          <a:latin typeface="Calibri"/>
                          <a:ea typeface="Calibri"/>
                          <a:cs typeface="Calibri"/>
                          <a:sym typeface="Calibri"/>
                        </a:rPr>
                        <a:t>Reportes diarios de ventas exportables a PDF. RF16</a:t>
                      </a:r>
                      <a:endParaRPr sz="1200" u="none" cap="none" strike="noStrike"/>
                    </a:p>
                  </a:txBody>
                  <a:tcPr marT="19225" marB="19225" marR="38450" marL="38450">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12675">
                      <a:solidFill>
                        <a:srgbClr val="FFFFFF"/>
                      </a:solidFill>
                      <a:prstDash val="solid"/>
                      <a:round/>
                      <a:headEnd len="sm" w="sm" type="none"/>
                      <a:tailEnd len="sm" w="sm" type="none"/>
                    </a:lnT>
                    <a:lnB cap="flat" cmpd="sng" w="12675">
                      <a:solidFill>
                        <a:srgbClr val="FFFFFF"/>
                      </a:solidFill>
                      <a:prstDash val="solid"/>
                      <a:round/>
                      <a:headEnd len="sm" w="sm" type="none"/>
                      <a:tailEnd len="sm" w="sm" type="none"/>
                    </a:lnB>
                    <a:solidFill>
                      <a:srgbClr val="E6F0FF"/>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0" i="0" lang="es-MX" sz="1200" u="none" cap="none" strike="noStrike">
                          <a:solidFill>
                            <a:srgbClr val="000000"/>
                          </a:solidFill>
                          <a:latin typeface="Calibri"/>
                          <a:ea typeface="Calibri"/>
                          <a:cs typeface="Calibri"/>
                          <a:sym typeface="Calibri"/>
                        </a:rPr>
                        <a:t>Como Dueño, quiero generar reportes diarios de ventas en PDF. HU16</a:t>
                      </a:r>
                      <a:endParaRPr sz="1200" u="none" cap="none" strike="noStrike"/>
                    </a:p>
                  </a:txBody>
                  <a:tcPr marT="19225" marB="19225" marR="38450" marL="38450">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12675">
                      <a:solidFill>
                        <a:srgbClr val="FFFFFF"/>
                      </a:solidFill>
                      <a:prstDash val="solid"/>
                      <a:round/>
                      <a:headEnd len="sm" w="sm" type="none"/>
                      <a:tailEnd len="sm" w="sm" type="none"/>
                    </a:lnT>
                    <a:lnB cap="flat" cmpd="sng" w="12675">
                      <a:solidFill>
                        <a:srgbClr val="FFFFFF"/>
                      </a:solidFill>
                      <a:prstDash val="solid"/>
                      <a:round/>
                      <a:headEnd len="sm" w="sm" type="none"/>
                      <a:tailEnd len="sm" w="sm" type="none"/>
                    </a:lnB>
                    <a:solidFill>
                      <a:srgbClr val="E6F0FF"/>
                    </a:solidFill>
                  </a:tcPr>
                </a:tc>
              </a:tr>
              <a:tr h="250700">
                <a:tc>
                  <a:txBody>
                    <a:bodyPr/>
                    <a:lstStyle/>
                    <a:p>
                      <a:pPr indent="0" lvl="0" marL="0" marR="0" rtl="0" algn="l">
                        <a:lnSpc>
                          <a:spcPct val="100000"/>
                        </a:lnSpc>
                        <a:spcBef>
                          <a:spcPts val="0"/>
                        </a:spcBef>
                        <a:spcAft>
                          <a:spcPts val="0"/>
                        </a:spcAft>
                        <a:buClr>
                          <a:srgbClr val="000000"/>
                        </a:buClr>
                        <a:buSzPts val="1200"/>
                        <a:buFont typeface="Arial"/>
                        <a:buNone/>
                      </a:pPr>
                      <a:r>
                        <a:rPr b="0" i="0" lang="es-MX" sz="1200" u="none" cap="none" strike="noStrike">
                          <a:solidFill>
                            <a:srgbClr val="000000"/>
                          </a:solidFill>
                          <a:latin typeface="Calibri"/>
                          <a:ea typeface="Calibri"/>
                          <a:cs typeface="Calibri"/>
                          <a:sym typeface="Calibri"/>
                        </a:rPr>
                        <a:t>Reporte mensual de utilidades.RF17</a:t>
                      </a:r>
                      <a:endParaRPr sz="1200" u="none" cap="none" strike="noStrike"/>
                    </a:p>
                  </a:txBody>
                  <a:tcPr marT="19225" marB="19225" marR="38450" marL="38450">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12675">
                      <a:solidFill>
                        <a:srgbClr val="FFFFFF"/>
                      </a:solidFill>
                      <a:prstDash val="solid"/>
                      <a:round/>
                      <a:headEnd len="sm" w="sm" type="none"/>
                      <a:tailEnd len="sm" w="sm" type="none"/>
                    </a:lnT>
                    <a:lnB cap="flat" cmpd="sng" w="12675">
                      <a:solidFill>
                        <a:srgbClr val="FFFFFF"/>
                      </a:solidFill>
                      <a:prstDash val="solid"/>
                      <a:round/>
                      <a:headEnd len="sm" w="sm" type="none"/>
                      <a:tailEnd len="sm" w="sm" type="none"/>
                    </a:lnB>
                    <a:solidFill>
                      <a:srgbClr val="CFD7E7"/>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0" i="0" lang="es-MX" sz="1200" u="none" cap="none" strike="noStrike">
                          <a:solidFill>
                            <a:srgbClr val="000000"/>
                          </a:solidFill>
                          <a:latin typeface="Calibri"/>
                          <a:ea typeface="Calibri"/>
                          <a:cs typeface="Calibri"/>
                          <a:sym typeface="Calibri"/>
                        </a:rPr>
                        <a:t>Como Dueño, quiero ver las ganancias mensuales del negocio. HU17</a:t>
                      </a:r>
                      <a:endParaRPr sz="1200" u="none" cap="none" strike="noStrike"/>
                    </a:p>
                  </a:txBody>
                  <a:tcPr marT="19225" marB="19225" marR="38450" marL="38450">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12675">
                      <a:solidFill>
                        <a:srgbClr val="FFFFFF"/>
                      </a:solidFill>
                      <a:prstDash val="solid"/>
                      <a:round/>
                      <a:headEnd len="sm" w="sm" type="none"/>
                      <a:tailEnd len="sm" w="sm" type="none"/>
                    </a:lnT>
                    <a:lnB cap="flat" cmpd="sng" w="12675">
                      <a:solidFill>
                        <a:srgbClr val="FFFFFF"/>
                      </a:solidFill>
                      <a:prstDash val="solid"/>
                      <a:round/>
                      <a:headEnd len="sm" w="sm" type="none"/>
                      <a:tailEnd len="sm" w="sm" type="none"/>
                    </a:lnB>
                    <a:solidFill>
                      <a:srgbClr val="CFD7E7"/>
                    </a:solidFill>
                  </a:tcPr>
                </a:tc>
              </a:tr>
              <a:tr h="250700">
                <a:tc>
                  <a:txBody>
                    <a:bodyPr/>
                    <a:lstStyle/>
                    <a:p>
                      <a:pPr indent="0" lvl="0" marL="0" marR="0" rtl="0" algn="l">
                        <a:lnSpc>
                          <a:spcPct val="100000"/>
                        </a:lnSpc>
                        <a:spcBef>
                          <a:spcPts val="0"/>
                        </a:spcBef>
                        <a:spcAft>
                          <a:spcPts val="0"/>
                        </a:spcAft>
                        <a:buClr>
                          <a:srgbClr val="000000"/>
                        </a:buClr>
                        <a:buSzPts val="1200"/>
                        <a:buFont typeface="Arial"/>
                        <a:buNone/>
                      </a:pPr>
                      <a:r>
                        <a:rPr b="0" i="0" lang="es-MX" sz="1200" u="none" cap="none" strike="noStrike">
                          <a:solidFill>
                            <a:srgbClr val="000000"/>
                          </a:solidFill>
                          <a:latin typeface="Calibri"/>
                          <a:ea typeface="Calibri"/>
                          <a:cs typeface="Calibri"/>
                          <a:sym typeface="Calibri"/>
                        </a:rPr>
                        <a:t>Creación de cupones de descuento. RF18</a:t>
                      </a:r>
                      <a:endParaRPr sz="1200" u="none" cap="none" strike="noStrike"/>
                    </a:p>
                  </a:txBody>
                  <a:tcPr marT="19225" marB="19225" marR="38450" marL="38450">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12675">
                      <a:solidFill>
                        <a:srgbClr val="FFFFFF"/>
                      </a:solidFill>
                      <a:prstDash val="solid"/>
                      <a:round/>
                      <a:headEnd len="sm" w="sm" type="none"/>
                      <a:tailEnd len="sm" w="sm" type="none"/>
                    </a:lnT>
                    <a:lnB cap="flat" cmpd="sng" w="12675">
                      <a:solidFill>
                        <a:srgbClr val="FFFFFF"/>
                      </a:solidFill>
                      <a:prstDash val="solid"/>
                      <a:round/>
                      <a:headEnd len="sm" w="sm" type="none"/>
                      <a:tailEnd len="sm" w="sm" type="none"/>
                    </a:lnB>
                    <a:solidFill>
                      <a:srgbClr val="E6F0FF"/>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0" i="0" lang="es-MX" sz="1200" u="none" cap="none" strike="noStrike">
                          <a:solidFill>
                            <a:srgbClr val="000000"/>
                          </a:solidFill>
                          <a:latin typeface="Calibri"/>
                          <a:ea typeface="Calibri"/>
                          <a:cs typeface="Calibri"/>
                          <a:sym typeface="Calibri"/>
                        </a:rPr>
                        <a:t>Como Admin, quiero crear cupones para promociones. HU18</a:t>
                      </a:r>
                      <a:endParaRPr sz="1200" u="none" cap="none" strike="noStrike"/>
                    </a:p>
                  </a:txBody>
                  <a:tcPr marT="19225" marB="19225" marR="38450" marL="38450">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12675">
                      <a:solidFill>
                        <a:srgbClr val="FFFFFF"/>
                      </a:solidFill>
                      <a:prstDash val="solid"/>
                      <a:round/>
                      <a:headEnd len="sm" w="sm" type="none"/>
                      <a:tailEnd len="sm" w="sm" type="none"/>
                    </a:lnT>
                    <a:lnB cap="flat" cmpd="sng" w="12675">
                      <a:solidFill>
                        <a:srgbClr val="FFFFFF"/>
                      </a:solidFill>
                      <a:prstDash val="solid"/>
                      <a:round/>
                      <a:headEnd len="sm" w="sm" type="none"/>
                      <a:tailEnd len="sm" w="sm" type="none"/>
                    </a:lnB>
                    <a:solidFill>
                      <a:srgbClr val="E6F0FF"/>
                    </a:solidFill>
                  </a:tcPr>
                </a:tc>
              </a:tr>
              <a:tr h="250700">
                <a:tc>
                  <a:txBody>
                    <a:bodyPr/>
                    <a:lstStyle/>
                    <a:p>
                      <a:pPr indent="0" lvl="0" marL="0" marR="0" rtl="0" algn="l">
                        <a:lnSpc>
                          <a:spcPct val="100000"/>
                        </a:lnSpc>
                        <a:spcBef>
                          <a:spcPts val="0"/>
                        </a:spcBef>
                        <a:spcAft>
                          <a:spcPts val="0"/>
                        </a:spcAft>
                        <a:buClr>
                          <a:srgbClr val="000000"/>
                        </a:buClr>
                        <a:buSzPts val="1200"/>
                        <a:buFont typeface="Arial"/>
                        <a:buNone/>
                      </a:pPr>
                      <a:r>
                        <a:rPr b="0" i="0" lang="es-MX" sz="1200" u="none" cap="none" strike="noStrike">
                          <a:solidFill>
                            <a:srgbClr val="000000"/>
                          </a:solidFill>
                          <a:latin typeface="Calibri"/>
                          <a:ea typeface="Calibri"/>
                          <a:cs typeface="Calibri"/>
                          <a:sym typeface="Calibri"/>
                        </a:rPr>
                        <a:t>Historial de compras del cliente. RF19</a:t>
                      </a:r>
                      <a:endParaRPr sz="1200" u="none" cap="none" strike="noStrike"/>
                    </a:p>
                  </a:txBody>
                  <a:tcPr marT="19225" marB="19225" marR="38450" marL="38450">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12675">
                      <a:solidFill>
                        <a:srgbClr val="FFFFFF"/>
                      </a:solidFill>
                      <a:prstDash val="solid"/>
                      <a:round/>
                      <a:headEnd len="sm" w="sm" type="none"/>
                      <a:tailEnd len="sm" w="sm" type="none"/>
                    </a:lnT>
                    <a:lnB cap="flat" cmpd="sng" w="12675">
                      <a:solidFill>
                        <a:srgbClr val="FFFFFF"/>
                      </a:solidFill>
                      <a:prstDash val="solid"/>
                      <a:round/>
                      <a:headEnd len="sm" w="sm" type="none"/>
                      <a:tailEnd len="sm" w="sm" type="none"/>
                    </a:lnB>
                    <a:solidFill>
                      <a:srgbClr val="CFD7E7"/>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0" i="0" lang="es-MX" sz="1200" u="none" cap="none" strike="noStrike">
                          <a:solidFill>
                            <a:srgbClr val="000000"/>
                          </a:solidFill>
                          <a:latin typeface="Calibri"/>
                          <a:ea typeface="Calibri"/>
                          <a:cs typeface="Calibri"/>
                          <a:sym typeface="Calibri"/>
                        </a:rPr>
                        <a:t>Como Cliente, quiero ver mis pedidos anteriores. HU19</a:t>
                      </a:r>
                      <a:endParaRPr sz="1200" u="none" cap="none" strike="noStrike"/>
                    </a:p>
                  </a:txBody>
                  <a:tcPr marT="19225" marB="19225" marR="38450" marL="38450">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12675">
                      <a:solidFill>
                        <a:srgbClr val="FFFFFF"/>
                      </a:solidFill>
                      <a:prstDash val="solid"/>
                      <a:round/>
                      <a:headEnd len="sm" w="sm" type="none"/>
                      <a:tailEnd len="sm" w="sm" type="none"/>
                    </a:lnT>
                    <a:lnB cap="flat" cmpd="sng" w="12675">
                      <a:solidFill>
                        <a:srgbClr val="FFFFFF"/>
                      </a:solidFill>
                      <a:prstDash val="solid"/>
                      <a:round/>
                      <a:headEnd len="sm" w="sm" type="none"/>
                      <a:tailEnd len="sm" w="sm" type="none"/>
                    </a:lnB>
                    <a:solidFill>
                      <a:srgbClr val="CFD7E7"/>
                    </a:solidFill>
                  </a:tcPr>
                </a:tc>
              </a:tr>
              <a:tr h="250700">
                <a:tc>
                  <a:txBody>
                    <a:bodyPr/>
                    <a:lstStyle/>
                    <a:p>
                      <a:pPr indent="0" lvl="0" marL="0" marR="0" rtl="0" algn="l">
                        <a:lnSpc>
                          <a:spcPct val="100000"/>
                        </a:lnSpc>
                        <a:spcBef>
                          <a:spcPts val="0"/>
                        </a:spcBef>
                        <a:spcAft>
                          <a:spcPts val="0"/>
                        </a:spcAft>
                        <a:buClr>
                          <a:srgbClr val="000000"/>
                        </a:buClr>
                        <a:buSzPts val="1200"/>
                        <a:buFont typeface="Arial"/>
                        <a:buNone/>
                      </a:pPr>
                      <a:r>
                        <a:rPr b="0" i="0" lang="es-MX" sz="1200" u="none" cap="none" strike="noStrike">
                          <a:solidFill>
                            <a:srgbClr val="000000"/>
                          </a:solidFill>
                          <a:latin typeface="Calibri"/>
                          <a:ea typeface="Calibri"/>
                          <a:cs typeface="Calibri"/>
                          <a:sym typeface="Calibri"/>
                        </a:rPr>
                        <a:t>Gestión de usuarios y roles (admin/cliente). RF20</a:t>
                      </a:r>
                      <a:endParaRPr sz="1200" u="none" cap="none" strike="noStrike"/>
                    </a:p>
                  </a:txBody>
                  <a:tcPr marT="19225" marB="19225" marR="38450" marL="38450">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12675">
                      <a:solidFill>
                        <a:srgbClr val="FFFFFF"/>
                      </a:solidFill>
                      <a:prstDash val="solid"/>
                      <a:round/>
                      <a:headEnd len="sm" w="sm" type="none"/>
                      <a:tailEnd len="sm" w="sm" type="none"/>
                    </a:lnT>
                    <a:lnB cap="flat" cmpd="sng" w="12675">
                      <a:solidFill>
                        <a:srgbClr val="FFFFFF"/>
                      </a:solidFill>
                      <a:prstDash val="solid"/>
                      <a:round/>
                      <a:headEnd len="sm" w="sm" type="none"/>
                      <a:tailEnd len="sm" w="sm" type="none"/>
                    </a:lnB>
                    <a:solidFill>
                      <a:srgbClr val="E6F0FF"/>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0" i="0" lang="es-MX" sz="1200" u="none" cap="none" strike="noStrike">
                          <a:solidFill>
                            <a:srgbClr val="000000"/>
                          </a:solidFill>
                          <a:latin typeface="Calibri"/>
                          <a:ea typeface="Calibri"/>
                          <a:cs typeface="Calibri"/>
                          <a:sym typeface="Calibri"/>
                        </a:rPr>
                        <a:t>Como Dueño, quiero controlar quién puede administrar el sistema. HU20</a:t>
                      </a:r>
                      <a:endParaRPr sz="1200" u="none" cap="none" strike="noStrike"/>
                    </a:p>
                  </a:txBody>
                  <a:tcPr marT="19225" marB="19225" marR="38450" marL="38450">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12675">
                      <a:solidFill>
                        <a:srgbClr val="FFFFFF"/>
                      </a:solidFill>
                      <a:prstDash val="solid"/>
                      <a:round/>
                      <a:headEnd len="sm" w="sm" type="none"/>
                      <a:tailEnd len="sm" w="sm" type="none"/>
                    </a:lnT>
                    <a:lnB cap="flat" cmpd="sng" w="12675">
                      <a:solidFill>
                        <a:srgbClr val="FFFFFF"/>
                      </a:solidFill>
                      <a:prstDash val="solid"/>
                      <a:round/>
                      <a:headEnd len="sm" w="sm" type="none"/>
                      <a:tailEnd len="sm" w="sm" type="none"/>
                    </a:lnB>
                    <a:solidFill>
                      <a:srgbClr val="E6F0FF"/>
                    </a:solidFill>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pic>
        <p:nvPicPr>
          <p:cNvPr descr="Servicio Nacional de Aprendizaje - SENA | Bogota.gov.co" id="277" name="Google Shape;277;p36"/>
          <p:cNvPicPr preferRelativeResize="0"/>
          <p:nvPr/>
        </p:nvPicPr>
        <p:blipFill rotWithShape="1">
          <a:blip r:embed="rId3">
            <a:alphaModFix/>
          </a:blip>
          <a:srcRect b="0" l="0" r="0" t="0"/>
          <a:stretch/>
        </p:blipFill>
        <p:spPr>
          <a:xfrm>
            <a:off x="11262712" y="314959"/>
            <a:ext cx="651382" cy="636867"/>
          </a:xfrm>
          <a:prstGeom prst="rect">
            <a:avLst/>
          </a:prstGeom>
          <a:noFill/>
          <a:ln>
            <a:noFill/>
          </a:ln>
        </p:spPr>
      </p:pic>
      <p:sp>
        <p:nvSpPr>
          <p:cNvPr id="278" name="Google Shape;278;p36"/>
          <p:cNvSpPr txBox="1"/>
          <p:nvPr/>
        </p:nvSpPr>
        <p:spPr>
          <a:xfrm>
            <a:off x="536473" y="3148667"/>
            <a:ext cx="6421790" cy="560666"/>
          </a:xfrm>
          <a:prstGeom prst="rect">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chemeClr val="dk1"/>
              </a:buClr>
              <a:buSzPts val="6000"/>
              <a:buFont typeface="Calibri"/>
              <a:buNone/>
            </a:pPr>
            <a:r>
              <a:rPr b="1" i="0" lang="es-MX" sz="3600" u="none" cap="none" strike="noStrike">
                <a:solidFill>
                  <a:srgbClr val="000000"/>
                </a:solidFill>
                <a:latin typeface="Work Sans"/>
                <a:ea typeface="Work Sans"/>
                <a:cs typeface="Work Sans"/>
                <a:sym typeface="Work Sans"/>
              </a:rPr>
              <a:t>12. MOCKUPS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pic>
        <p:nvPicPr>
          <p:cNvPr descr="Servicio Nacional de Aprendizaje - SENA | Bogota.gov.co" id="283" name="Google Shape;283;p37"/>
          <p:cNvPicPr preferRelativeResize="0"/>
          <p:nvPr/>
        </p:nvPicPr>
        <p:blipFill rotWithShape="1">
          <a:blip r:embed="rId3">
            <a:alphaModFix/>
          </a:blip>
          <a:srcRect b="0" l="0" r="0" t="0"/>
          <a:stretch/>
        </p:blipFill>
        <p:spPr>
          <a:xfrm>
            <a:off x="11262712" y="314959"/>
            <a:ext cx="651382" cy="636867"/>
          </a:xfrm>
          <a:prstGeom prst="rect">
            <a:avLst/>
          </a:prstGeom>
          <a:noFill/>
          <a:ln>
            <a:noFill/>
          </a:ln>
        </p:spPr>
      </p:pic>
      <p:sp>
        <p:nvSpPr>
          <p:cNvPr id="284" name="Google Shape;284;p37"/>
          <p:cNvSpPr txBox="1"/>
          <p:nvPr/>
        </p:nvSpPr>
        <p:spPr>
          <a:xfrm>
            <a:off x="632725" y="314959"/>
            <a:ext cx="5627398" cy="560666"/>
          </a:xfrm>
          <a:prstGeom prst="rect">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chemeClr val="dk1"/>
              </a:buClr>
              <a:buSzPts val="6000"/>
              <a:buFont typeface="Calibri"/>
              <a:buNone/>
            </a:pPr>
            <a:r>
              <a:rPr b="1" i="0" lang="es-MX" sz="3600" u="none" cap="none" strike="noStrike">
                <a:solidFill>
                  <a:srgbClr val="000000"/>
                </a:solidFill>
                <a:latin typeface="Work Sans"/>
                <a:ea typeface="Work Sans"/>
                <a:cs typeface="Work Sans"/>
                <a:sym typeface="Work Sans"/>
              </a:rPr>
              <a:t>Inicio del aplicativo </a:t>
            </a:r>
            <a:endParaRPr b="0" i="0" sz="1400" u="none" cap="none" strike="noStrike">
              <a:solidFill>
                <a:srgbClr val="000000"/>
              </a:solidFill>
              <a:latin typeface="Arial"/>
              <a:ea typeface="Arial"/>
              <a:cs typeface="Arial"/>
              <a:sym typeface="Arial"/>
            </a:endParaRPr>
          </a:p>
        </p:txBody>
      </p:sp>
      <p:pic>
        <p:nvPicPr>
          <p:cNvPr id="285" name="Google Shape;285;p37">
            <a:hlinkClick r:id="rId4"/>
          </p:cNvPr>
          <p:cNvPicPr preferRelativeResize="0"/>
          <p:nvPr/>
        </p:nvPicPr>
        <p:blipFill rotWithShape="1">
          <a:blip r:embed="rId5">
            <a:alphaModFix/>
          </a:blip>
          <a:srcRect b="0" l="0" r="0" t="0"/>
          <a:stretch/>
        </p:blipFill>
        <p:spPr>
          <a:xfrm>
            <a:off x="1292148" y="951826"/>
            <a:ext cx="4166431" cy="3796198"/>
          </a:xfrm>
          <a:prstGeom prst="rect">
            <a:avLst/>
          </a:prstGeom>
          <a:noFill/>
          <a:ln>
            <a:noFill/>
          </a:ln>
        </p:spPr>
      </p:pic>
      <p:pic>
        <p:nvPicPr>
          <p:cNvPr id="286" name="Google Shape;286;p37">
            <a:hlinkClick r:id="rId6"/>
          </p:cNvPr>
          <p:cNvPicPr preferRelativeResize="0"/>
          <p:nvPr/>
        </p:nvPicPr>
        <p:blipFill rotWithShape="1">
          <a:blip r:embed="rId7">
            <a:alphaModFix/>
          </a:blip>
          <a:srcRect b="0" l="0" r="0" t="0"/>
          <a:stretch/>
        </p:blipFill>
        <p:spPr>
          <a:xfrm>
            <a:off x="7096282" y="951826"/>
            <a:ext cx="4166430" cy="3786718"/>
          </a:xfrm>
          <a:prstGeom prst="rect">
            <a:avLst/>
          </a:prstGeom>
          <a:noFill/>
          <a:ln>
            <a:noFill/>
          </a:ln>
        </p:spPr>
      </p:pic>
      <p:pic>
        <p:nvPicPr>
          <p:cNvPr id="287" name="Google Shape;287;p37">
            <a:hlinkClick r:id="rId8"/>
          </p:cNvPr>
          <p:cNvPicPr preferRelativeResize="0"/>
          <p:nvPr/>
        </p:nvPicPr>
        <p:blipFill rotWithShape="1">
          <a:blip r:embed="rId9">
            <a:alphaModFix/>
          </a:blip>
          <a:srcRect b="0" l="0" r="0" t="0"/>
          <a:stretch/>
        </p:blipFill>
        <p:spPr>
          <a:xfrm>
            <a:off x="3587312" y="4824225"/>
            <a:ext cx="5345622" cy="1266068"/>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pic>
        <p:nvPicPr>
          <p:cNvPr descr="Servicio Nacional de Aprendizaje - SENA | Bogota.gov.co" id="292" name="Google Shape;292;p38"/>
          <p:cNvPicPr preferRelativeResize="0"/>
          <p:nvPr/>
        </p:nvPicPr>
        <p:blipFill rotWithShape="1">
          <a:blip r:embed="rId3">
            <a:alphaModFix/>
          </a:blip>
          <a:srcRect b="0" l="0" r="0" t="0"/>
          <a:stretch/>
        </p:blipFill>
        <p:spPr>
          <a:xfrm>
            <a:off x="11262712" y="314959"/>
            <a:ext cx="651382" cy="636867"/>
          </a:xfrm>
          <a:prstGeom prst="rect">
            <a:avLst/>
          </a:prstGeom>
          <a:noFill/>
          <a:ln>
            <a:noFill/>
          </a:ln>
        </p:spPr>
      </p:pic>
      <p:sp>
        <p:nvSpPr>
          <p:cNvPr id="293" name="Google Shape;293;p38"/>
          <p:cNvSpPr txBox="1"/>
          <p:nvPr/>
        </p:nvSpPr>
        <p:spPr>
          <a:xfrm>
            <a:off x="632725" y="314959"/>
            <a:ext cx="5627398" cy="560666"/>
          </a:xfrm>
          <a:prstGeom prst="rect">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chemeClr val="dk1"/>
              </a:buClr>
              <a:buSzPts val="6000"/>
              <a:buFont typeface="Calibri"/>
              <a:buNone/>
            </a:pPr>
            <a:r>
              <a:rPr b="1" i="0" lang="es-MX" sz="3600" u="none" cap="none" strike="noStrike">
                <a:solidFill>
                  <a:srgbClr val="000000"/>
                </a:solidFill>
                <a:latin typeface="Work Sans"/>
                <a:ea typeface="Work Sans"/>
                <a:cs typeface="Work Sans"/>
                <a:sym typeface="Work Sans"/>
              </a:rPr>
              <a:t>Carrito de compras</a:t>
            </a:r>
            <a:endParaRPr b="0" i="0" sz="1400" u="none" cap="none" strike="noStrike">
              <a:solidFill>
                <a:srgbClr val="000000"/>
              </a:solidFill>
              <a:latin typeface="Arial"/>
              <a:ea typeface="Arial"/>
              <a:cs typeface="Arial"/>
              <a:sym typeface="Arial"/>
            </a:endParaRPr>
          </a:p>
        </p:txBody>
      </p:sp>
      <p:pic>
        <p:nvPicPr>
          <p:cNvPr id="294" name="Google Shape;294;p38"/>
          <p:cNvPicPr preferRelativeResize="0"/>
          <p:nvPr/>
        </p:nvPicPr>
        <p:blipFill rotWithShape="1">
          <a:blip r:embed="rId4">
            <a:alphaModFix/>
          </a:blip>
          <a:srcRect b="0" l="0" r="0" t="0"/>
          <a:stretch/>
        </p:blipFill>
        <p:spPr>
          <a:xfrm>
            <a:off x="758879" y="875625"/>
            <a:ext cx="5931585" cy="5293150"/>
          </a:xfrm>
          <a:prstGeom prst="rect">
            <a:avLst/>
          </a:prstGeom>
          <a:noFill/>
          <a:ln>
            <a:noFill/>
          </a:ln>
        </p:spPr>
      </p:pic>
      <p:pic>
        <p:nvPicPr>
          <p:cNvPr id="295" name="Google Shape;295;p38"/>
          <p:cNvPicPr preferRelativeResize="0"/>
          <p:nvPr/>
        </p:nvPicPr>
        <p:blipFill rotWithShape="1">
          <a:blip r:embed="rId5">
            <a:alphaModFix/>
          </a:blip>
          <a:srcRect b="0" l="0" r="0" t="0"/>
          <a:stretch/>
        </p:blipFill>
        <p:spPr>
          <a:xfrm>
            <a:off x="6961124" y="875625"/>
            <a:ext cx="4286859" cy="2446745"/>
          </a:xfrm>
          <a:prstGeom prst="rect">
            <a:avLst/>
          </a:prstGeom>
          <a:noFill/>
          <a:ln>
            <a:noFill/>
          </a:ln>
        </p:spPr>
      </p:pic>
      <p:pic>
        <p:nvPicPr>
          <p:cNvPr id="296" name="Google Shape;296;p38"/>
          <p:cNvPicPr preferRelativeResize="0"/>
          <p:nvPr/>
        </p:nvPicPr>
        <p:blipFill rotWithShape="1">
          <a:blip r:embed="rId6">
            <a:alphaModFix/>
          </a:blip>
          <a:srcRect b="0" l="0" r="0" t="0"/>
          <a:stretch/>
        </p:blipFill>
        <p:spPr>
          <a:xfrm>
            <a:off x="6961124" y="3322370"/>
            <a:ext cx="4377079" cy="284640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pic>
        <p:nvPicPr>
          <p:cNvPr descr="Servicio Nacional de Aprendizaje - SENA | Bogota.gov.co" id="301" name="Google Shape;301;p39"/>
          <p:cNvPicPr preferRelativeResize="0"/>
          <p:nvPr/>
        </p:nvPicPr>
        <p:blipFill rotWithShape="1">
          <a:blip r:embed="rId3">
            <a:alphaModFix/>
          </a:blip>
          <a:srcRect b="0" l="0" r="0" t="0"/>
          <a:stretch/>
        </p:blipFill>
        <p:spPr>
          <a:xfrm>
            <a:off x="11262712" y="314959"/>
            <a:ext cx="651382" cy="636867"/>
          </a:xfrm>
          <a:prstGeom prst="rect">
            <a:avLst/>
          </a:prstGeom>
          <a:noFill/>
          <a:ln>
            <a:noFill/>
          </a:ln>
        </p:spPr>
      </p:pic>
      <p:sp>
        <p:nvSpPr>
          <p:cNvPr id="302" name="Google Shape;302;p39"/>
          <p:cNvSpPr txBox="1"/>
          <p:nvPr/>
        </p:nvSpPr>
        <p:spPr>
          <a:xfrm>
            <a:off x="632725" y="314959"/>
            <a:ext cx="4334929" cy="560666"/>
          </a:xfrm>
          <a:prstGeom prst="rect">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chemeClr val="dk1"/>
              </a:buClr>
              <a:buSzPts val="6000"/>
              <a:buFont typeface="Calibri"/>
              <a:buNone/>
            </a:pPr>
            <a:r>
              <a:rPr b="1" i="0" lang="es-MX" sz="3600" u="none" cap="none" strike="noStrike">
                <a:solidFill>
                  <a:srgbClr val="000000"/>
                </a:solidFill>
                <a:latin typeface="Work Sans"/>
                <a:ea typeface="Work Sans"/>
                <a:cs typeface="Work Sans"/>
                <a:sym typeface="Work Sans"/>
              </a:rPr>
              <a:t>Proceso de pago </a:t>
            </a:r>
            <a:endParaRPr b="0" i="0" sz="1400" u="none" cap="none" strike="noStrike">
              <a:solidFill>
                <a:srgbClr val="000000"/>
              </a:solidFill>
              <a:latin typeface="Arial"/>
              <a:ea typeface="Arial"/>
              <a:cs typeface="Arial"/>
              <a:sym typeface="Arial"/>
            </a:endParaRPr>
          </a:p>
        </p:txBody>
      </p:sp>
      <p:pic>
        <p:nvPicPr>
          <p:cNvPr id="303" name="Google Shape;303;p39"/>
          <p:cNvPicPr preferRelativeResize="0"/>
          <p:nvPr/>
        </p:nvPicPr>
        <p:blipFill rotWithShape="1">
          <a:blip r:embed="rId4">
            <a:alphaModFix/>
          </a:blip>
          <a:srcRect b="0" l="0" r="0" t="0"/>
          <a:stretch/>
        </p:blipFill>
        <p:spPr>
          <a:xfrm>
            <a:off x="703384" y="951826"/>
            <a:ext cx="4990725" cy="3875151"/>
          </a:xfrm>
          <a:prstGeom prst="rect">
            <a:avLst/>
          </a:prstGeom>
          <a:noFill/>
          <a:ln>
            <a:noFill/>
          </a:ln>
        </p:spPr>
      </p:pic>
      <p:pic>
        <p:nvPicPr>
          <p:cNvPr id="304" name="Google Shape;304;p39"/>
          <p:cNvPicPr preferRelativeResize="0"/>
          <p:nvPr/>
        </p:nvPicPr>
        <p:blipFill rotWithShape="1">
          <a:blip r:embed="rId5">
            <a:alphaModFix/>
          </a:blip>
          <a:srcRect b="0" l="0" r="0" t="0"/>
          <a:stretch/>
        </p:blipFill>
        <p:spPr>
          <a:xfrm>
            <a:off x="5797250" y="951826"/>
            <a:ext cx="5013268" cy="3875151"/>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pic>
        <p:nvPicPr>
          <p:cNvPr descr="Servicio Nacional de Aprendizaje - SENA | Bogota.gov.co" id="309" name="Google Shape;309;p40"/>
          <p:cNvPicPr preferRelativeResize="0"/>
          <p:nvPr/>
        </p:nvPicPr>
        <p:blipFill rotWithShape="1">
          <a:blip r:embed="rId3">
            <a:alphaModFix/>
          </a:blip>
          <a:srcRect b="0" l="0" r="0" t="0"/>
          <a:stretch/>
        </p:blipFill>
        <p:spPr>
          <a:xfrm>
            <a:off x="11262712" y="314959"/>
            <a:ext cx="651382" cy="636867"/>
          </a:xfrm>
          <a:prstGeom prst="rect">
            <a:avLst/>
          </a:prstGeom>
          <a:noFill/>
          <a:ln>
            <a:noFill/>
          </a:ln>
        </p:spPr>
      </p:pic>
      <p:sp>
        <p:nvSpPr>
          <p:cNvPr id="310" name="Google Shape;310;p40"/>
          <p:cNvSpPr txBox="1"/>
          <p:nvPr/>
        </p:nvSpPr>
        <p:spPr>
          <a:xfrm>
            <a:off x="632725" y="314959"/>
            <a:ext cx="5636190" cy="560666"/>
          </a:xfrm>
          <a:prstGeom prst="rect">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chemeClr val="dk1"/>
              </a:buClr>
              <a:buSzPts val="6000"/>
              <a:buFont typeface="Calibri"/>
              <a:buNone/>
            </a:pPr>
            <a:r>
              <a:rPr b="1" i="0" lang="es-MX" sz="3600" u="none" cap="none" strike="noStrike">
                <a:solidFill>
                  <a:srgbClr val="000000"/>
                </a:solidFill>
                <a:latin typeface="Work Sans"/>
                <a:ea typeface="Work Sans"/>
                <a:cs typeface="Work Sans"/>
                <a:sym typeface="Work Sans"/>
              </a:rPr>
              <a:t>Panel de administrador</a:t>
            </a:r>
            <a:endParaRPr b="0" i="0" sz="1400" u="none" cap="none" strike="noStrike">
              <a:solidFill>
                <a:srgbClr val="000000"/>
              </a:solidFill>
              <a:latin typeface="Arial"/>
              <a:ea typeface="Arial"/>
              <a:cs typeface="Arial"/>
              <a:sym typeface="Arial"/>
            </a:endParaRPr>
          </a:p>
        </p:txBody>
      </p:sp>
      <p:pic>
        <p:nvPicPr>
          <p:cNvPr id="311" name="Google Shape;311;p40"/>
          <p:cNvPicPr preferRelativeResize="0"/>
          <p:nvPr/>
        </p:nvPicPr>
        <p:blipFill rotWithShape="1">
          <a:blip r:embed="rId4">
            <a:alphaModFix/>
          </a:blip>
          <a:srcRect b="0" l="0" r="0" t="0"/>
          <a:stretch/>
        </p:blipFill>
        <p:spPr>
          <a:xfrm>
            <a:off x="400158" y="1257958"/>
            <a:ext cx="4123913" cy="4095898"/>
          </a:xfrm>
          <a:prstGeom prst="rect">
            <a:avLst/>
          </a:prstGeom>
          <a:noFill/>
          <a:ln>
            <a:noFill/>
          </a:ln>
        </p:spPr>
      </p:pic>
      <p:pic>
        <p:nvPicPr>
          <p:cNvPr id="312" name="Google Shape;312;p40"/>
          <p:cNvPicPr preferRelativeResize="0"/>
          <p:nvPr/>
        </p:nvPicPr>
        <p:blipFill rotWithShape="1">
          <a:blip r:embed="rId5">
            <a:alphaModFix/>
          </a:blip>
          <a:srcRect b="0" l="0" r="0" t="0"/>
          <a:stretch/>
        </p:blipFill>
        <p:spPr>
          <a:xfrm>
            <a:off x="4524071" y="1257959"/>
            <a:ext cx="4140784" cy="4095897"/>
          </a:xfrm>
          <a:prstGeom prst="rect">
            <a:avLst/>
          </a:prstGeom>
          <a:noFill/>
          <a:ln>
            <a:noFill/>
          </a:ln>
        </p:spPr>
      </p:pic>
      <p:pic>
        <p:nvPicPr>
          <p:cNvPr id="313" name="Google Shape;313;p40"/>
          <p:cNvPicPr preferRelativeResize="0"/>
          <p:nvPr/>
        </p:nvPicPr>
        <p:blipFill rotWithShape="1">
          <a:blip r:embed="rId6">
            <a:alphaModFix/>
          </a:blip>
          <a:srcRect b="0" l="0" r="0" t="0"/>
          <a:stretch/>
        </p:blipFill>
        <p:spPr>
          <a:xfrm>
            <a:off x="8647983" y="1257958"/>
            <a:ext cx="3266111" cy="4135018"/>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pic>
        <p:nvPicPr>
          <p:cNvPr descr="Servicio Nacional de Aprendizaje - SENA | Bogota.gov.co" id="318" name="Google Shape;318;p41"/>
          <p:cNvPicPr preferRelativeResize="0"/>
          <p:nvPr/>
        </p:nvPicPr>
        <p:blipFill rotWithShape="1">
          <a:blip r:embed="rId3">
            <a:alphaModFix/>
          </a:blip>
          <a:srcRect b="0" l="0" r="0" t="0"/>
          <a:stretch/>
        </p:blipFill>
        <p:spPr>
          <a:xfrm>
            <a:off x="11262712" y="314959"/>
            <a:ext cx="651382" cy="636867"/>
          </a:xfrm>
          <a:prstGeom prst="rect">
            <a:avLst/>
          </a:prstGeom>
          <a:noFill/>
          <a:ln>
            <a:noFill/>
          </a:ln>
        </p:spPr>
      </p:pic>
      <p:sp>
        <p:nvSpPr>
          <p:cNvPr id="319" name="Google Shape;319;p41"/>
          <p:cNvSpPr txBox="1"/>
          <p:nvPr/>
        </p:nvSpPr>
        <p:spPr>
          <a:xfrm>
            <a:off x="632724" y="314959"/>
            <a:ext cx="7078129" cy="560666"/>
          </a:xfrm>
          <a:prstGeom prst="rect">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chemeClr val="dk1"/>
              </a:buClr>
              <a:buSzPts val="6000"/>
              <a:buFont typeface="Calibri"/>
              <a:buNone/>
            </a:pPr>
            <a:r>
              <a:rPr b="1" i="0" lang="es-MX" sz="3600" u="none" cap="none" strike="noStrike">
                <a:solidFill>
                  <a:srgbClr val="000000"/>
                </a:solidFill>
                <a:latin typeface="Work Sans"/>
                <a:ea typeface="Work Sans"/>
                <a:cs typeface="Work Sans"/>
                <a:sym typeface="Work Sans"/>
              </a:rPr>
              <a:t>Inicio de sesión/registro </a:t>
            </a:r>
            <a:endParaRPr b="0" i="0" sz="1400" u="none" cap="none" strike="noStrike">
              <a:solidFill>
                <a:srgbClr val="000000"/>
              </a:solidFill>
              <a:latin typeface="Arial"/>
              <a:ea typeface="Arial"/>
              <a:cs typeface="Arial"/>
              <a:sym typeface="Arial"/>
            </a:endParaRPr>
          </a:p>
        </p:txBody>
      </p:sp>
      <p:pic>
        <p:nvPicPr>
          <p:cNvPr id="320" name="Google Shape;320;p41"/>
          <p:cNvPicPr preferRelativeResize="0"/>
          <p:nvPr/>
        </p:nvPicPr>
        <p:blipFill rotWithShape="1">
          <a:blip r:embed="rId4">
            <a:alphaModFix/>
          </a:blip>
          <a:srcRect b="0" l="0" r="0" t="0"/>
          <a:stretch/>
        </p:blipFill>
        <p:spPr>
          <a:xfrm>
            <a:off x="506538" y="1291687"/>
            <a:ext cx="5466650" cy="4274626"/>
          </a:xfrm>
          <a:prstGeom prst="rect">
            <a:avLst/>
          </a:prstGeom>
          <a:noFill/>
          <a:ln>
            <a:noFill/>
          </a:ln>
        </p:spPr>
      </p:pic>
      <p:pic>
        <p:nvPicPr>
          <p:cNvPr id="321" name="Google Shape;321;p41"/>
          <p:cNvPicPr preferRelativeResize="0"/>
          <p:nvPr/>
        </p:nvPicPr>
        <p:blipFill rotWithShape="1">
          <a:blip r:embed="rId5">
            <a:alphaModFix/>
          </a:blip>
          <a:srcRect b="0" l="0" r="0" t="0"/>
          <a:stretch/>
        </p:blipFill>
        <p:spPr>
          <a:xfrm>
            <a:off x="5973188" y="1291687"/>
            <a:ext cx="5940906" cy="4274626"/>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pic>
        <p:nvPicPr>
          <p:cNvPr descr="Servicio Nacional de Aprendizaje - SENA | Bogota.gov.co" id="326" name="Google Shape;326;p43"/>
          <p:cNvPicPr preferRelativeResize="0"/>
          <p:nvPr/>
        </p:nvPicPr>
        <p:blipFill rotWithShape="1">
          <a:blip r:embed="rId3">
            <a:alphaModFix/>
          </a:blip>
          <a:srcRect b="0" l="0" r="0" t="0"/>
          <a:stretch/>
        </p:blipFill>
        <p:spPr>
          <a:xfrm>
            <a:off x="11262712" y="314959"/>
            <a:ext cx="651382" cy="636867"/>
          </a:xfrm>
          <a:prstGeom prst="rect">
            <a:avLst/>
          </a:prstGeom>
          <a:noFill/>
          <a:ln>
            <a:noFill/>
          </a:ln>
        </p:spPr>
      </p:pic>
      <p:sp>
        <p:nvSpPr>
          <p:cNvPr id="327" name="Google Shape;327;p43"/>
          <p:cNvSpPr txBox="1"/>
          <p:nvPr/>
        </p:nvSpPr>
        <p:spPr>
          <a:xfrm>
            <a:off x="819501" y="3148667"/>
            <a:ext cx="6421790" cy="560666"/>
          </a:xfrm>
          <a:prstGeom prst="rect">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chemeClr val="dk1"/>
              </a:buClr>
              <a:buSzPts val="6000"/>
              <a:buFont typeface="Calibri"/>
              <a:buNone/>
            </a:pPr>
            <a:r>
              <a:rPr b="1" i="0" lang="es-MX" sz="3600" u="none" cap="none" strike="noStrike">
                <a:solidFill>
                  <a:srgbClr val="000000"/>
                </a:solidFill>
                <a:latin typeface="Work Sans"/>
                <a:ea typeface="Work Sans"/>
                <a:cs typeface="Work Sans"/>
                <a:sym typeface="Work Sans"/>
              </a:rPr>
              <a:t>13. GitHub</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1" name="Shape 331"/>
        <p:cNvGrpSpPr/>
        <p:nvPr/>
      </p:nvGrpSpPr>
      <p:grpSpPr>
        <a:xfrm>
          <a:off x="0" y="0"/>
          <a:ext cx="0" cy="0"/>
          <a:chOff x="0" y="0"/>
          <a:chExt cx="0" cy="0"/>
        </a:xfrm>
      </p:grpSpPr>
      <p:sp>
        <p:nvSpPr>
          <p:cNvPr id="332" name="Google Shape;332;p44"/>
          <p:cNvSpPr/>
          <p:nvPr/>
        </p:nvSpPr>
        <p:spPr>
          <a:xfrm>
            <a:off x="0" y="0"/>
            <a:ext cx="12191999" cy="685736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nvGrpSpPr>
          <p:cNvPr id="333" name="Google Shape;333;p44"/>
          <p:cNvGrpSpPr/>
          <p:nvPr/>
        </p:nvGrpSpPr>
        <p:grpSpPr>
          <a:xfrm rot="5400000">
            <a:off x="-1564726" y="1890469"/>
            <a:ext cx="5860051" cy="2079143"/>
            <a:chOff x="6081624" y="1998368"/>
            <a:chExt cx="5613457" cy="782175"/>
          </a:xfrm>
        </p:grpSpPr>
        <p:sp>
          <p:nvSpPr>
            <p:cNvPr id="334" name="Google Shape;334;p44"/>
            <p:cNvSpPr/>
            <p:nvPr/>
          </p:nvSpPr>
          <p:spPr>
            <a:xfrm rot="5400000">
              <a:off x="11228040" y="2313027"/>
              <a:ext cx="781700" cy="152382"/>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35" name="Google Shape;335;p44"/>
            <p:cNvSpPr/>
            <p:nvPr/>
          </p:nvSpPr>
          <p:spPr>
            <a:xfrm rot="10800000">
              <a:off x="6081624" y="1998844"/>
              <a:ext cx="5372968" cy="781699"/>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sp>
        <p:nvSpPr>
          <p:cNvPr id="336" name="Google Shape;336;p44"/>
          <p:cNvSpPr/>
          <p:nvPr/>
        </p:nvSpPr>
        <p:spPr>
          <a:xfrm>
            <a:off x="579528" y="466344"/>
            <a:ext cx="11111729" cy="5917827"/>
          </a:xfrm>
          <a:prstGeom prst="rect">
            <a:avLst/>
          </a:prstGeom>
          <a:solidFill>
            <a:schemeClr val="lt1"/>
          </a:solidFill>
          <a:ln>
            <a:noFill/>
          </a:ln>
          <a:effectLst>
            <a:outerShdw blurRad="139700" rotWithShape="0" algn="t" dir="5400000" dist="127000">
              <a:srgbClr val="000000">
                <a:alpha val="1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337" name="Google Shape;337;p44"/>
          <p:cNvPicPr preferRelativeResize="0"/>
          <p:nvPr/>
        </p:nvPicPr>
        <p:blipFill rotWithShape="1">
          <a:blip r:embed="rId3">
            <a:alphaModFix/>
          </a:blip>
          <a:srcRect b="1" l="19408" r="1" t="0"/>
          <a:stretch/>
        </p:blipFill>
        <p:spPr>
          <a:xfrm>
            <a:off x="838200" y="704765"/>
            <a:ext cx="10628376" cy="5440003"/>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pic>
        <p:nvPicPr>
          <p:cNvPr descr="Servicio Nacional de Aprendizaje - SENA | Bogota.gov.co" id="342" name="Google Shape;342;p45"/>
          <p:cNvPicPr preferRelativeResize="0"/>
          <p:nvPr/>
        </p:nvPicPr>
        <p:blipFill rotWithShape="1">
          <a:blip r:embed="rId3">
            <a:alphaModFix/>
          </a:blip>
          <a:srcRect b="0" l="0" r="0" t="0"/>
          <a:stretch/>
        </p:blipFill>
        <p:spPr>
          <a:xfrm>
            <a:off x="11252880" y="216636"/>
            <a:ext cx="651382" cy="636867"/>
          </a:xfrm>
          <a:prstGeom prst="rect">
            <a:avLst/>
          </a:prstGeom>
          <a:noFill/>
          <a:ln>
            <a:noFill/>
          </a:ln>
        </p:spPr>
      </p:pic>
      <p:sp>
        <p:nvSpPr>
          <p:cNvPr id="343" name="Google Shape;343;p45"/>
          <p:cNvSpPr txBox="1"/>
          <p:nvPr/>
        </p:nvSpPr>
        <p:spPr>
          <a:xfrm>
            <a:off x="318056" y="2868334"/>
            <a:ext cx="6421790" cy="560666"/>
          </a:xfrm>
          <a:prstGeom prst="rect">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chemeClr val="dk1"/>
              </a:buClr>
              <a:buSzPts val="6000"/>
              <a:buFont typeface="Calibri"/>
              <a:buNone/>
            </a:pPr>
            <a:r>
              <a:rPr b="1" i="0" lang="es-MX" sz="3600" u="none" cap="none" strike="noStrike">
                <a:solidFill>
                  <a:srgbClr val="000000"/>
                </a:solidFill>
                <a:latin typeface="Work Sans"/>
                <a:ea typeface="Work Sans"/>
                <a:cs typeface="Work Sans"/>
                <a:sym typeface="Work Sans"/>
              </a:rPr>
              <a:t>14. Base de datos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49"/>
          <p:cNvSpPr txBox="1"/>
          <p:nvPr/>
        </p:nvSpPr>
        <p:spPr>
          <a:xfrm>
            <a:off x="357384" y="2868334"/>
            <a:ext cx="9553531" cy="560666"/>
          </a:xfrm>
          <a:prstGeom prst="rect">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chemeClr val="dk1"/>
              </a:buClr>
              <a:buSzPts val="6000"/>
              <a:buFont typeface="Calibri"/>
              <a:buNone/>
            </a:pPr>
            <a:r>
              <a:rPr b="1" i="0" lang="es-MX" sz="3600" u="none" cap="none" strike="noStrike">
                <a:solidFill>
                  <a:srgbClr val="000000"/>
                </a:solidFill>
                <a:latin typeface="Work Sans"/>
                <a:ea typeface="Work Sans"/>
                <a:cs typeface="Work Sans"/>
                <a:sym typeface="Work Sans"/>
              </a:rPr>
              <a:t>14.1 Diagrama entidad relación y relacional</a:t>
            </a:r>
            <a:endParaRPr b="0" i="0" sz="1400" u="none" cap="none" strike="noStrike">
              <a:solidFill>
                <a:srgbClr val="000000"/>
              </a:solidFill>
              <a:latin typeface="Arial"/>
              <a:ea typeface="Arial"/>
              <a:cs typeface="Arial"/>
              <a:sym typeface="Arial"/>
            </a:endParaRPr>
          </a:p>
        </p:txBody>
      </p:sp>
      <p:pic>
        <p:nvPicPr>
          <p:cNvPr descr="Servicio Nacional de Aprendizaje - SENA | Bogota.gov.co" id="349" name="Google Shape;349;p49"/>
          <p:cNvPicPr preferRelativeResize="0"/>
          <p:nvPr/>
        </p:nvPicPr>
        <p:blipFill rotWithShape="1">
          <a:blip r:embed="rId3">
            <a:alphaModFix/>
          </a:blip>
          <a:srcRect b="0" l="0" r="0" t="0"/>
          <a:stretch/>
        </p:blipFill>
        <p:spPr>
          <a:xfrm>
            <a:off x="11252880" y="216636"/>
            <a:ext cx="651382" cy="636867"/>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pic>
        <p:nvPicPr>
          <p:cNvPr id="354" name="Google Shape;354;p50">
            <a:hlinkClick r:id="rId3"/>
          </p:cNvPr>
          <p:cNvPicPr preferRelativeResize="0"/>
          <p:nvPr/>
        </p:nvPicPr>
        <p:blipFill rotWithShape="1">
          <a:blip r:embed="rId4">
            <a:alphaModFix/>
          </a:blip>
          <a:srcRect b="0" l="0" r="0" t="0"/>
          <a:stretch/>
        </p:blipFill>
        <p:spPr>
          <a:xfrm>
            <a:off x="0" y="0"/>
            <a:ext cx="12192000" cy="68580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pic>
        <p:nvPicPr>
          <p:cNvPr id="359" name="Google Shape;359;p51">
            <a:hlinkClick r:id="rId3"/>
          </p:cNvPr>
          <p:cNvPicPr preferRelativeResize="0"/>
          <p:nvPr/>
        </p:nvPicPr>
        <p:blipFill rotWithShape="1">
          <a:blip r:embed="rId4">
            <a:alphaModFix/>
          </a:blip>
          <a:srcRect b="0" l="0" r="0" t="0"/>
          <a:stretch/>
        </p:blipFill>
        <p:spPr>
          <a:xfrm>
            <a:off x="1956618" y="0"/>
            <a:ext cx="8858865" cy="68580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pic>
        <p:nvPicPr>
          <p:cNvPr descr="Servicio Nacional de Aprendizaje - SENA | Bogota.gov.co" id="364" name="Google Shape;364;p52"/>
          <p:cNvPicPr preferRelativeResize="0"/>
          <p:nvPr/>
        </p:nvPicPr>
        <p:blipFill rotWithShape="1">
          <a:blip r:embed="rId3">
            <a:alphaModFix/>
          </a:blip>
          <a:srcRect b="0" l="0" r="0" t="0"/>
          <a:stretch/>
        </p:blipFill>
        <p:spPr>
          <a:xfrm>
            <a:off x="11252880" y="216636"/>
            <a:ext cx="651382" cy="636867"/>
          </a:xfrm>
          <a:prstGeom prst="rect">
            <a:avLst/>
          </a:prstGeom>
          <a:noFill/>
          <a:ln>
            <a:noFill/>
          </a:ln>
        </p:spPr>
      </p:pic>
      <p:sp>
        <p:nvSpPr>
          <p:cNvPr id="365" name="Google Shape;365;p52"/>
          <p:cNvSpPr txBox="1"/>
          <p:nvPr/>
        </p:nvSpPr>
        <p:spPr>
          <a:xfrm>
            <a:off x="318056" y="2868334"/>
            <a:ext cx="6421790" cy="560666"/>
          </a:xfrm>
          <a:prstGeom prst="rect">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chemeClr val="dk1"/>
              </a:buClr>
              <a:buSzPts val="6000"/>
              <a:buFont typeface="Calibri"/>
              <a:buNone/>
            </a:pPr>
            <a:r>
              <a:rPr b="1" i="0" lang="es-MX" sz="3600" u="none" cap="none" strike="noStrike">
                <a:solidFill>
                  <a:srgbClr val="000000"/>
                </a:solidFill>
                <a:latin typeface="Work Sans"/>
                <a:ea typeface="Work Sans"/>
                <a:cs typeface="Work Sans"/>
                <a:sym typeface="Work Sans"/>
              </a:rPr>
              <a:t>14.2 Normalización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pic>
        <p:nvPicPr>
          <p:cNvPr descr="Servicio Nacional de Aprendizaje - SENA | Bogota.gov.co" id="370" name="Google Shape;370;p53"/>
          <p:cNvPicPr preferRelativeResize="0"/>
          <p:nvPr/>
        </p:nvPicPr>
        <p:blipFill rotWithShape="1">
          <a:blip r:embed="rId3">
            <a:alphaModFix/>
          </a:blip>
          <a:srcRect b="0" l="0" r="0" t="0"/>
          <a:stretch/>
        </p:blipFill>
        <p:spPr>
          <a:xfrm>
            <a:off x="11252880" y="216636"/>
            <a:ext cx="651382" cy="636867"/>
          </a:xfrm>
          <a:prstGeom prst="rect">
            <a:avLst/>
          </a:prstGeom>
          <a:noFill/>
          <a:ln>
            <a:noFill/>
          </a:ln>
        </p:spPr>
      </p:pic>
      <p:sp>
        <p:nvSpPr>
          <p:cNvPr id="371" name="Google Shape;371;p53"/>
          <p:cNvSpPr txBox="1"/>
          <p:nvPr/>
        </p:nvSpPr>
        <p:spPr>
          <a:xfrm>
            <a:off x="4525418" y="1453931"/>
            <a:ext cx="204978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Arial"/>
                <a:ea typeface="Arial"/>
                <a:cs typeface="Arial"/>
                <a:sym typeface="Arial"/>
              </a:rPr>
              <a:t>INFORMACION AQUI</a:t>
            </a:r>
            <a:endParaRPr b="0" i="0" sz="1400" u="none" cap="none" strike="noStrike">
              <a:solidFill>
                <a:srgbClr val="000000"/>
              </a:solidFill>
              <a:latin typeface="Arial"/>
              <a:ea typeface="Arial"/>
              <a:cs typeface="Arial"/>
              <a:sym typeface="Arial"/>
            </a:endParaRPr>
          </a:p>
        </p:txBody>
      </p:sp>
      <p:cxnSp>
        <p:nvCxnSpPr>
          <p:cNvPr id="372" name="Google Shape;372;p53"/>
          <p:cNvCxnSpPr/>
          <p:nvPr/>
        </p:nvCxnSpPr>
        <p:spPr>
          <a:xfrm>
            <a:off x="5550308" y="1746291"/>
            <a:ext cx="0" cy="477083"/>
          </a:xfrm>
          <a:prstGeom prst="straightConnector1">
            <a:avLst/>
          </a:prstGeom>
          <a:noFill/>
          <a:ln cap="flat" cmpd="sng" w="9525">
            <a:solidFill>
              <a:srgbClr val="3E6EC2"/>
            </a:solidFill>
            <a:prstDash val="solid"/>
            <a:round/>
            <a:headEnd len="sm" w="sm" type="none"/>
            <a:tailEnd len="med" w="med" type="triangle"/>
          </a:ln>
        </p:spPr>
      </p:cxnSp>
      <p:pic>
        <p:nvPicPr>
          <p:cNvPr id="373" name="Google Shape;373;p53">
            <a:hlinkClick r:id="rId4"/>
          </p:cNvPr>
          <p:cNvPicPr preferRelativeResize="0"/>
          <p:nvPr/>
        </p:nvPicPr>
        <p:blipFill rotWithShape="1">
          <a:blip r:embed="rId5">
            <a:alphaModFix/>
          </a:blip>
          <a:srcRect b="0" l="2070" r="-2070" t="0"/>
          <a:stretch/>
        </p:blipFill>
        <p:spPr>
          <a:xfrm>
            <a:off x="996624" y="2302600"/>
            <a:ext cx="9559502" cy="344507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pic>
        <p:nvPicPr>
          <p:cNvPr descr="Servicio Nacional de Aprendizaje - SENA | Bogota.gov.co" id="378" name="Google Shape;378;p47"/>
          <p:cNvPicPr preferRelativeResize="0"/>
          <p:nvPr/>
        </p:nvPicPr>
        <p:blipFill rotWithShape="1">
          <a:blip r:embed="rId3">
            <a:alphaModFix/>
          </a:blip>
          <a:srcRect b="0" l="0" r="0" t="0"/>
          <a:stretch/>
        </p:blipFill>
        <p:spPr>
          <a:xfrm>
            <a:off x="11252880" y="216636"/>
            <a:ext cx="651382" cy="636867"/>
          </a:xfrm>
          <a:prstGeom prst="rect">
            <a:avLst/>
          </a:prstGeom>
          <a:noFill/>
          <a:ln>
            <a:noFill/>
          </a:ln>
        </p:spPr>
      </p:pic>
      <p:sp>
        <p:nvSpPr>
          <p:cNvPr id="379" name="Google Shape;379;p47"/>
          <p:cNvSpPr txBox="1"/>
          <p:nvPr/>
        </p:nvSpPr>
        <p:spPr>
          <a:xfrm>
            <a:off x="357385" y="2868334"/>
            <a:ext cx="6421790" cy="560666"/>
          </a:xfrm>
          <a:prstGeom prst="rect">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chemeClr val="dk1"/>
              </a:buClr>
              <a:buSzPts val="6000"/>
              <a:buFont typeface="Calibri"/>
              <a:buNone/>
            </a:pPr>
            <a:r>
              <a:rPr b="1" i="0" lang="es-MX" sz="3600" u="none" cap="none" strike="noStrike">
                <a:solidFill>
                  <a:srgbClr val="000000"/>
                </a:solidFill>
                <a:latin typeface="Work Sans"/>
                <a:ea typeface="Work Sans"/>
                <a:cs typeface="Work Sans"/>
                <a:sym typeface="Work Sans"/>
              </a:rPr>
              <a:t>14.3 Diccionario de datos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pic>
        <p:nvPicPr>
          <p:cNvPr id="384" name="Google Shape;384;p48">
            <a:hlinkClick r:id="rId3"/>
          </p:cNvPr>
          <p:cNvPicPr preferRelativeResize="0"/>
          <p:nvPr/>
        </p:nvPicPr>
        <p:blipFill rotWithShape="1">
          <a:blip r:embed="rId4">
            <a:alphaModFix/>
          </a:blip>
          <a:srcRect b="0" l="0" r="0" t="0"/>
          <a:stretch/>
        </p:blipFill>
        <p:spPr>
          <a:xfrm>
            <a:off x="0" y="548641"/>
            <a:ext cx="12192000" cy="595884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pic>
        <p:nvPicPr>
          <p:cNvPr descr="Servicio Nacional de Aprendizaje - SENA | Bogota.gov.co" id="389" name="Google Shape;389;p56"/>
          <p:cNvPicPr preferRelativeResize="0"/>
          <p:nvPr/>
        </p:nvPicPr>
        <p:blipFill rotWithShape="1">
          <a:blip r:embed="rId3">
            <a:alphaModFix/>
          </a:blip>
          <a:srcRect b="0" l="0" r="0" t="0"/>
          <a:stretch/>
        </p:blipFill>
        <p:spPr>
          <a:xfrm>
            <a:off x="11252880" y="216636"/>
            <a:ext cx="651382" cy="636867"/>
          </a:xfrm>
          <a:prstGeom prst="rect">
            <a:avLst/>
          </a:prstGeom>
          <a:noFill/>
          <a:ln>
            <a:noFill/>
          </a:ln>
        </p:spPr>
      </p:pic>
      <p:sp>
        <p:nvSpPr>
          <p:cNvPr id="390" name="Google Shape;390;p56"/>
          <p:cNvSpPr txBox="1"/>
          <p:nvPr/>
        </p:nvSpPr>
        <p:spPr>
          <a:xfrm>
            <a:off x="357384" y="2868334"/>
            <a:ext cx="10615415" cy="560666"/>
          </a:xfrm>
          <a:prstGeom prst="rect">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chemeClr val="dk1"/>
              </a:buClr>
              <a:buSzPts val="6000"/>
              <a:buFont typeface="Calibri"/>
              <a:buNone/>
            </a:pPr>
            <a:r>
              <a:rPr b="1" i="0" lang="es-MX" sz="3600" u="none" cap="none" strike="noStrike">
                <a:solidFill>
                  <a:srgbClr val="000000"/>
                </a:solidFill>
                <a:latin typeface="Work Sans"/>
                <a:ea typeface="Work Sans"/>
                <a:cs typeface="Work Sans"/>
                <a:sym typeface="Work Sans"/>
              </a:rPr>
              <a:t>	15. DIAGRAMA CASOS DE USO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pic>
        <p:nvPicPr>
          <p:cNvPr id="395" name="Google Shape;395;p57">
            <a:hlinkClick r:id="rId3"/>
          </p:cNvPr>
          <p:cNvPicPr preferRelativeResize="0"/>
          <p:nvPr/>
        </p:nvPicPr>
        <p:blipFill rotWithShape="1">
          <a:blip r:embed="rId4">
            <a:alphaModFix/>
          </a:blip>
          <a:srcRect b="0" l="0" r="0" t="0"/>
          <a:stretch/>
        </p:blipFill>
        <p:spPr>
          <a:xfrm>
            <a:off x="0" y="0"/>
            <a:ext cx="12192000" cy="68199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pic>
        <p:nvPicPr>
          <p:cNvPr descr="Servicio Nacional de Aprendizaje - SENA | Bogota.gov.co" id="400" name="Google Shape;400;p54"/>
          <p:cNvPicPr preferRelativeResize="0"/>
          <p:nvPr/>
        </p:nvPicPr>
        <p:blipFill rotWithShape="1">
          <a:blip r:embed="rId3">
            <a:alphaModFix/>
          </a:blip>
          <a:srcRect b="0" l="0" r="0" t="0"/>
          <a:stretch/>
        </p:blipFill>
        <p:spPr>
          <a:xfrm>
            <a:off x="11252880" y="216636"/>
            <a:ext cx="651382" cy="636867"/>
          </a:xfrm>
          <a:prstGeom prst="rect">
            <a:avLst/>
          </a:prstGeom>
          <a:noFill/>
          <a:ln>
            <a:noFill/>
          </a:ln>
        </p:spPr>
      </p:pic>
      <p:sp>
        <p:nvSpPr>
          <p:cNvPr id="401" name="Google Shape;401;p54"/>
          <p:cNvSpPr txBox="1"/>
          <p:nvPr/>
        </p:nvSpPr>
        <p:spPr>
          <a:xfrm>
            <a:off x="357384" y="2868334"/>
            <a:ext cx="10615415" cy="560666"/>
          </a:xfrm>
          <a:prstGeom prst="rect">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chemeClr val="dk1"/>
              </a:buClr>
              <a:buSzPts val="6000"/>
              <a:buFont typeface="Calibri"/>
              <a:buNone/>
            </a:pPr>
            <a:r>
              <a:rPr b="1" i="0" lang="es-MX" sz="3600" u="none" cap="none" strike="noStrike">
                <a:solidFill>
                  <a:srgbClr val="000000"/>
                </a:solidFill>
                <a:latin typeface="Work Sans"/>
                <a:ea typeface="Work Sans"/>
                <a:cs typeface="Work Sans"/>
                <a:sym typeface="Work Sans"/>
              </a:rPr>
              <a:t>	15.1 DOCUMENTACIÓN DE CASO DE USO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55"/>
          <p:cNvSpPr txBox="1"/>
          <p:nvPr/>
        </p:nvSpPr>
        <p:spPr>
          <a:xfrm>
            <a:off x="5132439" y="1032386"/>
            <a:ext cx="9094839"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Arial"/>
                <a:ea typeface="Arial"/>
                <a:cs typeface="Arial"/>
                <a:sym typeface="Arial"/>
              </a:rPr>
              <a:t>DOCUMENTACION</a:t>
            </a:r>
            <a:endParaRPr b="0" i="0" sz="1400" u="none" cap="none" strike="noStrike">
              <a:solidFill>
                <a:srgbClr val="000000"/>
              </a:solidFill>
              <a:latin typeface="Arial"/>
              <a:ea typeface="Arial"/>
              <a:cs typeface="Arial"/>
              <a:sym typeface="Arial"/>
            </a:endParaRPr>
          </a:p>
        </p:txBody>
      </p:sp>
      <p:pic>
        <p:nvPicPr>
          <p:cNvPr descr="icono de documento de google 17395386 PNG" id="407" name="Google Shape;407;p55">
            <a:hlinkClick r:id="rId3"/>
          </p:cNvPr>
          <p:cNvPicPr preferRelativeResize="0"/>
          <p:nvPr/>
        </p:nvPicPr>
        <p:blipFill rotWithShape="1">
          <a:blip r:embed="rId4">
            <a:alphaModFix/>
          </a:blip>
          <a:srcRect b="0" l="0" r="0" t="0"/>
          <a:stretch/>
        </p:blipFill>
        <p:spPr>
          <a:xfrm>
            <a:off x="3522366" y="1186274"/>
            <a:ext cx="5147268" cy="5147268"/>
          </a:xfrm>
          <a:prstGeom prst="rect">
            <a:avLst/>
          </a:prstGeom>
          <a:noFill/>
          <a:ln>
            <a:noFill/>
          </a:ln>
        </p:spPr>
      </p:pic>
      <p:pic>
        <p:nvPicPr>
          <p:cNvPr descr="Servicio Nacional de Aprendizaje - SENA | Bogota.gov.co" id="408" name="Google Shape;408;p55"/>
          <p:cNvPicPr preferRelativeResize="0"/>
          <p:nvPr/>
        </p:nvPicPr>
        <p:blipFill rotWithShape="1">
          <a:blip r:embed="rId5">
            <a:alphaModFix/>
          </a:blip>
          <a:srcRect b="0" l="0" r="0" t="0"/>
          <a:stretch/>
        </p:blipFill>
        <p:spPr>
          <a:xfrm>
            <a:off x="11252880" y="216636"/>
            <a:ext cx="651382" cy="636867"/>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pic>
        <p:nvPicPr>
          <p:cNvPr descr="Servicio Nacional de Aprendizaje - SENA | Bogota.gov.co" id="413" name="Google Shape;413;p58"/>
          <p:cNvPicPr preferRelativeResize="0"/>
          <p:nvPr/>
        </p:nvPicPr>
        <p:blipFill rotWithShape="1">
          <a:blip r:embed="rId3">
            <a:alphaModFix/>
          </a:blip>
          <a:srcRect b="0" l="0" r="0" t="0"/>
          <a:stretch/>
        </p:blipFill>
        <p:spPr>
          <a:xfrm>
            <a:off x="11252880" y="216636"/>
            <a:ext cx="651382" cy="636867"/>
          </a:xfrm>
          <a:prstGeom prst="rect">
            <a:avLst/>
          </a:prstGeom>
          <a:noFill/>
          <a:ln>
            <a:noFill/>
          </a:ln>
        </p:spPr>
      </p:pic>
      <p:sp>
        <p:nvSpPr>
          <p:cNvPr id="414" name="Google Shape;414;p58"/>
          <p:cNvSpPr txBox="1"/>
          <p:nvPr/>
        </p:nvSpPr>
        <p:spPr>
          <a:xfrm>
            <a:off x="357384" y="2868334"/>
            <a:ext cx="10615415" cy="560666"/>
          </a:xfrm>
          <a:prstGeom prst="rect">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chemeClr val="dk1"/>
              </a:buClr>
              <a:buSzPts val="6000"/>
              <a:buFont typeface="Calibri"/>
              <a:buNone/>
            </a:pPr>
            <a:r>
              <a:rPr b="1" i="0" lang="es-MX" sz="3600" u="none" cap="none" strike="noStrike">
                <a:solidFill>
                  <a:srgbClr val="000000"/>
                </a:solidFill>
                <a:latin typeface="Work Sans"/>
                <a:ea typeface="Work Sans"/>
                <a:cs typeface="Work Sans"/>
                <a:sym typeface="Work Sans"/>
              </a:rPr>
              <a:t>	16. PLATAFORMA TECNOLÓGICA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graphicFrame>
        <p:nvGraphicFramePr>
          <p:cNvPr id="419" name="Google Shape;419;p59"/>
          <p:cNvGraphicFramePr/>
          <p:nvPr/>
        </p:nvGraphicFramePr>
        <p:xfrm>
          <a:off x="2032000" y="719666"/>
          <a:ext cx="3000000" cy="3000000"/>
        </p:xfrm>
        <a:graphic>
          <a:graphicData uri="http://schemas.openxmlformats.org/drawingml/2006/table">
            <a:tbl>
              <a:tblPr bandRow="1" firstRow="1">
                <a:noFill/>
                <a:tableStyleId>{9E162717-495E-49A1-95A1-FCD24B269607}</a:tableStyleId>
              </a:tblPr>
              <a:tblGrid>
                <a:gridCol w="3811650"/>
                <a:gridCol w="3811650"/>
              </a:tblGrid>
              <a:tr h="451550">
                <a:tc>
                  <a:txBody>
                    <a:bodyPr/>
                    <a:lstStyle/>
                    <a:p>
                      <a:pPr indent="0" lvl="0" marL="0" marR="0" rtl="0" algn="l">
                        <a:lnSpc>
                          <a:spcPct val="100000"/>
                        </a:lnSpc>
                        <a:spcBef>
                          <a:spcPts val="0"/>
                        </a:spcBef>
                        <a:spcAft>
                          <a:spcPts val="0"/>
                        </a:spcAft>
                        <a:buClr>
                          <a:srgbClr val="000000"/>
                        </a:buClr>
                        <a:buSzPts val="1400"/>
                        <a:buFont typeface="Arial"/>
                        <a:buNone/>
                      </a:pPr>
                      <a:r>
                        <a:rPr lang="es-MX" sz="1400" u="none" cap="none" strike="noStrike"/>
                        <a:t>ELEMENTO</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s-MX" sz="1400" u="none" cap="none" strike="noStrike"/>
                        <a:t>TECNOLOGIA</a:t>
                      </a:r>
                      <a:endParaRPr sz="1400" u="none" cap="none" strike="noStrike"/>
                    </a:p>
                  </a:txBody>
                  <a:tcPr marT="45725" marB="45725" marR="91450" marL="91450"/>
                </a:tc>
              </a:tr>
              <a:tr h="451550">
                <a:tc>
                  <a:txBody>
                    <a:bodyPr/>
                    <a:lstStyle/>
                    <a:p>
                      <a:pPr indent="0" lvl="0" marL="0" marR="0" rtl="0" algn="l">
                        <a:lnSpc>
                          <a:spcPct val="100000"/>
                        </a:lnSpc>
                        <a:spcBef>
                          <a:spcPts val="0"/>
                        </a:spcBef>
                        <a:spcAft>
                          <a:spcPts val="0"/>
                        </a:spcAft>
                        <a:buClr>
                          <a:srgbClr val="000000"/>
                        </a:buClr>
                        <a:buSzPts val="1400"/>
                        <a:buFont typeface="Arial"/>
                        <a:buNone/>
                      </a:pPr>
                      <a:r>
                        <a:rPr lang="es-MX" sz="1400" u="none" cap="none" strike="noStrike"/>
                        <a:t>Fronted</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s-MX" sz="1400" u="none" cap="none" strike="noStrike"/>
                        <a:t>HTML, CSS , JAVA SCRIPT</a:t>
                      </a:r>
                      <a:endParaRPr sz="1400" u="none" cap="none" strike="noStrike"/>
                    </a:p>
                  </a:txBody>
                  <a:tcPr marT="45725" marB="45725" marR="91450" marL="91450"/>
                </a:tc>
              </a:tr>
              <a:tr h="451550">
                <a:tc>
                  <a:txBody>
                    <a:bodyPr/>
                    <a:lstStyle/>
                    <a:p>
                      <a:pPr indent="0" lvl="0" marL="0" marR="0" rtl="0" algn="l">
                        <a:lnSpc>
                          <a:spcPct val="100000"/>
                        </a:lnSpc>
                        <a:spcBef>
                          <a:spcPts val="0"/>
                        </a:spcBef>
                        <a:spcAft>
                          <a:spcPts val="0"/>
                        </a:spcAft>
                        <a:buClr>
                          <a:srgbClr val="000000"/>
                        </a:buClr>
                        <a:buSzPts val="1400"/>
                        <a:buFont typeface="Arial"/>
                        <a:buNone/>
                      </a:pPr>
                      <a:r>
                        <a:rPr lang="es-MX" sz="1400" u="none" cap="none" strike="noStrike"/>
                        <a:t>Backend</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s-MX" sz="1400" u="none" cap="none" strike="noStrike"/>
                        <a:t>PHP, j</a:t>
                      </a:r>
                      <a:r>
                        <a:rPr b="0" i="0" lang="es-MX" sz="1400" u="none" cap="none" strike="noStrike">
                          <a:solidFill>
                            <a:srgbClr val="000000"/>
                          </a:solidFill>
                          <a:latin typeface="Arial"/>
                          <a:ea typeface="Arial"/>
                          <a:cs typeface="Arial"/>
                          <a:sym typeface="Arial"/>
                        </a:rPr>
                        <a:t>avaScript </a:t>
                      </a:r>
                      <a:endParaRPr sz="1400" u="none" cap="none" strike="noStrike"/>
                    </a:p>
                  </a:txBody>
                  <a:tcPr marT="45725" marB="45725" marR="91450" marL="91450"/>
                </a:tc>
              </a:tr>
              <a:tr h="451550">
                <a:tc>
                  <a:txBody>
                    <a:bodyPr/>
                    <a:lstStyle/>
                    <a:p>
                      <a:pPr indent="0" lvl="0" marL="0" marR="0" rtl="0" algn="l">
                        <a:lnSpc>
                          <a:spcPct val="100000"/>
                        </a:lnSpc>
                        <a:spcBef>
                          <a:spcPts val="0"/>
                        </a:spcBef>
                        <a:spcAft>
                          <a:spcPts val="0"/>
                        </a:spcAft>
                        <a:buClr>
                          <a:srgbClr val="000000"/>
                        </a:buClr>
                        <a:buSzPts val="1400"/>
                        <a:buFont typeface="Arial"/>
                        <a:buNone/>
                      </a:pPr>
                      <a:r>
                        <a:rPr lang="es-MX" sz="1400" u="none" cap="none" strike="noStrike"/>
                        <a:t>Base de datos</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s-MX" sz="1400" u="none" cap="none" strike="noStrike"/>
                        <a:t>MY SQL</a:t>
                      </a:r>
                      <a:endParaRPr sz="1400" u="none" cap="none" strike="noStrike"/>
                    </a:p>
                  </a:txBody>
                  <a:tcPr marT="45725" marB="45725" marR="91450" marL="91450"/>
                </a:tc>
              </a:tr>
              <a:tr h="451550">
                <a:tc>
                  <a:txBody>
                    <a:bodyPr/>
                    <a:lstStyle/>
                    <a:p>
                      <a:pPr indent="0" lvl="0" marL="0" marR="0" rtl="0" algn="l">
                        <a:lnSpc>
                          <a:spcPct val="100000"/>
                        </a:lnSpc>
                        <a:spcBef>
                          <a:spcPts val="0"/>
                        </a:spcBef>
                        <a:spcAft>
                          <a:spcPts val="0"/>
                        </a:spcAft>
                        <a:buClr>
                          <a:srgbClr val="000000"/>
                        </a:buClr>
                        <a:buSzPts val="1400"/>
                        <a:buFont typeface="Arial"/>
                        <a:buNone/>
                      </a:pPr>
                      <a:r>
                        <a:rPr lang="es-MX" sz="1400" u="none" cap="none" strike="noStrike"/>
                        <a:t>Servidor</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s-MX" sz="1400" u="none" cap="none" strike="noStrike"/>
                        <a:t>APACHE</a:t>
                      </a:r>
                      <a:endParaRPr sz="1400" u="none" cap="none" strike="noStrike"/>
                    </a:p>
                  </a:txBody>
                  <a:tcPr marT="45725" marB="45725" marR="91450" marL="91450"/>
                </a:tc>
              </a:tr>
              <a:tr h="451550">
                <a:tc>
                  <a:txBody>
                    <a:bodyPr/>
                    <a:lstStyle/>
                    <a:p>
                      <a:pPr indent="0" lvl="0" marL="0" marR="0" rtl="0" algn="l">
                        <a:lnSpc>
                          <a:spcPct val="100000"/>
                        </a:lnSpc>
                        <a:spcBef>
                          <a:spcPts val="0"/>
                        </a:spcBef>
                        <a:spcAft>
                          <a:spcPts val="0"/>
                        </a:spcAft>
                        <a:buClr>
                          <a:srgbClr val="000000"/>
                        </a:buClr>
                        <a:buSzPts val="1400"/>
                        <a:buFont typeface="Arial"/>
                        <a:buNone/>
                      </a:pPr>
                      <a:r>
                        <a:rPr lang="es-MX" sz="1400" u="none" cap="none" strike="noStrike"/>
                        <a:t>Sistema operativo</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s-MX" sz="1400" u="none" cap="none" strike="noStrike"/>
                        <a:t>WINDOWS Y ANDROID</a:t>
                      </a:r>
                      <a:endParaRPr sz="1400" u="none" cap="none" strike="noStrike"/>
                    </a:p>
                  </a:txBody>
                  <a:tcPr marT="45725" marB="45725" marR="91450" marL="91450"/>
                </a:tc>
              </a:tr>
              <a:tr h="451550">
                <a:tc>
                  <a:txBody>
                    <a:bodyPr/>
                    <a:lstStyle/>
                    <a:p>
                      <a:pPr indent="0" lvl="0" marL="0" marR="0" rtl="0" algn="l">
                        <a:lnSpc>
                          <a:spcPct val="100000"/>
                        </a:lnSpc>
                        <a:spcBef>
                          <a:spcPts val="0"/>
                        </a:spcBef>
                        <a:spcAft>
                          <a:spcPts val="0"/>
                        </a:spcAft>
                        <a:buClr>
                          <a:srgbClr val="000000"/>
                        </a:buClr>
                        <a:buSzPts val="1400"/>
                        <a:buFont typeface="Arial"/>
                        <a:buNone/>
                      </a:pPr>
                      <a:r>
                        <a:rPr lang="es-MX" sz="1400" u="none" cap="none" strike="noStrike"/>
                        <a:t>Control De versiones</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s-MX" sz="1400" u="none" cap="none" strike="noStrike"/>
                        <a:t>GIT Y GITHUB</a:t>
                      </a:r>
                      <a:endParaRPr sz="1400" u="none" cap="none" strike="noStrike"/>
                    </a:p>
                  </a:txBody>
                  <a:tcPr marT="45725" marB="45725" marR="91450" marL="91450"/>
                </a:tc>
              </a:tr>
            </a:tbl>
          </a:graphicData>
        </a:graphic>
      </p:graphicFrame>
      <p:pic>
        <p:nvPicPr>
          <p:cNvPr descr="Servicio Nacional de Aprendizaje - SENA | Bogota.gov.co" id="420" name="Google Shape;420;p59"/>
          <p:cNvPicPr preferRelativeResize="0"/>
          <p:nvPr/>
        </p:nvPicPr>
        <p:blipFill rotWithShape="1">
          <a:blip r:embed="rId3">
            <a:alphaModFix/>
          </a:blip>
          <a:srcRect b="0" l="0" r="0" t="0"/>
          <a:stretch/>
        </p:blipFill>
        <p:spPr>
          <a:xfrm>
            <a:off x="11252880" y="216636"/>
            <a:ext cx="651382" cy="636867"/>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pic>
        <p:nvPicPr>
          <p:cNvPr descr="Servicio Nacional de Aprendizaje - SENA | Bogota.gov.co" id="425" name="Google Shape;425;g3ed651dca4a_1_12"/>
          <p:cNvPicPr preferRelativeResize="0"/>
          <p:nvPr/>
        </p:nvPicPr>
        <p:blipFill rotWithShape="1">
          <a:blip r:embed="rId3">
            <a:alphaModFix/>
          </a:blip>
          <a:srcRect b="0" l="0" r="0" t="0"/>
          <a:stretch/>
        </p:blipFill>
        <p:spPr>
          <a:xfrm>
            <a:off x="11252880" y="216636"/>
            <a:ext cx="651382" cy="636867"/>
          </a:xfrm>
          <a:prstGeom prst="rect">
            <a:avLst/>
          </a:prstGeom>
          <a:noFill/>
          <a:ln>
            <a:noFill/>
          </a:ln>
        </p:spPr>
      </p:pic>
      <p:sp>
        <p:nvSpPr>
          <p:cNvPr id="426" name="Google Shape;426;g3ed651dca4a_1_12"/>
          <p:cNvSpPr txBox="1"/>
          <p:nvPr/>
        </p:nvSpPr>
        <p:spPr>
          <a:xfrm>
            <a:off x="357384" y="2868334"/>
            <a:ext cx="10615500" cy="560700"/>
          </a:xfrm>
          <a:prstGeom prst="rect">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chemeClr val="dk1"/>
              </a:buClr>
              <a:buSzPts val="6000"/>
              <a:buFont typeface="Calibri"/>
              <a:buNone/>
            </a:pPr>
            <a:r>
              <a:rPr b="1" i="0" lang="es-MX" sz="3600" u="none" cap="none" strike="noStrike">
                <a:solidFill>
                  <a:srgbClr val="000000"/>
                </a:solidFill>
                <a:latin typeface="Work Sans"/>
                <a:ea typeface="Work Sans"/>
                <a:cs typeface="Work Sans"/>
                <a:sym typeface="Work Sans"/>
              </a:rPr>
              <a:t>	17. Ficha técnica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g3ed651dca4a_1_25"/>
          <p:cNvSpPr txBox="1"/>
          <p:nvPr>
            <p:ph idx="1" type="body"/>
          </p:nvPr>
        </p:nvSpPr>
        <p:spPr>
          <a:xfrm>
            <a:off x="9130100" y="1214350"/>
            <a:ext cx="2512500" cy="579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2400"/>
              <a:buNone/>
            </a:pPr>
            <a:r>
              <a:rPr lang="es-MX" sz="1800">
                <a:solidFill>
                  <a:schemeClr val="dk1"/>
                </a:solidFill>
              </a:rPr>
              <a:t>Ficha completa </a:t>
            </a:r>
            <a:endParaRPr sz="1800">
              <a:solidFill>
                <a:schemeClr val="dk1"/>
              </a:solidFill>
            </a:endParaRPr>
          </a:p>
        </p:txBody>
      </p:sp>
      <p:pic>
        <p:nvPicPr>
          <p:cNvPr descr="Servicio Nacional de Aprendizaje - SENA | Bogota.gov.co" id="432" name="Google Shape;432;g3ed651dca4a_1_25"/>
          <p:cNvPicPr preferRelativeResize="0"/>
          <p:nvPr/>
        </p:nvPicPr>
        <p:blipFill rotWithShape="1">
          <a:blip r:embed="rId3">
            <a:alphaModFix/>
          </a:blip>
          <a:srcRect b="0" l="0" r="0" t="0"/>
          <a:stretch/>
        </p:blipFill>
        <p:spPr>
          <a:xfrm>
            <a:off x="11262712" y="314959"/>
            <a:ext cx="651382" cy="636867"/>
          </a:xfrm>
          <a:prstGeom prst="rect">
            <a:avLst/>
          </a:prstGeom>
          <a:noFill/>
          <a:ln>
            <a:noFill/>
          </a:ln>
        </p:spPr>
      </p:pic>
      <p:sp>
        <p:nvSpPr>
          <p:cNvPr id="433" name="Google Shape;433;g3ed651dca4a_1_25"/>
          <p:cNvSpPr txBox="1"/>
          <p:nvPr/>
        </p:nvSpPr>
        <p:spPr>
          <a:xfrm>
            <a:off x="368169" y="455785"/>
            <a:ext cx="8853600" cy="636900"/>
          </a:xfrm>
          <a:prstGeom prst="rect">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chemeClr val="dk1"/>
              </a:buClr>
              <a:buSzPts val="6000"/>
              <a:buFont typeface="Calibri"/>
              <a:buNone/>
            </a:pPr>
            <a:br>
              <a:rPr b="1" i="0" lang="es-MX" sz="4800" u="none" cap="none" strike="noStrike">
                <a:solidFill>
                  <a:schemeClr val="dk1"/>
                </a:solidFill>
                <a:latin typeface="Work Sans"/>
                <a:ea typeface="Work Sans"/>
                <a:cs typeface="Work Sans"/>
                <a:sym typeface="Work Sans"/>
              </a:rPr>
            </a:br>
            <a:br>
              <a:rPr b="1" i="0" lang="es-MX" sz="1100" u="none" cap="none" strike="noStrike">
                <a:solidFill>
                  <a:schemeClr val="dk1"/>
                </a:solidFill>
                <a:latin typeface="Work Sans"/>
                <a:ea typeface="Work Sans"/>
                <a:cs typeface="Work Sans"/>
                <a:sym typeface="Work Sans"/>
              </a:rPr>
            </a:br>
            <a:r>
              <a:rPr b="1" i="0" lang="es-MX" sz="4000" u="none" cap="none" strike="noStrike">
                <a:solidFill>
                  <a:srgbClr val="000000"/>
                </a:solidFill>
                <a:latin typeface="Work Sans"/>
                <a:ea typeface="Work Sans"/>
                <a:cs typeface="Work Sans"/>
                <a:sym typeface="Work Sans"/>
              </a:rPr>
              <a:t>Requisitos del sistema </a:t>
            </a:r>
            <a:endParaRPr b="1" i="0" sz="4000" u="none" cap="none" strike="noStrike">
              <a:solidFill>
                <a:schemeClr val="dk1"/>
              </a:solidFill>
              <a:latin typeface="Work Sans"/>
              <a:ea typeface="Work Sans"/>
              <a:cs typeface="Work Sans"/>
              <a:sym typeface="Work Sans"/>
            </a:endParaRPr>
          </a:p>
        </p:txBody>
      </p:sp>
      <p:graphicFrame>
        <p:nvGraphicFramePr>
          <p:cNvPr id="434" name="Google Shape;434;g3ed651dca4a_1_25"/>
          <p:cNvGraphicFramePr/>
          <p:nvPr/>
        </p:nvGraphicFramePr>
        <p:xfrm>
          <a:off x="368163" y="1388400"/>
          <a:ext cx="3000000" cy="3000000"/>
        </p:xfrm>
        <a:graphic>
          <a:graphicData uri="http://schemas.openxmlformats.org/drawingml/2006/table">
            <a:tbl>
              <a:tblPr bandRow="1">
                <a:noFill/>
                <a:tableStyleId>{1F3786CA-8E7E-46C4-8C7D-C98C2926EA20}</a:tableStyleId>
              </a:tblPr>
              <a:tblGrid>
                <a:gridCol w="1306325"/>
                <a:gridCol w="2387025"/>
                <a:gridCol w="2802675"/>
              </a:tblGrid>
              <a:tr h="284425">
                <a:tc>
                  <a:txBody>
                    <a:bodyPr/>
                    <a:lstStyle/>
                    <a:p>
                      <a:pPr indent="0" lvl="0" marL="0" marR="0" rtl="0" algn="l">
                        <a:lnSpc>
                          <a:spcPct val="115833"/>
                        </a:lnSpc>
                        <a:spcBef>
                          <a:spcPts val="0"/>
                        </a:spcBef>
                        <a:spcAft>
                          <a:spcPts val="0"/>
                        </a:spcAft>
                        <a:buClr>
                          <a:srgbClr val="000000"/>
                        </a:buClr>
                        <a:buSzPts val="1200"/>
                        <a:buFont typeface="Arial"/>
                        <a:buNone/>
                      </a:pPr>
                      <a:r>
                        <a:rPr lang="es-MX" sz="1200" u="none" cap="none" strike="noStrike"/>
                        <a:t>Componente</a:t>
                      </a:r>
                      <a:endParaRPr sz="1200" u="none" cap="none" strike="noStrike"/>
                    </a:p>
                  </a:txBody>
                  <a:tcPr marT="0" marB="0" marR="73025" marL="73025" anchor="ctr"/>
                </a:tc>
                <a:tc>
                  <a:txBody>
                    <a:bodyPr/>
                    <a:lstStyle/>
                    <a:p>
                      <a:pPr indent="0" lvl="0" marL="0" marR="0" rtl="0" algn="l">
                        <a:lnSpc>
                          <a:spcPct val="115833"/>
                        </a:lnSpc>
                        <a:spcBef>
                          <a:spcPts val="0"/>
                        </a:spcBef>
                        <a:spcAft>
                          <a:spcPts val="0"/>
                        </a:spcAft>
                        <a:buClr>
                          <a:srgbClr val="000000"/>
                        </a:buClr>
                        <a:buSzPts val="1200"/>
                        <a:buFont typeface="Arial"/>
                        <a:buNone/>
                      </a:pPr>
                      <a:r>
                        <a:rPr lang="es-MX" sz="1200" u="none" cap="none" strike="noStrike"/>
                        <a:t>Mínimos</a:t>
                      </a:r>
                      <a:endParaRPr sz="1200" u="none" cap="none" strike="noStrike"/>
                    </a:p>
                  </a:txBody>
                  <a:tcPr marT="0" marB="0" marR="73025" marL="73025" anchor="ctr"/>
                </a:tc>
                <a:tc>
                  <a:txBody>
                    <a:bodyPr/>
                    <a:lstStyle/>
                    <a:p>
                      <a:pPr indent="0" lvl="0" marL="0" marR="0" rtl="0" algn="l">
                        <a:lnSpc>
                          <a:spcPct val="115833"/>
                        </a:lnSpc>
                        <a:spcBef>
                          <a:spcPts val="0"/>
                        </a:spcBef>
                        <a:spcAft>
                          <a:spcPts val="0"/>
                        </a:spcAft>
                        <a:buClr>
                          <a:srgbClr val="000000"/>
                        </a:buClr>
                        <a:buSzPts val="1200"/>
                        <a:buFont typeface="Arial"/>
                        <a:buNone/>
                      </a:pPr>
                      <a:r>
                        <a:rPr lang="es-MX" sz="1200" u="none" cap="none" strike="noStrike"/>
                        <a:t>Recomendadas</a:t>
                      </a:r>
                      <a:endParaRPr sz="1200" u="none" cap="none" strike="noStrike"/>
                    </a:p>
                  </a:txBody>
                  <a:tcPr marT="0" marB="0" marR="73025" marL="73025"/>
                </a:tc>
              </a:tr>
              <a:tr h="152400">
                <a:tc>
                  <a:txBody>
                    <a:bodyPr/>
                    <a:lstStyle/>
                    <a:p>
                      <a:pPr indent="0" lvl="0" marL="0" marR="0" rtl="0" algn="l">
                        <a:lnSpc>
                          <a:spcPct val="115833"/>
                        </a:lnSpc>
                        <a:spcBef>
                          <a:spcPts val="0"/>
                        </a:spcBef>
                        <a:spcAft>
                          <a:spcPts val="0"/>
                        </a:spcAft>
                        <a:buClr>
                          <a:srgbClr val="000000"/>
                        </a:buClr>
                        <a:buSzPts val="1200"/>
                        <a:buFont typeface="Arial"/>
                        <a:buNone/>
                      </a:pPr>
                      <a:r>
                        <a:rPr lang="es-MX" sz="1200" u="none" cap="none" strike="noStrike"/>
                        <a:t>Procesador</a:t>
                      </a:r>
                      <a:endParaRPr sz="1200" u="none" cap="none" strike="noStrike"/>
                    </a:p>
                  </a:txBody>
                  <a:tcPr marT="0" marB="0" marR="73025" marL="73025" anchor="ctr"/>
                </a:tc>
                <a:tc>
                  <a:txBody>
                    <a:bodyPr/>
                    <a:lstStyle/>
                    <a:p>
                      <a:pPr indent="0" lvl="0" marL="0" marR="0" rtl="0" algn="l">
                        <a:lnSpc>
                          <a:spcPct val="115833"/>
                        </a:lnSpc>
                        <a:spcBef>
                          <a:spcPts val="0"/>
                        </a:spcBef>
                        <a:spcAft>
                          <a:spcPts val="0"/>
                        </a:spcAft>
                        <a:buClr>
                          <a:srgbClr val="000000"/>
                        </a:buClr>
                        <a:buSzPts val="1200"/>
                        <a:buFont typeface="Arial"/>
                        <a:buNone/>
                      </a:pPr>
                      <a:r>
                        <a:rPr lang="es-MX" sz="1200" u="none" cap="none" strike="noStrike"/>
                        <a:t>Intel Celeron o Pentium de 1 GHz</a:t>
                      </a:r>
                      <a:endParaRPr sz="1200" u="none" cap="none" strike="noStrike"/>
                    </a:p>
                  </a:txBody>
                  <a:tcPr marT="0" marB="0" marR="73025" marL="73025" anchor="ctr"/>
                </a:tc>
                <a:tc>
                  <a:txBody>
                    <a:bodyPr/>
                    <a:lstStyle/>
                    <a:p>
                      <a:pPr indent="0" lvl="0" marL="0" marR="0" rtl="0" algn="l">
                        <a:lnSpc>
                          <a:spcPct val="115833"/>
                        </a:lnSpc>
                        <a:spcBef>
                          <a:spcPts val="0"/>
                        </a:spcBef>
                        <a:spcAft>
                          <a:spcPts val="0"/>
                        </a:spcAft>
                        <a:buClr>
                          <a:srgbClr val="000000"/>
                        </a:buClr>
                        <a:buSzPts val="1200"/>
                        <a:buFont typeface="Arial"/>
                        <a:buNone/>
                      </a:pPr>
                      <a:r>
                        <a:rPr lang="es-MX" sz="1200" u="none" cap="none" strike="noStrike"/>
                        <a:t>Intel core i5</a:t>
                      </a:r>
                      <a:endParaRPr sz="1200" u="none" cap="none" strike="noStrike"/>
                    </a:p>
                  </a:txBody>
                  <a:tcPr marT="0" marB="0" marR="73025" marL="73025"/>
                </a:tc>
              </a:tr>
              <a:tr h="152400">
                <a:tc>
                  <a:txBody>
                    <a:bodyPr/>
                    <a:lstStyle/>
                    <a:p>
                      <a:pPr indent="0" lvl="0" marL="0" marR="0" rtl="0" algn="l">
                        <a:lnSpc>
                          <a:spcPct val="115833"/>
                        </a:lnSpc>
                        <a:spcBef>
                          <a:spcPts val="0"/>
                        </a:spcBef>
                        <a:spcAft>
                          <a:spcPts val="0"/>
                        </a:spcAft>
                        <a:buClr>
                          <a:srgbClr val="000000"/>
                        </a:buClr>
                        <a:buSzPts val="1200"/>
                        <a:buFont typeface="Arial"/>
                        <a:buNone/>
                      </a:pPr>
                      <a:r>
                        <a:rPr lang="es-MX" sz="1200" u="none" cap="none" strike="noStrike"/>
                        <a:t>Memoria RAM</a:t>
                      </a:r>
                      <a:endParaRPr sz="1200" u="none" cap="none" strike="noStrike"/>
                    </a:p>
                  </a:txBody>
                  <a:tcPr marT="0" marB="0" marR="73025" marL="73025" anchor="ctr"/>
                </a:tc>
                <a:tc>
                  <a:txBody>
                    <a:bodyPr/>
                    <a:lstStyle/>
                    <a:p>
                      <a:pPr indent="0" lvl="0" marL="0" marR="0" rtl="0" algn="l">
                        <a:lnSpc>
                          <a:spcPct val="115833"/>
                        </a:lnSpc>
                        <a:spcBef>
                          <a:spcPts val="0"/>
                        </a:spcBef>
                        <a:spcAft>
                          <a:spcPts val="0"/>
                        </a:spcAft>
                        <a:buClr>
                          <a:srgbClr val="000000"/>
                        </a:buClr>
                        <a:buSzPts val="1200"/>
                        <a:buFont typeface="Arial"/>
                        <a:buNone/>
                      </a:pPr>
                      <a:r>
                        <a:rPr lang="es-MX" sz="1200" u="none" cap="none" strike="noStrike"/>
                        <a:t>1 GB mínimo</a:t>
                      </a:r>
                      <a:endParaRPr sz="1200" u="none" cap="none" strike="noStrike"/>
                    </a:p>
                  </a:txBody>
                  <a:tcPr marT="0" marB="0" marR="73025" marL="73025" anchor="ctr"/>
                </a:tc>
                <a:tc>
                  <a:txBody>
                    <a:bodyPr/>
                    <a:lstStyle/>
                    <a:p>
                      <a:pPr indent="0" lvl="0" marL="0" marR="0" rtl="0" algn="l">
                        <a:lnSpc>
                          <a:spcPct val="115833"/>
                        </a:lnSpc>
                        <a:spcBef>
                          <a:spcPts val="0"/>
                        </a:spcBef>
                        <a:spcAft>
                          <a:spcPts val="0"/>
                        </a:spcAft>
                        <a:buClr>
                          <a:srgbClr val="000000"/>
                        </a:buClr>
                        <a:buSzPts val="1200"/>
                        <a:buFont typeface="Arial"/>
                        <a:buNone/>
                      </a:pPr>
                      <a:r>
                        <a:rPr lang="es-MX" sz="1200" u="none" cap="none" strike="noStrike"/>
                        <a:t>4 GB o Superior</a:t>
                      </a:r>
                      <a:endParaRPr sz="1200" u="none" cap="none" strike="noStrike"/>
                    </a:p>
                  </a:txBody>
                  <a:tcPr marT="0" marB="0" marR="73025" marL="73025"/>
                </a:tc>
              </a:tr>
              <a:tr h="152400">
                <a:tc>
                  <a:txBody>
                    <a:bodyPr/>
                    <a:lstStyle/>
                    <a:p>
                      <a:pPr indent="0" lvl="0" marL="0" marR="0" rtl="0" algn="l">
                        <a:lnSpc>
                          <a:spcPct val="115833"/>
                        </a:lnSpc>
                        <a:spcBef>
                          <a:spcPts val="0"/>
                        </a:spcBef>
                        <a:spcAft>
                          <a:spcPts val="0"/>
                        </a:spcAft>
                        <a:buClr>
                          <a:srgbClr val="000000"/>
                        </a:buClr>
                        <a:buSzPts val="1200"/>
                        <a:buFont typeface="Arial"/>
                        <a:buNone/>
                      </a:pPr>
                      <a:r>
                        <a:rPr lang="es-MX" sz="1200" u="none" cap="none" strike="noStrike"/>
                        <a:t>Disco Duro</a:t>
                      </a:r>
                      <a:endParaRPr sz="1200" u="none" cap="none" strike="noStrike"/>
                    </a:p>
                  </a:txBody>
                  <a:tcPr marT="0" marB="0" marR="73025" marL="73025" anchor="ctr"/>
                </a:tc>
                <a:tc>
                  <a:txBody>
                    <a:bodyPr/>
                    <a:lstStyle/>
                    <a:p>
                      <a:pPr indent="0" lvl="0" marL="0" marR="0" rtl="0" algn="l">
                        <a:lnSpc>
                          <a:spcPct val="115833"/>
                        </a:lnSpc>
                        <a:spcBef>
                          <a:spcPts val="0"/>
                        </a:spcBef>
                        <a:spcAft>
                          <a:spcPts val="0"/>
                        </a:spcAft>
                        <a:buClr>
                          <a:srgbClr val="000000"/>
                        </a:buClr>
                        <a:buSzPts val="1200"/>
                        <a:buFont typeface="Arial"/>
                        <a:buNone/>
                      </a:pPr>
                      <a:r>
                        <a:rPr lang="es-MX" sz="1200" u="none" cap="none" strike="noStrike"/>
                        <a:t>1.5 GB disponibles</a:t>
                      </a:r>
                      <a:endParaRPr sz="1200" u="none" cap="none" strike="noStrike"/>
                    </a:p>
                  </a:txBody>
                  <a:tcPr marT="0" marB="0" marR="73025" marL="73025" anchor="ctr"/>
                </a:tc>
                <a:tc>
                  <a:txBody>
                    <a:bodyPr/>
                    <a:lstStyle/>
                    <a:p>
                      <a:pPr indent="0" lvl="0" marL="0" marR="0" rtl="0" algn="l">
                        <a:lnSpc>
                          <a:spcPct val="115833"/>
                        </a:lnSpc>
                        <a:spcBef>
                          <a:spcPts val="0"/>
                        </a:spcBef>
                        <a:spcAft>
                          <a:spcPts val="0"/>
                        </a:spcAft>
                        <a:buClr>
                          <a:srgbClr val="000000"/>
                        </a:buClr>
                        <a:buSzPts val="1200"/>
                        <a:buFont typeface="Arial"/>
                        <a:buNone/>
                      </a:pPr>
                      <a:r>
                        <a:rPr lang="es-MX" sz="1200" u="none" cap="none" strike="noStrike"/>
                        <a:t>240GB mínimo </a:t>
                      </a:r>
                      <a:endParaRPr sz="1200" u="none" cap="none" strike="noStrike"/>
                    </a:p>
                  </a:txBody>
                  <a:tcPr marT="0" marB="0" marR="73025" marL="73025"/>
                </a:tc>
              </a:tr>
              <a:tr h="35550">
                <a:tc>
                  <a:txBody>
                    <a:bodyPr/>
                    <a:lstStyle/>
                    <a:p>
                      <a:pPr indent="0" lvl="0" marL="0" marR="0" rtl="0" algn="l">
                        <a:lnSpc>
                          <a:spcPct val="115833"/>
                        </a:lnSpc>
                        <a:spcBef>
                          <a:spcPts val="0"/>
                        </a:spcBef>
                        <a:spcAft>
                          <a:spcPts val="0"/>
                        </a:spcAft>
                        <a:buClr>
                          <a:srgbClr val="000000"/>
                        </a:buClr>
                        <a:buSzPts val="1200"/>
                        <a:buFont typeface="Arial"/>
                        <a:buNone/>
                      </a:pPr>
                      <a:r>
                        <a:rPr lang="es-MX" sz="1200" u="none" cap="none" strike="noStrike"/>
                        <a:t>Monitor</a:t>
                      </a:r>
                      <a:endParaRPr sz="1200" u="none" cap="none" strike="noStrike"/>
                    </a:p>
                  </a:txBody>
                  <a:tcPr marT="0" marB="0" marR="73025" marL="73025" anchor="ctr"/>
                </a:tc>
                <a:tc>
                  <a:txBody>
                    <a:bodyPr/>
                    <a:lstStyle/>
                    <a:p>
                      <a:pPr indent="0" lvl="0" marL="0" marR="0" rtl="0" algn="l">
                        <a:lnSpc>
                          <a:spcPct val="115833"/>
                        </a:lnSpc>
                        <a:spcBef>
                          <a:spcPts val="0"/>
                        </a:spcBef>
                        <a:spcAft>
                          <a:spcPts val="0"/>
                        </a:spcAft>
                        <a:buClr>
                          <a:srgbClr val="000000"/>
                        </a:buClr>
                        <a:buSzPts val="1200"/>
                        <a:buFont typeface="Arial"/>
                        <a:buNone/>
                      </a:pPr>
                      <a:r>
                        <a:rPr lang="es-MX" sz="1200" u="none" cap="none" strike="noStrike"/>
                        <a:t>Resolución 1920 x 1080</a:t>
                      </a:r>
                      <a:endParaRPr sz="1200" u="none" cap="none" strike="noStrike"/>
                    </a:p>
                  </a:txBody>
                  <a:tcPr marT="0" marB="0" marR="73025" marL="73025" anchor="ctr"/>
                </a:tc>
                <a:tc>
                  <a:txBody>
                    <a:bodyPr/>
                    <a:lstStyle/>
                    <a:p>
                      <a:pPr indent="0" lvl="0" marL="0" marR="0" rtl="0" algn="l">
                        <a:lnSpc>
                          <a:spcPct val="115833"/>
                        </a:lnSpc>
                        <a:spcBef>
                          <a:spcPts val="0"/>
                        </a:spcBef>
                        <a:spcAft>
                          <a:spcPts val="0"/>
                        </a:spcAft>
                        <a:buClr>
                          <a:srgbClr val="000000"/>
                        </a:buClr>
                        <a:buSzPts val="1200"/>
                        <a:buFont typeface="Arial"/>
                        <a:buNone/>
                      </a:pPr>
                      <a:r>
                        <a:rPr lang="es-MX" sz="1200" u="none" cap="none" strike="noStrike"/>
                        <a:t>(2560x1440) </a:t>
                      </a:r>
                      <a:endParaRPr sz="1200" u="none" cap="none" strike="noStrike"/>
                    </a:p>
                  </a:txBody>
                  <a:tcPr marT="0" marB="0" marR="73025" marL="73025"/>
                </a:tc>
              </a:tr>
              <a:tr h="152400">
                <a:tc>
                  <a:txBody>
                    <a:bodyPr/>
                    <a:lstStyle/>
                    <a:p>
                      <a:pPr indent="0" lvl="0" marL="0" marR="0" rtl="0" algn="l">
                        <a:lnSpc>
                          <a:spcPct val="115833"/>
                        </a:lnSpc>
                        <a:spcBef>
                          <a:spcPts val="0"/>
                        </a:spcBef>
                        <a:spcAft>
                          <a:spcPts val="0"/>
                        </a:spcAft>
                        <a:buClr>
                          <a:srgbClr val="000000"/>
                        </a:buClr>
                        <a:buSzPts val="1200"/>
                        <a:buFont typeface="Arial"/>
                        <a:buNone/>
                      </a:pPr>
                      <a:r>
                        <a:rPr lang="es-MX" sz="1200" u="none" cap="none" strike="noStrike"/>
                        <a:t>Conexión</a:t>
                      </a:r>
                      <a:endParaRPr sz="1200" u="none" cap="none" strike="noStrike"/>
                    </a:p>
                  </a:txBody>
                  <a:tcPr marT="0" marB="0" marR="73025" marL="73025" anchor="ctr"/>
                </a:tc>
                <a:tc>
                  <a:txBody>
                    <a:bodyPr/>
                    <a:lstStyle/>
                    <a:p>
                      <a:pPr indent="0" lvl="0" marL="0" marR="0" rtl="0" algn="l">
                        <a:lnSpc>
                          <a:spcPct val="115833"/>
                        </a:lnSpc>
                        <a:spcBef>
                          <a:spcPts val="0"/>
                        </a:spcBef>
                        <a:spcAft>
                          <a:spcPts val="0"/>
                        </a:spcAft>
                        <a:buClr>
                          <a:srgbClr val="000000"/>
                        </a:buClr>
                        <a:buSzPts val="1200"/>
                        <a:buFont typeface="Arial"/>
                        <a:buNone/>
                      </a:pPr>
                      <a:r>
                        <a:rPr lang="es-MX" sz="1200" u="none" cap="none" strike="noStrike"/>
                        <a:t>Acceso a Internet</a:t>
                      </a:r>
                      <a:endParaRPr sz="1200" u="none" cap="none" strike="noStrike"/>
                    </a:p>
                  </a:txBody>
                  <a:tcPr marT="0" marB="0" marR="73025" marL="73025" anchor="ctr"/>
                </a:tc>
                <a:tc>
                  <a:txBody>
                    <a:bodyPr/>
                    <a:lstStyle/>
                    <a:p>
                      <a:pPr indent="0" lvl="0" marL="0" marR="0" rtl="0" algn="l">
                        <a:lnSpc>
                          <a:spcPct val="100000"/>
                        </a:lnSpc>
                        <a:spcBef>
                          <a:spcPts val="0"/>
                        </a:spcBef>
                        <a:spcAft>
                          <a:spcPts val="0"/>
                        </a:spcAft>
                        <a:buClr>
                          <a:srgbClr val="000000"/>
                        </a:buClr>
                        <a:buSzPts val="1200"/>
                        <a:buFont typeface="Arial"/>
                        <a:buNone/>
                      </a:pPr>
                      <a:r>
                        <a:rPr lang="es-MX" sz="1200" u="none" cap="none" strike="noStrike">
                          <a:solidFill>
                            <a:srgbClr val="0F1115"/>
                          </a:solidFill>
                        </a:rPr>
                        <a:t>5 Mbps o superior</a:t>
                      </a:r>
                      <a:endParaRPr sz="1200" u="none" cap="none" strike="noStrike"/>
                    </a:p>
                  </a:txBody>
                  <a:tcPr marT="0" marB="0" marR="73025" marL="73025"/>
                </a:tc>
              </a:tr>
              <a:tr h="152400">
                <a:tc>
                  <a:txBody>
                    <a:bodyPr/>
                    <a:lstStyle/>
                    <a:p>
                      <a:pPr indent="0" lvl="0" marL="0" marR="0" rtl="0" algn="l">
                        <a:lnSpc>
                          <a:spcPct val="115833"/>
                        </a:lnSpc>
                        <a:spcBef>
                          <a:spcPts val="0"/>
                        </a:spcBef>
                        <a:spcAft>
                          <a:spcPts val="0"/>
                        </a:spcAft>
                        <a:buClr>
                          <a:srgbClr val="000000"/>
                        </a:buClr>
                        <a:buSzPts val="1200"/>
                        <a:buFont typeface="Arial"/>
                        <a:buNone/>
                      </a:pPr>
                      <a:r>
                        <a:rPr lang="es-MX" sz="1200" u="none" cap="none" strike="noStrike"/>
                        <a:t>Almacenamiento</a:t>
                      </a:r>
                      <a:endParaRPr sz="1200" u="none" cap="none" strike="noStrike"/>
                    </a:p>
                  </a:txBody>
                  <a:tcPr marT="0" marB="0" marR="73025" marL="73025" anchor="ctr"/>
                </a:tc>
                <a:tc>
                  <a:txBody>
                    <a:bodyPr/>
                    <a:lstStyle/>
                    <a:p>
                      <a:pPr indent="0" lvl="0" marL="0" marR="0" rtl="0" algn="l">
                        <a:lnSpc>
                          <a:spcPct val="115833"/>
                        </a:lnSpc>
                        <a:spcBef>
                          <a:spcPts val="0"/>
                        </a:spcBef>
                        <a:spcAft>
                          <a:spcPts val="0"/>
                        </a:spcAft>
                        <a:buClr>
                          <a:srgbClr val="000000"/>
                        </a:buClr>
                        <a:buSzPts val="1200"/>
                        <a:buFont typeface="Arial"/>
                        <a:buNone/>
                      </a:pPr>
                      <a:r>
                        <a:rPr lang="es-MX" sz="1200" u="none" cap="none" strike="noStrike"/>
                        <a:t>500 MB</a:t>
                      </a:r>
                      <a:endParaRPr sz="1200" u="none" cap="none" strike="noStrike"/>
                    </a:p>
                  </a:txBody>
                  <a:tcPr marT="0" marB="0" marR="73025" marL="73025" anchor="ctr"/>
                </a:tc>
                <a:tc>
                  <a:txBody>
                    <a:bodyPr/>
                    <a:lstStyle/>
                    <a:p>
                      <a:pPr indent="0" lvl="0" marL="0" marR="0" rtl="0" algn="l">
                        <a:lnSpc>
                          <a:spcPct val="115833"/>
                        </a:lnSpc>
                        <a:spcBef>
                          <a:spcPts val="0"/>
                        </a:spcBef>
                        <a:spcAft>
                          <a:spcPts val="0"/>
                        </a:spcAft>
                        <a:buClr>
                          <a:srgbClr val="000000"/>
                        </a:buClr>
                        <a:buSzPts val="1200"/>
                        <a:buFont typeface="Arial"/>
                        <a:buNone/>
                      </a:pPr>
                      <a:r>
                        <a:rPr lang="es-MX" sz="1200" u="none" cap="none" strike="noStrike"/>
                        <a:t>256 GB</a:t>
                      </a:r>
                      <a:endParaRPr sz="1200" u="none" cap="none" strike="noStrike"/>
                    </a:p>
                  </a:txBody>
                  <a:tcPr marT="0" marB="0" marR="73025" marL="73025"/>
                </a:tc>
              </a:tr>
            </a:tbl>
          </a:graphicData>
        </a:graphic>
      </p:graphicFrame>
      <p:pic>
        <p:nvPicPr>
          <p:cNvPr id="435" name="Google Shape;435;g3ed651dca4a_1_25">
            <a:hlinkClick r:id="rId4"/>
          </p:cNvPr>
          <p:cNvPicPr preferRelativeResize="0"/>
          <p:nvPr/>
        </p:nvPicPr>
        <p:blipFill rotWithShape="1">
          <a:blip r:embed="rId5">
            <a:alphaModFix/>
          </a:blip>
          <a:srcRect b="0" l="0" r="0" t="0"/>
          <a:stretch/>
        </p:blipFill>
        <p:spPr>
          <a:xfrm>
            <a:off x="8784225" y="1794250"/>
            <a:ext cx="2269025" cy="299280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pic>
        <p:nvPicPr>
          <p:cNvPr descr="Servicio Nacional de Aprendizaje - SENA | Bogota.gov.co" id="440" name="Google Shape;440;g3ed651dca4a_1_50"/>
          <p:cNvPicPr preferRelativeResize="0"/>
          <p:nvPr/>
        </p:nvPicPr>
        <p:blipFill rotWithShape="1">
          <a:blip r:embed="rId3">
            <a:alphaModFix/>
          </a:blip>
          <a:srcRect b="0" l="0" r="0" t="0"/>
          <a:stretch/>
        </p:blipFill>
        <p:spPr>
          <a:xfrm>
            <a:off x="11252880" y="216636"/>
            <a:ext cx="651382" cy="636867"/>
          </a:xfrm>
          <a:prstGeom prst="rect">
            <a:avLst/>
          </a:prstGeom>
          <a:noFill/>
          <a:ln>
            <a:noFill/>
          </a:ln>
        </p:spPr>
      </p:pic>
      <p:sp>
        <p:nvSpPr>
          <p:cNvPr id="441" name="Google Shape;441;g3ed651dca4a_1_50"/>
          <p:cNvSpPr txBox="1"/>
          <p:nvPr/>
        </p:nvSpPr>
        <p:spPr>
          <a:xfrm>
            <a:off x="788250" y="2868300"/>
            <a:ext cx="10615500" cy="560700"/>
          </a:xfrm>
          <a:prstGeom prst="rect">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chemeClr val="dk1"/>
              </a:buClr>
              <a:buSzPts val="6000"/>
              <a:buFont typeface="Calibri"/>
              <a:buNone/>
            </a:pPr>
            <a:r>
              <a:rPr b="1" i="0" lang="es-MX" sz="3600" u="none" cap="none" strike="noStrike">
                <a:solidFill>
                  <a:srgbClr val="000000"/>
                </a:solidFill>
                <a:latin typeface="Work Sans"/>
                <a:ea typeface="Work Sans"/>
                <a:cs typeface="Work Sans"/>
                <a:sym typeface="Work Sans"/>
              </a:rPr>
              <a:t>	17.1 Diagrama de despliegue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pic>
        <p:nvPicPr>
          <p:cNvPr descr="Servicio Nacional de Aprendizaje - SENA | Bogota.gov.co" id="447" name="Google Shape;447;g3ed651dca4a_1_55"/>
          <p:cNvPicPr preferRelativeResize="0"/>
          <p:nvPr/>
        </p:nvPicPr>
        <p:blipFill rotWithShape="1">
          <a:blip r:embed="rId3">
            <a:alphaModFix/>
          </a:blip>
          <a:srcRect b="0" l="0" r="0" t="0"/>
          <a:stretch/>
        </p:blipFill>
        <p:spPr>
          <a:xfrm>
            <a:off x="11252880" y="216636"/>
            <a:ext cx="651382" cy="636867"/>
          </a:xfrm>
          <a:prstGeom prst="rect">
            <a:avLst/>
          </a:prstGeom>
          <a:noFill/>
          <a:ln>
            <a:noFill/>
          </a:ln>
        </p:spPr>
      </p:pic>
      <p:pic>
        <p:nvPicPr>
          <p:cNvPr id="448" name="Google Shape;448;g3ed651dca4a_1_55" title="Diagrama de Despliegue.jpg">
            <a:hlinkClick r:id="rId4"/>
          </p:cNvPr>
          <p:cNvPicPr preferRelativeResize="0"/>
          <p:nvPr/>
        </p:nvPicPr>
        <p:blipFill rotWithShape="1">
          <a:blip r:embed="rId5">
            <a:alphaModFix/>
          </a:blip>
          <a:srcRect b="0" l="0" r="0" t="0"/>
          <a:stretch/>
        </p:blipFill>
        <p:spPr>
          <a:xfrm>
            <a:off x="259725" y="1857050"/>
            <a:ext cx="11672550" cy="373315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g3fb872700b3_0_0"/>
          <p:cNvSpPr txBox="1"/>
          <p:nvPr/>
        </p:nvSpPr>
        <p:spPr>
          <a:xfrm>
            <a:off x="3474720" y="2782669"/>
            <a:ext cx="6803136"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MX" sz="3600" u="none" cap="none" strike="noStrike">
                <a:solidFill>
                  <a:srgbClr val="000000"/>
                </a:solidFill>
                <a:latin typeface="Work Sans"/>
                <a:ea typeface="Work Sans"/>
                <a:cs typeface="Work Sans"/>
                <a:sym typeface="Work Sans"/>
              </a:rPr>
              <a:t>17.2 Sentencias SQL</a:t>
            </a:r>
            <a:endParaRPr b="1" i="0" sz="3600" u="none" cap="none" strike="noStrike">
              <a:solidFill>
                <a:srgbClr val="000000"/>
              </a:solidFill>
              <a:latin typeface="Work Sans"/>
              <a:ea typeface="Work Sans"/>
              <a:cs typeface="Work Sans"/>
              <a:sym typeface="Work Sans"/>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pic>
        <p:nvPicPr>
          <p:cNvPr id="459" name="Google Shape;459;p46">
            <a:hlinkClick r:id="rId3"/>
          </p:cNvPr>
          <p:cNvPicPr preferRelativeResize="0"/>
          <p:nvPr/>
        </p:nvPicPr>
        <p:blipFill rotWithShape="1">
          <a:blip r:embed="rId4">
            <a:alphaModFix/>
          </a:blip>
          <a:srcRect b="0" l="0" r="0" t="0"/>
          <a:stretch/>
        </p:blipFill>
        <p:spPr>
          <a:xfrm>
            <a:off x="3763467" y="1188716"/>
            <a:ext cx="4665065" cy="4480561"/>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63" name="Shape 463"/>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2026-02-23T14:47:00Z</dcterms:created>
  <dc:creator>Jorge Enrique Pedraza Sanchez</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299739c-ad3d-4908-806e-4d91151a6e13_Enabled">
    <vt:lpwstr>true</vt:lpwstr>
  </property>
  <property fmtid="{D5CDD505-2E9C-101B-9397-08002B2CF9AE}" pid="3" name="MSIP_Label_1299739c-ad3d-4908-806e-4d91151a6e13_Method">
    <vt:lpwstr>Standard</vt:lpwstr>
  </property>
  <property fmtid="{D5CDD505-2E9C-101B-9397-08002B2CF9AE}" pid="4" name="MSIP_Label_1299739c-ad3d-4908-806e-4d91151a6e13_Name">
    <vt:lpwstr>All Employees (Unrestricted)</vt:lpwstr>
  </property>
  <property fmtid="{D5CDD505-2E9C-101B-9397-08002B2CF9AE}" pid="5" name="MSIP_Label_1299739c-ad3d-4908-806e-4d91151a6e13_SiteId">
    <vt:lpwstr>cbc2c381-2f2e-4d93-91d1-506c9316ace7</vt:lpwstr>
  </property>
  <property fmtid="{D5CDD505-2E9C-101B-9397-08002B2CF9AE}" pid="6" name="MSIP_Label_1299739c-ad3d-4908-806e-4d91151a6e13_ContentBits">
    <vt:lpwstr>0</vt:lpwstr>
  </property>
  <property fmtid="{D5CDD505-2E9C-101B-9397-08002B2CF9AE}" pid="7" name="MSIP_Label_1299739c-ad3d-4908-806e-4d91151a6e13_SetDate">
    <vt:lpwstr>2022-08-12T19:17:55Z</vt:lpwstr>
  </property>
  <property fmtid="{D5CDD505-2E9C-101B-9397-08002B2CF9AE}" pid="8" name="MSIP_Label_1299739c-ad3d-4908-806e-4d91151a6e13_ActionId">
    <vt:lpwstr>8c6bc714-34a9-4b82-914e-50b1377a2da4</vt:lpwstr>
  </property>
  <property fmtid="{D5CDD505-2E9C-101B-9397-08002B2CF9AE}" pid="9" name="ICV">
    <vt:lpwstr>AE9F2D10B67F4E72B60DF3F605D63AAD_12</vt:lpwstr>
  </property>
  <property fmtid="{D5CDD505-2E9C-101B-9397-08002B2CF9AE}" pid="10" name="KSOProductBuildVer">
    <vt:lpwstr>2058-12.2.0.23196</vt:lpwstr>
  </property>
</Properties>
</file>