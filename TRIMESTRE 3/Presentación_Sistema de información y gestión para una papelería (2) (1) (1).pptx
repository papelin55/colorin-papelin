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embeddedFontLst>
    <p:embeddedFont>
      <p:font typeface="Cabin" panose="020B0604020202020204" charset="0"/>
      <p:regular r:id="rId56"/>
      <p:bold r:id="rId57"/>
      <p:italic r:id="rId58"/>
      <p:boldItalic r:id="rId59"/>
    </p:embeddedFont>
    <p:embeddedFont>
      <p:font typeface="Work Sans" pitchFamily="2"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68">
          <p15:clr>
            <a:srgbClr val="A4A3A4"/>
          </p15:clr>
        </p15:guide>
        <p15:guide id="2" pos="3840">
          <p15:clr>
            <a:srgbClr val="A4A3A4"/>
          </p15:clr>
        </p15:guide>
        <p15:guide id="3" orient="horz" pos="187">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8" roundtripDataSignature="AMtx7mj/9IBlrekUlos11xFxzvBU+zmJE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E162717-495E-49A1-95A1-FCD24B269607}">
  <a:tblStyle styleId="{9E162717-495E-49A1-95A1-FCD24B26960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F3786CA-8E7E-46C4-8C7D-C98C2926EA20}" styleName="Table_1">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568"/>
        <p:guide pos="3840"/>
        <p:guide orient="horz" pos="1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font" Target="fonts/font8.fntdata"/><Relationship Id="rId68" Type="http://customschemas.google.com/relationships/presentationmetadata" Target="meta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79" name="Google Shape;7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85" name="Google Shape;8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13" name="Google Shape;11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20" name="Google Shape;12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6" name="Google Shape;14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52" name="Google Shape;15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58" name="Google Shape;15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2" name="Google Shape;17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2" name="Google Shape;20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41" name="Google Shape;24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63" name="Google Shape;26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75" name="Google Shape;27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81" name="Google Shape;28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90" name="Google Shape;29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99" name="Google Shape;29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307" name="Google Shape;307;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316" name="Google Shape;31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324" name="Google Shape;32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0" name="Google Shape;340;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2" name="Google Shape;35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7" name="Google Shape;357;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2" name="Google Shape;36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1" name="Google Shape;411;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7" name="Google Shape;417;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ed651dca4a_1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g3ed651dca4a_1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ed651dca4a_1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9" name="Google Shape;429;g3ed651dca4a_1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ed651dca4a_1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8" name="Google Shape;438;g3ed651dca4a_1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ed651dca4a_1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g3ed651dca4a_1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g3ed651dca4a_1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MX"/>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fb872700b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g3fb872700b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g3fb872700b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MX"/>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62" name="Google Shape;4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5"/>
        <p:cNvGrpSpPr/>
        <p:nvPr/>
      </p:nvGrpSpPr>
      <p:grpSpPr>
        <a:xfrm>
          <a:off x="0" y="0"/>
          <a:ext cx="0" cy="0"/>
          <a:chOff x="0" y="0"/>
          <a:chExt cx="0" cy="0"/>
        </a:xfrm>
      </p:grpSpPr>
      <p:sp>
        <p:nvSpPr>
          <p:cNvPr id="16" name="Google Shape;1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9"/>
        <p:cNvGrpSpPr/>
        <p:nvPr/>
      </p:nvGrpSpPr>
      <p:grpSpPr>
        <a:xfrm>
          <a:off x="0" y="0"/>
          <a:ext cx="0" cy="0"/>
          <a:chOff x="0" y="0"/>
          <a:chExt cx="0" cy="0"/>
        </a:xfrm>
      </p:grpSpPr>
      <p:sp>
        <p:nvSpPr>
          <p:cNvPr id="20" name="Google Shape;20;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2" name="Google Shape;2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5"/>
        <p:cNvGrpSpPr/>
        <p:nvPr/>
      </p:nvGrpSpPr>
      <p:grpSpPr>
        <a:xfrm>
          <a:off x="0" y="0"/>
          <a:ext cx="0" cy="0"/>
          <a:chOff x="0" y="0"/>
          <a:chExt cx="0" cy="0"/>
        </a:xfrm>
      </p:grpSpPr>
      <p:sp>
        <p:nvSpPr>
          <p:cNvPr id="26" name="Google Shape;2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2"/>
        <p:cNvGrpSpPr/>
        <p:nvPr/>
      </p:nvGrpSpPr>
      <p:grpSpPr>
        <a:xfrm>
          <a:off x="0" y="0"/>
          <a:ext cx="0" cy="0"/>
          <a:chOff x="0" y="0"/>
          <a:chExt cx="0" cy="0"/>
        </a:xfrm>
      </p:grpSpPr>
      <p:sp>
        <p:nvSpPr>
          <p:cNvPr id="33" name="Google Shape;33;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1"/>
        <p:cNvGrpSpPr/>
        <p:nvPr/>
      </p:nvGrpSpPr>
      <p:grpSpPr>
        <a:xfrm>
          <a:off x="0" y="0"/>
          <a:ext cx="0" cy="0"/>
          <a:chOff x="0" y="0"/>
          <a:chExt cx="0" cy="0"/>
        </a:xfrm>
      </p:grpSpPr>
      <p:sp>
        <p:nvSpPr>
          <p:cNvPr id="42" name="Google Shape;4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46"/>
        <p:cNvGrpSpPr/>
        <p:nvPr/>
      </p:nvGrpSpPr>
      <p:grpSpPr>
        <a:xfrm>
          <a:off x="0" y="0"/>
          <a:ext cx="0" cy="0"/>
          <a:chOff x="0" y="0"/>
          <a:chExt cx="0" cy="0"/>
        </a:xfrm>
      </p:grpSpPr>
      <p:sp>
        <p:nvSpPr>
          <p:cNvPr id="47" name="Google Shape;47;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53"/>
        <p:cNvGrpSpPr/>
        <p:nvPr/>
      </p:nvGrpSpPr>
      <p:grpSpPr>
        <a:xfrm>
          <a:off x="0" y="0"/>
          <a:ext cx="0" cy="0"/>
          <a:chOff x="0" y="0"/>
          <a:chExt cx="0" cy="0"/>
        </a:xfrm>
      </p:grpSpPr>
      <p:sp>
        <p:nvSpPr>
          <p:cNvPr id="54" name="Google Shape;54;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0"/>
          <p:cNvSpPr>
            <a:spLocks noGrp="1"/>
          </p:cNvSpPr>
          <p:nvPr>
            <p:ph type="pic" idx="2"/>
          </p:nvPr>
        </p:nvSpPr>
        <p:spPr>
          <a:xfrm>
            <a:off x="5183188" y="987425"/>
            <a:ext cx="6172200" cy="4873625"/>
          </a:xfrm>
          <a:prstGeom prst="rect">
            <a:avLst/>
          </a:prstGeom>
          <a:noFill/>
          <a:ln>
            <a:noFill/>
          </a:ln>
        </p:spPr>
      </p:sp>
      <p:sp>
        <p:nvSpPr>
          <p:cNvPr id="56" name="Google Shape;56;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0"/>
        <p:cNvGrpSpPr/>
        <p:nvPr/>
      </p:nvGrpSpPr>
      <p:grpSpPr>
        <a:xfrm>
          <a:off x="0" y="0"/>
          <a:ext cx="0" cy="0"/>
          <a:chOff x="0" y="0"/>
          <a:chExt cx="0" cy="0"/>
        </a:xfrm>
      </p:grpSpPr>
      <p:sp>
        <p:nvSpPr>
          <p:cNvPr id="61" name="Google Shape;61;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66"/>
        <p:cNvGrpSpPr/>
        <p:nvPr/>
      </p:nvGrpSpPr>
      <p:grpSpPr>
        <a:xfrm>
          <a:off x="0" y="0"/>
          <a:ext cx="0" cy="0"/>
          <a:chOff x="0" y="0"/>
          <a:chExt cx="0" cy="0"/>
        </a:xfrm>
      </p:grpSpPr>
      <p:sp>
        <p:nvSpPr>
          <p:cNvPr id="67" name="Google Shape;67;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hyperlink" Target="https://drive.google.com/file/d/1koc0Sx-HXl-C-xzNykk7RZsCzqXWBf-9/view?usp=drive_link"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hyperlink" Target="https://docs.google.com/document/d/1NcL0XRJ8BUhG5pALYTgR2yFPm0kVtEsh/edit?usp=drive_link&amp;ouid=102381677448953964721&amp;rtpof=true&amp;sd=true"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6.jpg"/><Relationship Id="rId4" Type="http://schemas.openxmlformats.org/officeDocument/2006/relationships/hyperlink" Target="https://docs.google.com/document/d/1NcL0XRJ8BUhG5pALYTgR2yFPm0kVtEsh/edit?usp=drive_link&amp;ouid=102381677448953964721&amp;rtpof=true&amp;sd=true"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hyperlink" Target="https://docs.google.com/document/d/1ZZiqVsPyEWKoUnhsuT0mM2emKASh2jBC/edit?usp=drive_link&amp;ouid=102381677448953964721&amp;rtpof=true&amp;sd=tru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hyperlink" Target="https://docs.google.com/document/d/1ZZiqVsPyEWKoUnhsuT0mM2emKASh2jBC/edit?usp=drive_link&amp;ouid=102381677448953964721&amp;rtpof=true&amp;sd=true"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hyperlink" Target="https://docs.google.com/document/d/1ZZiqVsPyEWKoUnhsuT0mM2emKASh2jBC/edit?usp=drive_link&amp;ouid=102381677448953964721&amp;rtpof=true&amp;sd=true"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drive.google.com/file/d/1t9-Ke3uALdu4eYmL5az8WrRrNDOIbq-P/view?usp=drive_link"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drive.google.com/drive/u/0/folders/11_LBSUUzPLEPQHeWToYe2LZOw7JtUPew"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hyperlink" Target="https://drive.google.com/drive/u/0/folders/11_LBSUUzPLEPQHeWToYe2LZOw7JtUPew"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hyperlink" Target="https://docs.google.com/spreadsheets/d/1p1wA3VjRFjTkQ349QyLKmX5Roiapc4Fx/edit?gid=1627402763#gid=1627402763"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hyperlink" Target="https://docs.google.com/spreadsheets/d/1kTuXUBqOZkliH-BK9Nqg7Mr2hkZrYTHB/edit?gid=759116630#gid=759116630" TargetMode="External"/><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hyperlink" Target="https://drive.google.com/file/d/1irIF6D7n1YJljhqB38RngtjasOa8uats/view?usp=drive_link"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docs.google.com/document/d/1bQtgOgjQolKBIhZO7ljNHy9l8X-ZBXAp/edit?usp=drive_link&amp;ouid=102381677448953964721&amp;rtpof=true&amp;sd=true"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hyperlink" Target="https://docs.google.com/document/d/1pj54Y0AgewU75KyHcZwnB5Bq83wQ-r0V/edit?usp=drive_link&amp;ouid=105015513100725704438&amp;rtpof=true&amp;sd=true"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42.jpg"/><Relationship Id="rId4" Type="http://schemas.openxmlformats.org/officeDocument/2006/relationships/hyperlink" Target="https://drive.google.com/file/d/1zuyCGWpXpM8HFTlCpzxU79JyIab4PO5m/view?usp=drive_link"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hyperlink" Target="https://drive.google.com/file/d/1kf2UrrzaJnd2ZMMhgUBe6kZGJibZkaP-/view?usp=sharing" TargetMode="External"/><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0"/>
        <p:cNvGrpSpPr/>
        <p:nvPr/>
      </p:nvGrpSpPr>
      <p:grpSpPr>
        <a:xfrm>
          <a:off x="0" y="0"/>
          <a:ext cx="0" cy="0"/>
          <a:chOff x="0" y="0"/>
          <a:chExt cx="0" cy="0"/>
        </a:xfrm>
      </p:grpSpPr>
      <p:sp>
        <p:nvSpPr>
          <p:cNvPr id="81" name="Google Shape;81;p1"/>
          <p:cNvSpPr txBox="1"/>
          <p:nvPr/>
        </p:nvSpPr>
        <p:spPr>
          <a:xfrm>
            <a:off x="842118" y="2162912"/>
            <a:ext cx="6453600" cy="1939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F3F3F"/>
              </a:buClr>
              <a:buSzPts val="4000"/>
              <a:buFont typeface="Arial"/>
              <a:buNone/>
            </a:pPr>
            <a:r>
              <a:rPr lang="es-MX" sz="4000" b="1" i="0" u="none" strike="noStrike" cap="none">
                <a:solidFill>
                  <a:srgbClr val="3F3F3F"/>
                </a:solidFill>
                <a:latin typeface="Work Sans"/>
                <a:ea typeface="Work Sans"/>
                <a:cs typeface="Work Sans"/>
                <a:sym typeface="Work Sans"/>
              </a:rPr>
              <a:t>Sistema de información y gestión para una papelería</a:t>
            </a:r>
            <a:endParaRPr sz="4000" b="1" i="0" u="none" strike="noStrike" cap="none">
              <a:solidFill>
                <a:srgbClr val="3F3F3F"/>
              </a:solidFill>
              <a:latin typeface="Work Sans"/>
              <a:ea typeface="Work Sans"/>
              <a:cs typeface="Work Sans"/>
              <a:sym typeface="Work Sans"/>
            </a:endParaRPr>
          </a:p>
        </p:txBody>
      </p:sp>
      <p:pic>
        <p:nvPicPr>
          <p:cNvPr id="82" name="Google Shape;82;p1"/>
          <p:cNvPicPr preferRelativeResize="0"/>
          <p:nvPr/>
        </p:nvPicPr>
        <p:blipFill rotWithShape="1">
          <a:blip r:embed="rId4">
            <a:alphaModFix/>
          </a:blip>
          <a:srcRect l="1" t="14727" r="-586" b="21935"/>
          <a:stretch/>
        </p:blipFill>
        <p:spPr>
          <a:xfrm>
            <a:off x="6744904" y="2312394"/>
            <a:ext cx="4393963" cy="2766783"/>
          </a:xfrm>
          <a:prstGeom prst="ellipse">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6"/>
        <p:cNvGrpSpPr/>
        <p:nvPr/>
      </p:nvGrpSpPr>
      <p:grpSpPr>
        <a:xfrm>
          <a:off x="0" y="0"/>
          <a:ext cx="0" cy="0"/>
          <a:chOff x="0" y="0"/>
          <a:chExt cx="0" cy="0"/>
        </a:xfrm>
      </p:grpSpPr>
      <p:sp>
        <p:nvSpPr>
          <p:cNvPr id="87" name="Google Shape;87;p2"/>
          <p:cNvSpPr txBox="1"/>
          <p:nvPr/>
        </p:nvSpPr>
        <p:spPr>
          <a:xfrm>
            <a:off x="2178148" y="2308651"/>
            <a:ext cx="7709095"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s-MX" sz="6000" b="1" i="0" u="none" strike="noStrike" cap="none">
                <a:solidFill>
                  <a:schemeClr val="dk1"/>
                </a:solidFill>
                <a:latin typeface="Work Sans"/>
                <a:ea typeface="Work Sans"/>
                <a:cs typeface="Work Sans"/>
                <a:sym typeface="Work Sans"/>
              </a:rPr>
              <a:t>Integrantes</a:t>
            </a:r>
            <a:endParaRPr sz="7200" b="1" i="0" u="none" strike="noStrike" cap="none">
              <a:solidFill>
                <a:srgbClr val="4D4D4C"/>
              </a:solidFill>
              <a:latin typeface="Work Sans"/>
              <a:ea typeface="Work Sans"/>
              <a:cs typeface="Work Sans"/>
              <a:sym typeface="Work Sans"/>
            </a:endParaRPr>
          </a:p>
        </p:txBody>
      </p:sp>
      <p:cxnSp>
        <p:nvCxnSpPr>
          <p:cNvPr id="88" name="Google Shape;88;p2"/>
          <p:cNvCxnSpPr/>
          <p:nvPr/>
        </p:nvCxnSpPr>
        <p:spPr>
          <a:xfrm>
            <a:off x="4972228" y="3324314"/>
            <a:ext cx="2247544" cy="0"/>
          </a:xfrm>
          <a:prstGeom prst="straightConnector1">
            <a:avLst/>
          </a:prstGeom>
          <a:noFill/>
          <a:ln w="12700" cap="flat" cmpd="sng">
            <a:solidFill>
              <a:srgbClr val="38AA00"/>
            </a:solidFill>
            <a:prstDash val="solid"/>
            <a:miter lim="0"/>
            <a:headEnd type="none" w="sm" len="sm"/>
            <a:tailEnd type="none" w="sm" len="sm"/>
          </a:ln>
        </p:spPr>
      </p:cxnSp>
      <p:sp>
        <p:nvSpPr>
          <p:cNvPr id="89" name="Google Shape;89;p2"/>
          <p:cNvSpPr txBox="1"/>
          <p:nvPr/>
        </p:nvSpPr>
        <p:spPr>
          <a:xfrm>
            <a:off x="4168816" y="3429000"/>
            <a:ext cx="3854400" cy="1077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600"/>
              <a:buFont typeface="Cabin"/>
              <a:buNone/>
            </a:pPr>
            <a:r>
              <a:rPr lang="es-MX" sz="1600" b="0" i="0" u="none" strike="noStrike" cap="none">
                <a:solidFill>
                  <a:schemeClr val="dk1"/>
                </a:solidFill>
                <a:latin typeface="Calibri"/>
                <a:ea typeface="Calibri"/>
                <a:cs typeface="Calibri"/>
                <a:sym typeface="Calibri"/>
              </a:rPr>
              <a:t>- Nicolas Rodríguez Sierra</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600"/>
              <a:buFont typeface="Cabin"/>
              <a:buNone/>
            </a:pPr>
            <a:r>
              <a:rPr lang="es-MX" sz="1600" b="0" i="0" u="none" strike="noStrike" cap="none">
                <a:solidFill>
                  <a:schemeClr val="dk1"/>
                </a:solidFill>
                <a:latin typeface="Calibri"/>
                <a:ea typeface="Calibri"/>
                <a:cs typeface="Calibri"/>
                <a:sym typeface="Calibri"/>
              </a:rPr>
              <a:t>- Nicolas Gómez Alvarado</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600"/>
              <a:buFont typeface="Cabin"/>
              <a:buNone/>
            </a:pP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bin"/>
              <a:ea typeface="Cabin"/>
              <a:cs typeface="Cabin"/>
              <a:sym typeface="Cabi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4"/>
          <p:cNvSpPr txBox="1">
            <a:spLocks noGrp="1"/>
          </p:cNvSpPr>
          <p:nvPr>
            <p:ph type="title"/>
          </p:nvPr>
        </p:nvSpPr>
        <p:spPr>
          <a:xfrm>
            <a:off x="833664" y="250623"/>
            <a:ext cx="6474558" cy="67870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6000"/>
              <a:buFont typeface="Calibri"/>
              <a:buNone/>
            </a:pPr>
            <a:r>
              <a:rPr lang="es-MX" sz="4800" b="1">
                <a:latin typeface="Work Sans"/>
                <a:ea typeface="Work Sans"/>
                <a:cs typeface="Work Sans"/>
                <a:sym typeface="Work Sans"/>
              </a:rPr>
              <a:t>Tabla de contenido</a:t>
            </a:r>
            <a:endParaRPr sz="4800" b="1">
              <a:latin typeface="Work Sans"/>
              <a:ea typeface="Work Sans"/>
              <a:cs typeface="Work Sans"/>
              <a:sym typeface="Work Sans"/>
            </a:endParaRPr>
          </a:p>
        </p:txBody>
      </p:sp>
      <p:pic>
        <p:nvPicPr>
          <p:cNvPr id="95" name="Google Shape;95;p24"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96" name="Google Shape;96;p24"/>
          <p:cNvSpPr txBox="1">
            <a:spLocks noGrp="1"/>
          </p:cNvSpPr>
          <p:nvPr>
            <p:ph type="body" idx="1"/>
          </p:nvPr>
        </p:nvSpPr>
        <p:spPr>
          <a:xfrm>
            <a:off x="747112" y="822772"/>
            <a:ext cx="10515600" cy="6133200"/>
          </a:xfrm>
          <a:prstGeom prst="rect">
            <a:avLst/>
          </a:prstGeom>
          <a:noFill/>
          <a:ln>
            <a:noFill/>
          </a:ln>
        </p:spPr>
        <p:txBody>
          <a:bodyPr spcFirstLastPara="1" wrap="square" lIns="91425" tIns="45700" rIns="91425" bIns="45700" anchor="t" anchorCtr="0">
            <a:normAutofit fontScale="62500" lnSpcReduction="20000"/>
          </a:bodyPr>
          <a:lstStyle/>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Contextualización </a:t>
            </a:r>
            <a:endParaRPr sz="3400"/>
          </a:p>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Planteamiento problema</a:t>
            </a:r>
            <a:endParaRPr sz="3400"/>
          </a:p>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Pregunta problema</a:t>
            </a:r>
            <a:endParaRPr sz="3400"/>
          </a:p>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Justificación </a:t>
            </a:r>
            <a:endParaRPr sz="3400"/>
          </a:p>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Alcance de proyecto</a:t>
            </a:r>
            <a:endParaRPr sz="3400"/>
          </a:p>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BPMN</a:t>
            </a:r>
            <a:endParaRPr sz="3400"/>
          </a:p>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Objetivos</a:t>
            </a:r>
            <a:endParaRPr sz="3400"/>
          </a:p>
          <a:p>
            <a:pPr marL="1143000" lvl="1" indent="-422598" algn="l" rtl="0">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objetivo general</a:t>
            </a:r>
            <a:endParaRPr sz="3400"/>
          </a:p>
          <a:p>
            <a:pPr marL="1143000" lvl="1" indent="-422598" algn="l" rtl="0">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Objetivo</a:t>
            </a:r>
            <a:r>
              <a:rPr lang="es-MX" sz="3400">
                <a:solidFill>
                  <a:schemeClr val="dk1"/>
                </a:solidFill>
              </a:rPr>
              <a:t>s </a:t>
            </a:r>
            <a:r>
              <a:rPr lang="es-MX" sz="3400">
                <a:solidFill>
                  <a:schemeClr val="dk1"/>
                </a:solidFill>
                <a:latin typeface="Calibri"/>
                <a:ea typeface="Calibri"/>
                <a:cs typeface="Calibri"/>
                <a:sym typeface="Calibri"/>
              </a:rPr>
              <a:t>especificos</a:t>
            </a:r>
            <a:endParaRPr sz="3400"/>
          </a:p>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Levantamiento de información</a:t>
            </a:r>
            <a:endParaRPr sz="3400"/>
          </a:p>
          <a:p>
            <a:pPr marL="1143000" lvl="1" indent="-422598" algn="l" rtl="0">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Informe encuesta</a:t>
            </a:r>
            <a:endParaRPr sz="3400"/>
          </a:p>
          <a:p>
            <a:pPr marL="1143000" lvl="1" indent="-422598" algn="l" rtl="0">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Informe entrevista</a:t>
            </a:r>
            <a:endParaRPr sz="3400"/>
          </a:p>
          <a:p>
            <a:pPr marL="1143000" lvl="1" indent="-422598" algn="l" rtl="0">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Informe general</a:t>
            </a:r>
            <a:endParaRPr sz="3400"/>
          </a:p>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Requerimientos</a:t>
            </a:r>
            <a:endParaRPr sz="3400"/>
          </a:p>
          <a:p>
            <a:pPr marL="1143000" lvl="1" indent="-422598" algn="l" rtl="0">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Funcionales</a:t>
            </a:r>
            <a:endParaRPr sz="3400"/>
          </a:p>
          <a:p>
            <a:pPr marL="1143000" lvl="1" indent="-422598" algn="l" rtl="0">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No funcionales</a:t>
            </a:r>
            <a:endParaRPr sz="3400"/>
          </a:p>
          <a:p>
            <a:pPr marL="685800" lvl="0" indent="-415678" algn="l" rtl="0">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Historias de usuario</a:t>
            </a:r>
            <a:endParaRPr sz="3400"/>
          </a:p>
          <a:p>
            <a:pPr marL="685800" lvl="1" indent="0" algn="l" rtl="0">
              <a:lnSpc>
                <a:spcPct val="90000"/>
              </a:lnSpc>
              <a:spcBef>
                <a:spcPts val="500"/>
              </a:spcBef>
              <a:spcAft>
                <a:spcPts val="0"/>
              </a:spcAft>
              <a:buSzPct val="181818"/>
              <a:buNone/>
            </a:pPr>
            <a:endParaRPr>
              <a:solidFill>
                <a:schemeClr val="dk1"/>
              </a:solidFill>
              <a:latin typeface="Arial"/>
              <a:ea typeface="Arial"/>
              <a:cs typeface="Arial"/>
              <a:sym typeface="Arial"/>
            </a:endParaRPr>
          </a:p>
          <a:p>
            <a:pPr marL="685800" lvl="0" indent="-304800" algn="l" rtl="0">
              <a:lnSpc>
                <a:spcPct val="90000"/>
              </a:lnSpc>
              <a:spcBef>
                <a:spcPts val="1000"/>
              </a:spcBef>
              <a:spcAft>
                <a:spcPts val="0"/>
              </a:spcAft>
              <a:buSzPct val="181818"/>
              <a:buFont typeface="Arial"/>
              <a:buNone/>
            </a:pPr>
            <a:endParaRPr>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42"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102" name="Google Shape;102;p42"/>
          <p:cNvSpPr txBox="1">
            <a:spLocks noGrp="1"/>
          </p:cNvSpPr>
          <p:nvPr>
            <p:ph type="body" idx="1"/>
          </p:nvPr>
        </p:nvSpPr>
        <p:spPr>
          <a:xfrm>
            <a:off x="1049043" y="633392"/>
            <a:ext cx="9597186" cy="5538808"/>
          </a:xfrm>
          <a:prstGeom prst="rect">
            <a:avLst/>
          </a:prstGeom>
          <a:noFill/>
          <a:ln>
            <a:noFill/>
          </a:ln>
        </p:spPr>
        <p:txBody>
          <a:bodyPr spcFirstLastPara="1" wrap="square" lIns="91425" tIns="45700" rIns="91425" bIns="45700" anchor="t" anchorCtr="0">
            <a:normAutofit lnSpcReduction="10000"/>
          </a:bodyPr>
          <a:lstStyle/>
          <a:p>
            <a:pPr marL="727322" lvl="0" indent="-457200" algn="l" rtl="0">
              <a:lnSpc>
                <a:spcPct val="90000"/>
              </a:lnSpc>
              <a:spcBef>
                <a:spcPts val="1000"/>
              </a:spcBef>
              <a:spcAft>
                <a:spcPts val="0"/>
              </a:spcAft>
              <a:buClr>
                <a:schemeClr val="dk1"/>
              </a:buClr>
              <a:buSzPts val="2777"/>
              <a:buFont typeface="Arial"/>
              <a:buAutoNum type="arabicPeriod" startAt="11"/>
            </a:pPr>
            <a:r>
              <a:rPr lang="es-MX" sz="2100">
                <a:solidFill>
                  <a:schemeClr val="dk1"/>
                </a:solidFill>
                <a:latin typeface="Arial"/>
                <a:ea typeface="Arial"/>
                <a:cs typeface="Arial"/>
                <a:sym typeface="Arial"/>
              </a:rPr>
              <a:t>Relación RF-HU</a:t>
            </a:r>
            <a:endParaRPr/>
          </a:p>
          <a:p>
            <a:pPr marL="727322" lvl="0" indent="-457200" algn="l" rtl="0">
              <a:lnSpc>
                <a:spcPct val="90000"/>
              </a:lnSpc>
              <a:spcBef>
                <a:spcPts val="1000"/>
              </a:spcBef>
              <a:spcAft>
                <a:spcPts val="0"/>
              </a:spcAft>
              <a:buClr>
                <a:schemeClr val="dk1"/>
              </a:buClr>
              <a:buSzPts val="2777"/>
              <a:buFont typeface="Arial"/>
              <a:buAutoNum type="arabicPeriod" startAt="11"/>
            </a:pPr>
            <a:r>
              <a:rPr lang="es-MX" sz="2100">
                <a:solidFill>
                  <a:schemeClr val="dk1"/>
                </a:solidFill>
                <a:latin typeface="Arial"/>
                <a:ea typeface="Arial"/>
                <a:cs typeface="Arial"/>
                <a:sym typeface="Arial"/>
              </a:rPr>
              <a:t>Mockups</a:t>
            </a:r>
            <a:endParaRPr/>
          </a:p>
          <a:p>
            <a:pPr marL="727322" lvl="0" indent="-457200" algn="l" rtl="0">
              <a:lnSpc>
                <a:spcPct val="90000"/>
              </a:lnSpc>
              <a:spcBef>
                <a:spcPts val="1000"/>
              </a:spcBef>
              <a:spcAft>
                <a:spcPts val="0"/>
              </a:spcAft>
              <a:buClr>
                <a:schemeClr val="dk1"/>
              </a:buClr>
              <a:buSzPts val="2777"/>
              <a:buFont typeface="Arial"/>
              <a:buAutoNum type="arabicPeriod" startAt="11"/>
            </a:pPr>
            <a:r>
              <a:rPr lang="es-MX">
                <a:solidFill>
                  <a:srgbClr val="000000"/>
                </a:solidFill>
                <a:latin typeface="Work Sans"/>
                <a:ea typeface="Work Sans"/>
                <a:cs typeface="Work Sans"/>
                <a:sym typeface="Work Sans"/>
              </a:rPr>
              <a:t>GitHub</a:t>
            </a:r>
            <a:endParaRPr/>
          </a:p>
          <a:p>
            <a:pPr marL="270122" lvl="0" indent="0" algn="l" rtl="0">
              <a:lnSpc>
                <a:spcPct val="90000"/>
              </a:lnSpc>
              <a:spcBef>
                <a:spcPts val="1000"/>
              </a:spcBef>
              <a:spcAft>
                <a:spcPts val="0"/>
              </a:spcAft>
              <a:buClr>
                <a:schemeClr val="dk1"/>
              </a:buClr>
              <a:buSzPts val="2777"/>
              <a:buNone/>
            </a:pPr>
            <a:r>
              <a:rPr lang="es-MX">
                <a:solidFill>
                  <a:srgbClr val="000000"/>
                </a:solidFill>
                <a:latin typeface="Work Sans"/>
                <a:ea typeface="Work Sans"/>
                <a:cs typeface="Work Sans"/>
                <a:sym typeface="Work Sans"/>
              </a:rPr>
              <a:t>14. Base de datos</a:t>
            </a:r>
            <a:endParaRPr/>
          </a:p>
          <a:p>
            <a:pPr marL="270122" lvl="0" indent="0" algn="l" rtl="0">
              <a:lnSpc>
                <a:spcPct val="90000"/>
              </a:lnSpc>
              <a:spcBef>
                <a:spcPts val="1000"/>
              </a:spcBef>
              <a:spcAft>
                <a:spcPts val="0"/>
              </a:spcAft>
              <a:buClr>
                <a:schemeClr val="dk1"/>
              </a:buClr>
              <a:buSzPts val="2777"/>
              <a:buNone/>
            </a:pPr>
            <a:r>
              <a:rPr lang="es-MX">
                <a:solidFill>
                  <a:srgbClr val="000000"/>
                </a:solidFill>
                <a:latin typeface="Work Sans"/>
                <a:ea typeface="Work Sans"/>
                <a:cs typeface="Work Sans"/>
                <a:sym typeface="Work Sans"/>
              </a:rPr>
              <a:t>	14.1 </a:t>
            </a:r>
            <a:r>
              <a:rPr lang="es-MX">
                <a:solidFill>
                  <a:schemeClr val="dk1"/>
                </a:solidFill>
                <a:latin typeface="Work Sans"/>
                <a:ea typeface="Work Sans"/>
                <a:cs typeface="Work Sans"/>
                <a:sym typeface="Work Sans"/>
              </a:rPr>
              <a:t>Diagrama entidad-relación y relacional</a:t>
            </a:r>
            <a:endParaRPr/>
          </a:p>
          <a:p>
            <a:pPr marL="270122" lvl="0" indent="0" algn="l" rtl="0">
              <a:lnSpc>
                <a:spcPct val="90000"/>
              </a:lnSpc>
              <a:spcBef>
                <a:spcPts val="1000"/>
              </a:spcBef>
              <a:spcAft>
                <a:spcPts val="0"/>
              </a:spcAft>
              <a:buClr>
                <a:schemeClr val="dk1"/>
              </a:buClr>
              <a:buSzPts val="2777"/>
              <a:buNone/>
            </a:pPr>
            <a:r>
              <a:rPr lang="es-MX">
                <a:solidFill>
                  <a:schemeClr val="dk1"/>
                </a:solidFill>
                <a:latin typeface="Work Sans"/>
                <a:ea typeface="Work Sans"/>
                <a:cs typeface="Work Sans"/>
                <a:sym typeface="Work Sans"/>
              </a:rPr>
              <a:t>	14.2 Normalización</a:t>
            </a:r>
            <a:endParaRPr/>
          </a:p>
          <a:p>
            <a:pPr marL="270122" lvl="0" indent="0" algn="l" rtl="0">
              <a:lnSpc>
                <a:spcPct val="90000"/>
              </a:lnSpc>
              <a:spcBef>
                <a:spcPts val="1000"/>
              </a:spcBef>
              <a:spcAft>
                <a:spcPts val="0"/>
              </a:spcAft>
              <a:buClr>
                <a:schemeClr val="dk1"/>
              </a:buClr>
              <a:buSzPts val="2777"/>
              <a:buNone/>
            </a:pPr>
            <a:r>
              <a:rPr lang="es-MX">
                <a:solidFill>
                  <a:srgbClr val="000000"/>
                </a:solidFill>
                <a:latin typeface="Work Sans"/>
                <a:ea typeface="Work Sans"/>
                <a:cs typeface="Work Sans"/>
                <a:sym typeface="Work Sans"/>
              </a:rPr>
              <a:t>	14.3 Diccionario de datos</a:t>
            </a:r>
            <a:endParaRPr/>
          </a:p>
          <a:p>
            <a:pPr marL="270122" lvl="0" indent="0" algn="l" rtl="0">
              <a:lnSpc>
                <a:spcPct val="90000"/>
              </a:lnSpc>
              <a:spcBef>
                <a:spcPts val="1000"/>
              </a:spcBef>
              <a:spcAft>
                <a:spcPts val="0"/>
              </a:spcAft>
              <a:buClr>
                <a:schemeClr val="dk1"/>
              </a:buClr>
              <a:buSzPts val="2777"/>
              <a:buNone/>
            </a:pPr>
            <a:r>
              <a:rPr lang="es-MX">
                <a:solidFill>
                  <a:schemeClr val="dk1"/>
                </a:solidFill>
                <a:latin typeface="Work Sans"/>
                <a:ea typeface="Work Sans"/>
                <a:cs typeface="Work Sans"/>
                <a:sym typeface="Work Sans"/>
              </a:rPr>
              <a:t>15. Casos de uso</a:t>
            </a:r>
            <a:endParaRPr/>
          </a:p>
          <a:p>
            <a:pPr marL="270123" lvl="0" indent="0" algn="l" rtl="0">
              <a:lnSpc>
                <a:spcPct val="90000"/>
              </a:lnSpc>
              <a:spcBef>
                <a:spcPts val="1000"/>
              </a:spcBef>
              <a:spcAft>
                <a:spcPts val="0"/>
              </a:spcAft>
              <a:buClr>
                <a:schemeClr val="dk1"/>
              </a:buClr>
              <a:buSzPts val="2777"/>
              <a:buNone/>
            </a:pPr>
            <a:r>
              <a:rPr lang="es-MX">
                <a:solidFill>
                  <a:schemeClr val="dk1"/>
                </a:solidFill>
                <a:latin typeface="Work Sans"/>
                <a:ea typeface="Work Sans"/>
                <a:cs typeface="Work Sans"/>
                <a:sym typeface="Work Sans"/>
              </a:rPr>
              <a:t>      15.1 Documentación de caso de uso</a:t>
            </a:r>
            <a:endParaRPr>
              <a:solidFill>
                <a:schemeClr val="dk1"/>
              </a:solidFill>
            </a:endParaRPr>
          </a:p>
          <a:p>
            <a:pPr marL="270123" lvl="0" indent="0" algn="l" rtl="0">
              <a:lnSpc>
                <a:spcPct val="90000"/>
              </a:lnSpc>
              <a:spcBef>
                <a:spcPts val="1000"/>
              </a:spcBef>
              <a:spcAft>
                <a:spcPts val="0"/>
              </a:spcAft>
              <a:buClr>
                <a:schemeClr val="dk1"/>
              </a:buClr>
              <a:buSzPts val="2777"/>
              <a:buNone/>
            </a:pPr>
            <a:r>
              <a:rPr lang="es-MX">
                <a:solidFill>
                  <a:schemeClr val="dk1"/>
                </a:solidFill>
              </a:rPr>
              <a:t>16.Plataforma tecnológica</a:t>
            </a:r>
            <a:endParaRPr>
              <a:solidFill>
                <a:schemeClr val="dk1"/>
              </a:solidFill>
            </a:endParaRPr>
          </a:p>
          <a:p>
            <a:pPr marL="270123" lvl="0" indent="0" algn="l" rtl="0">
              <a:lnSpc>
                <a:spcPct val="90000"/>
              </a:lnSpc>
              <a:spcBef>
                <a:spcPts val="1000"/>
              </a:spcBef>
              <a:spcAft>
                <a:spcPts val="0"/>
              </a:spcAft>
              <a:buClr>
                <a:schemeClr val="dk1"/>
              </a:buClr>
              <a:buSzPts val="2777"/>
              <a:buNone/>
            </a:pPr>
            <a:r>
              <a:rPr lang="es-MX">
                <a:solidFill>
                  <a:schemeClr val="dk1"/>
                </a:solidFill>
              </a:rPr>
              <a:t>17.Ficha técnica </a:t>
            </a:r>
            <a:endParaRPr/>
          </a:p>
          <a:p>
            <a:pPr marL="270123" lvl="0" indent="0" algn="l" rtl="0">
              <a:lnSpc>
                <a:spcPct val="90000"/>
              </a:lnSpc>
              <a:spcBef>
                <a:spcPts val="1000"/>
              </a:spcBef>
              <a:spcAft>
                <a:spcPts val="0"/>
              </a:spcAft>
              <a:buClr>
                <a:schemeClr val="dk1"/>
              </a:buClr>
              <a:buSzPts val="2777"/>
              <a:buNone/>
            </a:pPr>
            <a:r>
              <a:rPr lang="es-MX">
                <a:solidFill>
                  <a:schemeClr val="dk1"/>
                </a:solidFill>
                <a:latin typeface="Work Sans"/>
                <a:ea typeface="Work Sans"/>
                <a:cs typeface="Work Sans"/>
                <a:sym typeface="Work Sans"/>
              </a:rPr>
              <a:t>      17.1 Diagrama de despliegue</a:t>
            </a:r>
            <a:endParaRPr/>
          </a:p>
          <a:p>
            <a:pPr marL="270123" lvl="0" indent="0" algn="l" rtl="0">
              <a:lnSpc>
                <a:spcPct val="90000"/>
              </a:lnSpc>
              <a:spcBef>
                <a:spcPts val="1000"/>
              </a:spcBef>
              <a:spcAft>
                <a:spcPts val="0"/>
              </a:spcAft>
              <a:buClr>
                <a:schemeClr val="dk1"/>
              </a:buClr>
              <a:buSzPts val="2777"/>
              <a:buNone/>
            </a:pPr>
            <a:r>
              <a:rPr lang="es-MX">
                <a:solidFill>
                  <a:schemeClr val="dk1"/>
                </a:solidFill>
              </a:rPr>
              <a:t>         17.2 Sentencias SQL</a:t>
            </a:r>
            <a:endParaRPr>
              <a:solidFill>
                <a:schemeClr val="dk1"/>
              </a:solidFill>
            </a:endParaRPr>
          </a:p>
          <a:p>
            <a:pPr marL="685800" lvl="0" indent="-304800" algn="l" rtl="0">
              <a:lnSpc>
                <a:spcPct val="90000"/>
              </a:lnSpc>
              <a:spcBef>
                <a:spcPts val="1000"/>
              </a:spcBef>
              <a:spcAft>
                <a:spcPts val="0"/>
              </a:spcAft>
              <a:buSzPts val="4364"/>
              <a:buFont typeface="Arial"/>
              <a:buNone/>
            </a:pPr>
            <a:endParaRPr>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5"/>
          <p:cNvSpPr txBox="1">
            <a:spLocks noGrp="1"/>
          </p:cNvSpPr>
          <p:nvPr>
            <p:ph type="title"/>
          </p:nvPr>
        </p:nvSpPr>
        <p:spPr>
          <a:xfrm>
            <a:off x="770304" y="1305035"/>
            <a:ext cx="8301318" cy="94645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6000"/>
              <a:buFont typeface="Calibri"/>
              <a:buNone/>
            </a:pPr>
            <a:br>
              <a:rPr lang="es-MX" sz="4800" b="1">
                <a:latin typeface="Work Sans"/>
                <a:ea typeface="Work Sans"/>
                <a:cs typeface="Work Sans"/>
                <a:sym typeface="Work Sans"/>
              </a:rPr>
            </a:br>
            <a:r>
              <a:rPr lang="es-MX" sz="4800" b="1">
                <a:latin typeface="Work Sans"/>
                <a:ea typeface="Work Sans"/>
                <a:cs typeface="Work Sans"/>
                <a:sym typeface="Work Sans"/>
              </a:rPr>
              <a:t>1. Contextualización </a:t>
            </a:r>
            <a:endParaRPr sz="4800" b="1">
              <a:latin typeface="Work Sans"/>
              <a:ea typeface="Work Sans"/>
              <a:cs typeface="Work Sans"/>
              <a:sym typeface="Work Sans"/>
            </a:endParaRPr>
          </a:p>
        </p:txBody>
      </p:sp>
      <p:sp>
        <p:nvSpPr>
          <p:cNvPr id="108" name="Google Shape;108;p25"/>
          <p:cNvSpPr txBox="1">
            <a:spLocks noGrp="1"/>
          </p:cNvSpPr>
          <p:nvPr>
            <p:ph type="body" idx="1"/>
          </p:nvPr>
        </p:nvSpPr>
        <p:spPr>
          <a:xfrm>
            <a:off x="354753" y="2086537"/>
            <a:ext cx="7344189" cy="2101722"/>
          </a:xfrm>
          <a:prstGeom prst="rect">
            <a:avLst/>
          </a:prstGeom>
          <a:noFill/>
          <a:ln>
            <a:noFill/>
          </a:ln>
        </p:spPr>
        <p:txBody>
          <a:bodyPr spcFirstLastPara="1" wrap="square" lIns="91425" tIns="45700" rIns="91425" bIns="45700" anchor="t" anchorCtr="0">
            <a:normAutofit/>
          </a:bodyPr>
          <a:lstStyle/>
          <a:p>
            <a:pPr marL="457200" lvl="0" indent="0" algn="just" rtl="0">
              <a:lnSpc>
                <a:spcPct val="100000"/>
              </a:lnSpc>
              <a:spcBef>
                <a:spcPts val="1000"/>
              </a:spcBef>
              <a:spcAft>
                <a:spcPts val="0"/>
              </a:spcAft>
              <a:buSzPts val="2400"/>
              <a:buNone/>
            </a:pPr>
            <a:r>
              <a:rPr lang="es-MX" sz="1800" b="0" i="0" u="none" strike="noStrike">
                <a:solidFill>
                  <a:srgbClr val="000000"/>
                </a:solidFill>
                <a:latin typeface="Arial"/>
                <a:ea typeface="Arial"/>
                <a:cs typeface="Arial"/>
                <a:sym typeface="Arial"/>
              </a:rPr>
              <a:t>Este proyecto consiste en el desarrollo de un sistema de información y gestión para una papelería, diseñado para atacar de frente el desorden administrativo que suele frenar a este tipo de negocios. No se trata solo de un "sitio web", sino de una herramienta integral para centralizar el control del inventario y modernizar la experiencia del cliente.</a:t>
            </a:r>
            <a:endParaRPr/>
          </a:p>
          <a:p>
            <a:pPr marL="228600" lvl="0" indent="0" algn="just" rtl="0">
              <a:lnSpc>
                <a:spcPct val="90000"/>
              </a:lnSpc>
              <a:spcBef>
                <a:spcPts val="1000"/>
              </a:spcBef>
              <a:spcAft>
                <a:spcPts val="0"/>
              </a:spcAft>
              <a:buClr>
                <a:srgbClr val="888888"/>
              </a:buClr>
              <a:buSzPts val="2400"/>
              <a:buNone/>
            </a:pPr>
            <a:endParaRPr/>
          </a:p>
        </p:txBody>
      </p:sp>
      <p:pic>
        <p:nvPicPr>
          <p:cNvPr id="109" name="Google Shape;109;p25"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pic>
        <p:nvPicPr>
          <p:cNvPr id="110" name="Google Shape;110;p25" descr="Página 2 | Imágenes de Muñeco blanco mate - Descarga gratuita en Freepik"/>
          <p:cNvPicPr preferRelativeResize="0"/>
          <p:nvPr/>
        </p:nvPicPr>
        <p:blipFill rotWithShape="1">
          <a:blip r:embed="rId4">
            <a:alphaModFix/>
          </a:blip>
          <a:srcRect/>
          <a:stretch/>
        </p:blipFill>
        <p:spPr>
          <a:xfrm>
            <a:off x="8860443" y="1480457"/>
            <a:ext cx="2727960" cy="38970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4"/>
        <p:cNvGrpSpPr/>
        <p:nvPr/>
      </p:nvGrpSpPr>
      <p:grpSpPr>
        <a:xfrm>
          <a:off x="0" y="0"/>
          <a:ext cx="0" cy="0"/>
          <a:chOff x="0" y="0"/>
          <a:chExt cx="0" cy="0"/>
        </a:xfrm>
      </p:grpSpPr>
      <p:sp>
        <p:nvSpPr>
          <p:cNvPr id="115" name="Google Shape;115;p5"/>
          <p:cNvSpPr txBox="1"/>
          <p:nvPr/>
        </p:nvSpPr>
        <p:spPr>
          <a:xfrm>
            <a:off x="640080" y="2087293"/>
            <a:ext cx="9815809"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4D4D4C"/>
              </a:buClr>
              <a:buSzPts val="3600"/>
              <a:buFont typeface="Work Sans"/>
              <a:buNone/>
            </a:pPr>
            <a:r>
              <a:rPr lang="es-MX" sz="3600" b="1" i="0" u="none" strike="noStrike" cap="none">
                <a:solidFill>
                  <a:schemeClr val="dk1"/>
                </a:solidFill>
                <a:latin typeface="Work Sans"/>
                <a:ea typeface="Work Sans"/>
                <a:cs typeface="Work Sans"/>
                <a:sym typeface="Work Sans"/>
              </a:rPr>
              <a:t>2. Planteamiento del problema</a:t>
            </a:r>
            <a:endParaRPr sz="3600" b="1" i="0" u="none" strike="noStrike" cap="none">
              <a:solidFill>
                <a:schemeClr val="dk1"/>
              </a:solidFill>
              <a:latin typeface="Work Sans"/>
              <a:ea typeface="Work Sans"/>
              <a:cs typeface="Work Sans"/>
              <a:sym typeface="Work Sans"/>
            </a:endParaRPr>
          </a:p>
        </p:txBody>
      </p:sp>
      <p:sp>
        <p:nvSpPr>
          <p:cNvPr id="116" name="Google Shape;116;p5"/>
          <p:cNvSpPr txBox="1"/>
          <p:nvPr/>
        </p:nvSpPr>
        <p:spPr>
          <a:xfrm>
            <a:off x="640075" y="2626800"/>
            <a:ext cx="7280100" cy="2862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Calibri"/>
                <a:ea typeface="Calibri"/>
                <a:cs typeface="Calibri"/>
                <a:sym typeface="Calibri"/>
              </a:rPr>
              <a:t>El principal problema identificado fue la mala organización del inventario y de los pedidos a domicilio sin contar la falta de papelerías que hay en el sector ya que las pocas que se encuentran en ciudad verde quedan o muy lejos o no cuentan con el producto que las personas solicitan.</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Calibri"/>
                <a:ea typeface="Calibri"/>
                <a:cs typeface="Calibri"/>
                <a:sym typeface="Calibri"/>
              </a:rPr>
              <a:t>También identificamos que no llevan un orden adecuado en el reporte de ventas</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Calibri"/>
                <a:ea typeface="Calibri"/>
                <a:cs typeface="Calibri"/>
                <a:sym typeface="Calibri"/>
              </a:rPr>
              <a:t>Municipio: Soacha</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Calibri"/>
                <a:ea typeface="Calibri"/>
                <a:cs typeface="Calibri"/>
                <a:sym typeface="Calibri"/>
              </a:rPr>
              <a:t>Barrio: Ciudad verde</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Calibri"/>
                <a:ea typeface="Calibri"/>
                <a:cs typeface="Calibri"/>
                <a:sym typeface="Calibri"/>
              </a:rPr>
              <a:t>Empresa: Colorín papelin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Calibri"/>
                <a:ea typeface="Calibri"/>
                <a:cs typeface="Calibri"/>
                <a:sym typeface="Calibri"/>
              </a:rPr>
              <a:t>Dueña: Tatiana Rojas </a:t>
            </a:r>
            <a:endParaRPr sz="1800" b="0" i="0" u="none" strike="noStrike" cap="none">
              <a:solidFill>
                <a:schemeClr val="dk1"/>
              </a:solidFill>
              <a:latin typeface="Calibri"/>
              <a:ea typeface="Calibri"/>
              <a:cs typeface="Calibri"/>
              <a:sym typeface="Calibri"/>
            </a:endParaRPr>
          </a:p>
        </p:txBody>
      </p:sp>
      <p:pic>
        <p:nvPicPr>
          <p:cNvPr id="117" name="Google Shape;117;p5" descr="analizando problema y problema resolviendo concepto 36358060 Vector en ..."/>
          <p:cNvPicPr preferRelativeResize="0"/>
          <p:nvPr/>
        </p:nvPicPr>
        <p:blipFill rotWithShape="1">
          <a:blip r:embed="rId4">
            <a:alphaModFix/>
          </a:blip>
          <a:srcRect/>
          <a:stretch/>
        </p:blipFill>
        <p:spPr>
          <a:xfrm>
            <a:off x="8028300" y="2087293"/>
            <a:ext cx="3523620" cy="286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1"/>
        <p:cNvGrpSpPr/>
        <p:nvPr/>
      </p:nvGrpSpPr>
      <p:grpSpPr>
        <a:xfrm>
          <a:off x="0" y="0"/>
          <a:ext cx="0" cy="0"/>
          <a:chOff x="0" y="0"/>
          <a:chExt cx="0" cy="0"/>
        </a:xfrm>
      </p:grpSpPr>
      <p:sp>
        <p:nvSpPr>
          <p:cNvPr id="122" name="Google Shape;122;p6"/>
          <p:cNvSpPr txBox="1"/>
          <p:nvPr/>
        </p:nvSpPr>
        <p:spPr>
          <a:xfrm>
            <a:off x="560949" y="2634890"/>
            <a:ext cx="9815809"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4D4D4C"/>
              </a:buClr>
              <a:buSzPts val="3600"/>
              <a:buFont typeface="Work Sans"/>
              <a:buNone/>
            </a:pPr>
            <a:r>
              <a:rPr lang="es-MX" sz="3600" b="1" i="0" u="none" strike="noStrike" cap="none">
                <a:solidFill>
                  <a:schemeClr val="dk1"/>
                </a:solidFill>
                <a:latin typeface="Work Sans"/>
                <a:ea typeface="Work Sans"/>
                <a:cs typeface="Work Sans"/>
                <a:sym typeface="Work Sans"/>
              </a:rPr>
              <a:t>3. Pregunta</a:t>
            </a:r>
            <a:r>
              <a:rPr lang="es-MX" sz="3600" b="1" i="0" u="none" strike="noStrike" cap="none">
                <a:solidFill>
                  <a:srgbClr val="4D4D4C"/>
                </a:solidFill>
                <a:latin typeface="Work Sans"/>
                <a:ea typeface="Work Sans"/>
                <a:cs typeface="Work Sans"/>
                <a:sym typeface="Work Sans"/>
              </a:rPr>
              <a:t> </a:t>
            </a:r>
            <a:r>
              <a:rPr lang="es-MX" sz="3600" b="1" i="0" u="none" strike="noStrike" cap="none">
                <a:solidFill>
                  <a:schemeClr val="dk1"/>
                </a:solidFill>
                <a:latin typeface="Work Sans"/>
                <a:ea typeface="Work Sans"/>
                <a:cs typeface="Work Sans"/>
                <a:sym typeface="Work Sans"/>
              </a:rPr>
              <a:t>Problema</a:t>
            </a:r>
            <a:endParaRPr sz="3600" b="1" i="0" u="none" strike="noStrike" cap="none">
              <a:solidFill>
                <a:schemeClr val="dk1"/>
              </a:solidFill>
              <a:latin typeface="Work Sans"/>
              <a:ea typeface="Work Sans"/>
              <a:cs typeface="Work Sans"/>
              <a:sym typeface="Work Sans"/>
            </a:endParaRPr>
          </a:p>
        </p:txBody>
      </p:sp>
      <p:sp>
        <p:nvSpPr>
          <p:cNvPr id="123" name="Google Shape;123;p6"/>
          <p:cNvSpPr txBox="1"/>
          <p:nvPr/>
        </p:nvSpPr>
        <p:spPr>
          <a:xfrm>
            <a:off x="560950" y="3292157"/>
            <a:ext cx="6395022" cy="6438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Calibri"/>
                <a:ea typeface="Calibri"/>
                <a:cs typeface="Calibri"/>
                <a:sym typeface="Calibri"/>
              </a:rPr>
              <a:t>¿Cómo implementar un sistema que mejore la organización del inventario y la gestión de pedidos?</a:t>
            </a:r>
            <a:endParaRPr sz="1800" b="0" i="0" u="none" strike="noStrike" cap="none">
              <a:solidFill>
                <a:schemeClr val="dk1"/>
              </a:solidFill>
              <a:latin typeface="Calibri"/>
              <a:ea typeface="Calibri"/>
              <a:cs typeface="Calibri"/>
              <a:sym typeface="Calibri"/>
            </a:endParaRPr>
          </a:p>
        </p:txBody>
      </p:sp>
      <p:sp>
        <p:nvSpPr>
          <p:cNvPr id="124" name="Google Shape;124;p6"/>
          <p:cNvSpPr txBox="1"/>
          <p:nvPr/>
        </p:nvSpPr>
        <p:spPr>
          <a:xfrm>
            <a:off x="8015605" y="3460750"/>
            <a:ext cx="4064000" cy="3067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5" name="Google Shape;125;p6" descr="pregunta y respuesta, resolviendo problema o negocio solución, pedir ..."/>
          <p:cNvPicPr preferRelativeResize="0"/>
          <p:nvPr/>
        </p:nvPicPr>
        <p:blipFill rotWithShape="1">
          <a:blip r:embed="rId4">
            <a:alphaModFix/>
          </a:blip>
          <a:srcRect/>
          <a:stretch/>
        </p:blipFill>
        <p:spPr>
          <a:xfrm>
            <a:off x="7481369" y="1746884"/>
            <a:ext cx="3712946" cy="30905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8"/>
          <p:cNvSpPr txBox="1"/>
          <p:nvPr/>
        </p:nvSpPr>
        <p:spPr>
          <a:xfrm>
            <a:off x="434535" y="1949133"/>
            <a:ext cx="6741160" cy="6451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s-MX" sz="3600" b="1" i="0" u="none" strike="noStrike" cap="none">
                <a:solidFill>
                  <a:schemeClr val="dk1"/>
                </a:solidFill>
                <a:latin typeface="Work Sans"/>
                <a:ea typeface="Work Sans"/>
                <a:cs typeface="Work Sans"/>
                <a:sym typeface="Work Sans"/>
              </a:rPr>
              <a:t>4. Justificación</a:t>
            </a:r>
            <a:endParaRPr sz="3600" b="1" i="0" u="none" strike="noStrike" cap="none">
              <a:solidFill>
                <a:schemeClr val="dk1"/>
              </a:solidFill>
              <a:latin typeface="Arial"/>
              <a:ea typeface="Arial"/>
              <a:cs typeface="Arial"/>
              <a:sym typeface="Arial"/>
            </a:endParaRPr>
          </a:p>
        </p:txBody>
      </p:sp>
      <p:sp>
        <p:nvSpPr>
          <p:cNvPr id="131" name="Google Shape;131;p8"/>
          <p:cNvSpPr txBox="1"/>
          <p:nvPr/>
        </p:nvSpPr>
        <p:spPr>
          <a:xfrm>
            <a:off x="588645" y="2548255"/>
            <a:ext cx="4064000" cy="3067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8"/>
          <p:cNvSpPr txBox="1"/>
          <p:nvPr/>
        </p:nvSpPr>
        <p:spPr>
          <a:xfrm>
            <a:off x="397510" y="2640330"/>
            <a:ext cx="6549390" cy="26206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Calibri"/>
                <a:ea typeface="Calibri"/>
                <a:cs typeface="Calibri"/>
                <a:sym typeface="Calibri"/>
              </a:rPr>
              <a:t>Este proyecto es necesario para modernizar los procesos de la papelería y mejorar su funcionamiento interno, la implementación de un sistema de información permitirá tener mayor control sobre el stock, facilitar la compra mediante pedidos en línea y ofrecer un espacio de opinión y comodidad para los clientes, con esto se busca fortalecer la gestión del negocio y crecimiento de la empresa.</a:t>
            </a:r>
            <a:endParaRPr sz="1800" b="0" i="0" u="none" strike="noStrike" cap="none">
              <a:solidFill>
                <a:srgbClr val="000000"/>
              </a:solidFill>
              <a:latin typeface="Calibri"/>
              <a:ea typeface="Calibri"/>
              <a:cs typeface="Calibri"/>
              <a:sym typeface="Calibri"/>
            </a:endParaRPr>
          </a:p>
        </p:txBody>
      </p:sp>
      <p:pic>
        <p:nvPicPr>
          <p:cNvPr id="133" name="Google Shape;133;p8"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pic>
        <p:nvPicPr>
          <p:cNvPr id="134" name="Google Shape;134;p8"/>
          <p:cNvPicPr preferRelativeResize="0"/>
          <p:nvPr/>
        </p:nvPicPr>
        <p:blipFill rotWithShape="1">
          <a:blip r:embed="rId4">
            <a:alphaModFix/>
          </a:blip>
          <a:srcRect/>
          <a:stretch/>
        </p:blipFill>
        <p:spPr>
          <a:xfrm>
            <a:off x="7366830" y="1462360"/>
            <a:ext cx="3933279" cy="39332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p:nvPr/>
        </p:nvSpPr>
        <p:spPr>
          <a:xfrm>
            <a:off x="572770" y="418758"/>
            <a:ext cx="557784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400"/>
              <a:buFont typeface="Arial"/>
              <a:buNone/>
            </a:pPr>
            <a:r>
              <a:rPr lang="es-MX" sz="3600" b="1" i="0" u="none" strike="noStrike" cap="none">
                <a:solidFill>
                  <a:srgbClr val="000000"/>
                </a:solidFill>
                <a:latin typeface="Work Sans"/>
                <a:ea typeface="Work Sans"/>
                <a:cs typeface="Work Sans"/>
                <a:sym typeface="Work Sans"/>
              </a:rPr>
              <a:t>5. Alcance del proyecto</a:t>
            </a:r>
            <a:endParaRPr sz="3600" b="1" i="0" u="none" strike="noStrike" cap="none">
              <a:solidFill>
                <a:srgbClr val="000000"/>
              </a:solidFill>
              <a:latin typeface="Work Sans"/>
              <a:ea typeface="Work Sans"/>
              <a:cs typeface="Work Sans"/>
              <a:sym typeface="Work Sans"/>
            </a:endParaRPr>
          </a:p>
        </p:txBody>
      </p:sp>
      <p:sp>
        <p:nvSpPr>
          <p:cNvPr id="140" name="Google Shape;140;p7"/>
          <p:cNvSpPr txBox="1"/>
          <p:nvPr/>
        </p:nvSpPr>
        <p:spPr>
          <a:xfrm>
            <a:off x="572770" y="1266386"/>
            <a:ext cx="6074215" cy="25844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Calibri"/>
                <a:ea typeface="Calibri"/>
                <a:cs typeface="Calibri"/>
                <a:sym typeface="Calibri"/>
              </a:rPr>
              <a:t>Alcance:</a:t>
            </a:r>
            <a:endParaRPr sz="1800" b="0" i="0" u="none" strike="noStrike" cap="none">
              <a:solidFill>
                <a:srgbClr val="000000"/>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Desarrollar un sistema para la organización de ventas.</a:t>
            </a:r>
            <a:endParaRPr sz="1800" b="0" i="0" u="none" strike="noStrike" cap="none">
              <a:solidFill>
                <a:srgbClr val="000000"/>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Implementar un módulo de pedidos en línea con carrito de compras.</a:t>
            </a:r>
            <a:endParaRPr sz="1800" b="0" i="0" u="none" strike="noStrike" cap="none">
              <a:solidFill>
                <a:srgbClr val="000000"/>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Integrar métodos de pago como Nequi y contra entrega.</a:t>
            </a:r>
            <a:endParaRPr sz="1800" b="0" i="0" u="none" strike="noStrike" cap="none">
              <a:solidFill>
                <a:srgbClr val="000000"/>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Crear un apartado de reseñas para evaluar la satisfacción del cliente.</a:t>
            </a:r>
            <a:endParaRPr sz="1800" b="0" i="0" u="none" strike="noStrike" cap="none">
              <a:solidFill>
                <a:srgbClr val="000000"/>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Diseñar un sistema que controle el inventario</a:t>
            </a:r>
            <a:endParaRPr sz="1800" b="0" i="0" u="none" strike="noStrike" cap="none">
              <a:solidFill>
                <a:srgbClr val="000000"/>
              </a:solidFill>
              <a:latin typeface="Calibri"/>
              <a:ea typeface="Calibri"/>
              <a:cs typeface="Calibri"/>
              <a:sym typeface="Calibri"/>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1" name="Google Shape;141;p7"/>
          <p:cNvSpPr txBox="1"/>
          <p:nvPr/>
        </p:nvSpPr>
        <p:spPr>
          <a:xfrm>
            <a:off x="572770" y="3662165"/>
            <a:ext cx="5694600" cy="175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Calibri"/>
                <a:ea typeface="Calibri"/>
                <a:cs typeface="Calibri"/>
                <a:sym typeface="Calibri"/>
              </a:rPr>
              <a:t>Fuera del alcance</a:t>
            </a:r>
            <a:endParaRPr sz="1800" b="0" i="0" u="none" strike="noStrike" cap="none">
              <a:solidFill>
                <a:srgbClr val="000000"/>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Implementar el sistema en múltiples sucursales.</a:t>
            </a:r>
            <a:endParaRPr sz="1800" b="0" i="0" u="none" strike="noStrike" cap="none">
              <a:solidFill>
                <a:srgbClr val="000000"/>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Desarrollar una aplicación móvil </a:t>
            </a:r>
            <a:endParaRPr sz="1800" b="0" i="0" u="none" strike="noStrike" cap="none">
              <a:solidFill>
                <a:srgbClr val="000000"/>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Hacer envíos fuera de Bogotá distrito capital.</a:t>
            </a:r>
            <a:endParaRPr sz="1800" b="0" i="0" u="none" strike="noStrike" cap="none">
              <a:solidFill>
                <a:srgbClr val="000000"/>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Automatizar procesos logísticos externos como empresas de envíos.</a:t>
            </a:r>
            <a:endParaRPr sz="1800" b="0" i="0" u="none" strike="noStrike" cap="none">
              <a:solidFill>
                <a:srgbClr val="000000"/>
              </a:solidFill>
              <a:latin typeface="Calibri"/>
              <a:ea typeface="Calibri"/>
              <a:cs typeface="Calibri"/>
              <a:sym typeface="Calibri"/>
            </a:endParaRPr>
          </a:p>
        </p:txBody>
      </p:sp>
      <p:pic>
        <p:nvPicPr>
          <p:cNvPr id="142" name="Google Shape;142;p7" descr="Concepto de logro de objetivos. | Vector Premium"/>
          <p:cNvPicPr preferRelativeResize="0"/>
          <p:nvPr/>
        </p:nvPicPr>
        <p:blipFill rotWithShape="1">
          <a:blip r:embed="rId3">
            <a:alphaModFix/>
          </a:blip>
          <a:srcRect/>
          <a:stretch/>
        </p:blipFill>
        <p:spPr>
          <a:xfrm>
            <a:off x="7580069" y="1876285"/>
            <a:ext cx="3922620" cy="3264673"/>
          </a:xfrm>
          <a:prstGeom prst="rect">
            <a:avLst/>
          </a:prstGeom>
          <a:noFill/>
          <a:ln>
            <a:noFill/>
          </a:ln>
        </p:spPr>
      </p:pic>
      <p:pic>
        <p:nvPicPr>
          <p:cNvPr id="143" name="Google Shape;143;p7" descr="Servicio Nacional de Aprendizaje - SENA | Bogota.gov.co"/>
          <p:cNvPicPr preferRelativeResize="0"/>
          <p:nvPr/>
        </p:nvPicPr>
        <p:blipFill rotWithShape="1">
          <a:blip r:embed="rId4">
            <a:alphaModFix/>
          </a:blip>
          <a:srcRect/>
          <a:stretch/>
        </p:blipFill>
        <p:spPr>
          <a:xfrm>
            <a:off x="11262712" y="314959"/>
            <a:ext cx="651382" cy="6368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7"/>
        <p:cNvGrpSpPr/>
        <p:nvPr/>
      </p:nvGrpSpPr>
      <p:grpSpPr>
        <a:xfrm>
          <a:off x="0" y="0"/>
          <a:ext cx="0" cy="0"/>
          <a:chOff x="0" y="0"/>
          <a:chExt cx="0" cy="0"/>
        </a:xfrm>
      </p:grpSpPr>
      <p:sp>
        <p:nvSpPr>
          <p:cNvPr id="148" name="Google Shape;148;p9"/>
          <p:cNvSpPr txBox="1"/>
          <p:nvPr/>
        </p:nvSpPr>
        <p:spPr>
          <a:xfrm>
            <a:off x="479682" y="639149"/>
            <a:ext cx="9815809" cy="52787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3600"/>
              <a:buFont typeface="Work Sans"/>
              <a:buNone/>
            </a:pPr>
            <a:r>
              <a:rPr lang="es-MX" sz="3600" b="1" i="0" u="none" strike="noStrike" cap="none">
                <a:solidFill>
                  <a:srgbClr val="FFFFFF"/>
                </a:solidFill>
                <a:latin typeface="Work Sans"/>
                <a:ea typeface="Work Sans"/>
                <a:cs typeface="Work Sans"/>
                <a:sym typeface="Work Sans"/>
              </a:rPr>
              <a:t>6. Mapa BPMN:</a:t>
            </a:r>
            <a:endParaRPr sz="3600" b="1" i="0" u="none" strike="noStrike" cap="none">
              <a:solidFill>
                <a:srgbClr val="FFFFFF"/>
              </a:solidFill>
              <a:latin typeface="Work Sans"/>
              <a:ea typeface="Work Sans"/>
              <a:cs typeface="Work Sans"/>
              <a:sym typeface="Work Sans"/>
            </a:endParaRPr>
          </a:p>
        </p:txBody>
      </p:sp>
      <p:pic>
        <p:nvPicPr>
          <p:cNvPr id="149" name="Google Shape;149;p9">
            <a:hlinkClick r:id="rId4"/>
          </p:cNvPr>
          <p:cNvPicPr preferRelativeResize="0"/>
          <p:nvPr/>
        </p:nvPicPr>
        <p:blipFill rotWithShape="1">
          <a:blip r:embed="rId5">
            <a:alphaModFix/>
          </a:blip>
          <a:srcRect/>
          <a:stretch/>
        </p:blipFill>
        <p:spPr>
          <a:xfrm>
            <a:off x="549875" y="1245573"/>
            <a:ext cx="11092250" cy="53861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3"/>
          <p:cNvSpPr txBox="1"/>
          <p:nvPr/>
        </p:nvSpPr>
        <p:spPr>
          <a:xfrm>
            <a:off x="1097839" y="3141487"/>
            <a:ext cx="3492029" cy="57502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MX" sz="3600" b="1" i="0" u="none" strike="noStrike" cap="none">
                <a:solidFill>
                  <a:schemeClr val="dk1"/>
                </a:solidFill>
                <a:latin typeface="Work Sans"/>
                <a:ea typeface="Work Sans"/>
                <a:cs typeface="Work Sans"/>
                <a:sym typeface="Work Sans"/>
              </a:rPr>
              <a:t>7. Objetivos</a:t>
            </a:r>
            <a:endParaRPr sz="3600" b="1" i="0" u="none" strike="noStrike" cap="none">
              <a:solidFill>
                <a:srgbClr val="38AA00"/>
              </a:solidFill>
              <a:latin typeface="Work Sans"/>
              <a:ea typeface="Work Sans"/>
              <a:cs typeface="Work Sans"/>
              <a:sym typeface="Work Sans"/>
            </a:endParaRPr>
          </a:p>
        </p:txBody>
      </p:sp>
      <p:pic>
        <p:nvPicPr>
          <p:cNvPr id="155" name="Google Shape;155;p13"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9"/>
        <p:cNvGrpSpPr/>
        <p:nvPr/>
      </p:nvGrpSpPr>
      <p:grpSpPr>
        <a:xfrm>
          <a:off x="0" y="0"/>
          <a:ext cx="0" cy="0"/>
          <a:chOff x="0" y="0"/>
          <a:chExt cx="0" cy="0"/>
        </a:xfrm>
      </p:grpSpPr>
      <p:sp>
        <p:nvSpPr>
          <p:cNvPr id="160" name="Google Shape;160;p3"/>
          <p:cNvSpPr txBox="1"/>
          <p:nvPr/>
        </p:nvSpPr>
        <p:spPr>
          <a:xfrm>
            <a:off x="1075055" y="2089673"/>
            <a:ext cx="4001530" cy="57502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MX" sz="3600" b="1" i="0" u="none" strike="noStrike" cap="none">
                <a:solidFill>
                  <a:schemeClr val="dk1"/>
                </a:solidFill>
                <a:latin typeface="Work Sans"/>
                <a:ea typeface="Work Sans"/>
                <a:cs typeface="Work Sans"/>
                <a:sym typeface="Work Sans"/>
              </a:rPr>
              <a:t>7.1 Objetivo</a:t>
            </a:r>
            <a:r>
              <a:rPr lang="es-MX" sz="3600" b="1" i="0" u="none" strike="noStrike" cap="none">
                <a:solidFill>
                  <a:srgbClr val="38AA00"/>
                </a:solidFill>
                <a:latin typeface="Work Sans"/>
                <a:ea typeface="Work Sans"/>
                <a:cs typeface="Work Sans"/>
                <a:sym typeface="Work Sans"/>
              </a:rPr>
              <a:t>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38AA00"/>
              </a:buClr>
              <a:buSzPts val="3600"/>
              <a:buFont typeface="Work Sans"/>
              <a:buNone/>
            </a:pPr>
            <a:r>
              <a:rPr lang="es-MX" sz="3600" b="1" i="0" u="none" strike="noStrike" cap="none">
                <a:solidFill>
                  <a:schemeClr val="dk1"/>
                </a:solidFill>
                <a:latin typeface="Work Sans"/>
                <a:ea typeface="Work Sans"/>
                <a:cs typeface="Work Sans"/>
                <a:sym typeface="Work Sans"/>
              </a:rPr>
              <a:t>general:</a:t>
            </a:r>
            <a:endParaRPr sz="3600" b="1" i="0" u="none" strike="noStrike" cap="none">
              <a:solidFill>
                <a:schemeClr val="dk1"/>
              </a:solidFill>
              <a:latin typeface="Work Sans"/>
              <a:ea typeface="Work Sans"/>
              <a:cs typeface="Work Sans"/>
              <a:sym typeface="Work Sans"/>
            </a:endParaRPr>
          </a:p>
        </p:txBody>
      </p:sp>
      <p:sp>
        <p:nvSpPr>
          <p:cNvPr id="161" name="Google Shape;161;p3"/>
          <p:cNvSpPr txBox="1"/>
          <p:nvPr/>
        </p:nvSpPr>
        <p:spPr>
          <a:xfrm>
            <a:off x="1075055" y="3180080"/>
            <a:ext cx="5924459" cy="126492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MX" sz="1800" b="0" i="0" u="none" strike="noStrike" cap="none">
                <a:solidFill>
                  <a:schemeClr val="dk1"/>
                </a:solidFill>
                <a:latin typeface="Calibri"/>
                <a:ea typeface="Calibri"/>
                <a:cs typeface="Calibri"/>
                <a:sym typeface="Calibri"/>
              </a:rPr>
              <a:t>Desarrollar un sistema de información y gestión para una papelería  que  nos permita de manera organizada y eficiente gestionar varios procesos de inventario.</a:t>
            </a:r>
            <a:endParaRPr sz="1800" b="0" i="0" u="none" strike="noStrike" cap="none">
              <a:solidFill>
                <a:schemeClr val="dk1"/>
              </a:solidFill>
              <a:latin typeface="Calibri"/>
              <a:ea typeface="Calibri"/>
              <a:cs typeface="Calibri"/>
              <a:sym typeface="Calibri"/>
            </a:endParaRPr>
          </a:p>
        </p:txBody>
      </p:sp>
      <p:pic>
        <p:nvPicPr>
          <p:cNvPr id="162" name="Google Shape;162;p3"/>
          <p:cNvPicPr preferRelativeResize="0"/>
          <p:nvPr/>
        </p:nvPicPr>
        <p:blipFill rotWithShape="1">
          <a:blip r:embed="rId4">
            <a:alphaModFix/>
          </a:blip>
          <a:srcRect/>
          <a:stretch/>
        </p:blipFill>
        <p:spPr>
          <a:xfrm>
            <a:off x="7582723" y="2168703"/>
            <a:ext cx="3780890" cy="252059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
        <p:cNvGrpSpPr/>
        <p:nvPr/>
      </p:nvGrpSpPr>
      <p:grpSpPr>
        <a:xfrm>
          <a:off x="0" y="0"/>
          <a:ext cx="0" cy="0"/>
          <a:chOff x="0" y="0"/>
          <a:chExt cx="0" cy="0"/>
        </a:xfrm>
      </p:grpSpPr>
      <p:sp>
        <p:nvSpPr>
          <p:cNvPr id="167" name="Google Shape;167;p4"/>
          <p:cNvSpPr txBox="1"/>
          <p:nvPr/>
        </p:nvSpPr>
        <p:spPr>
          <a:xfrm>
            <a:off x="640080" y="1804530"/>
            <a:ext cx="9815809"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4D4D4C"/>
              </a:buClr>
              <a:buSzPts val="3600"/>
              <a:buFont typeface="Work Sans"/>
              <a:buNone/>
            </a:pPr>
            <a:r>
              <a:rPr lang="es-MX" sz="3600" b="1" i="0" u="none" strike="noStrike" cap="none">
                <a:solidFill>
                  <a:schemeClr val="dk1"/>
                </a:solidFill>
                <a:latin typeface="Work Sans"/>
                <a:ea typeface="Work Sans"/>
                <a:cs typeface="Work Sans"/>
                <a:sym typeface="Work Sans"/>
              </a:rPr>
              <a:t>7.2 Objetivos específicos:</a:t>
            </a:r>
            <a:endParaRPr sz="3600" b="1" i="0" u="none" strike="noStrike" cap="none">
              <a:solidFill>
                <a:schemeClr val="dk1"/>
              </a:solidFill>
              <a:latin typeface="Work Sans"/>
              <a:ea typeface="Work Sans"/>
              <a:cs typeface="Work Sans"/>
              <a:sym typeface="Work Sans"/>
            </a:endParaRPr>
          </a:p>
        </p:txBody>
      </p:sp>
      <p:sp>
        <p:nvSpPr>
          <p:cNvPr id="168" name="Google Shape;168;p4"/>
          <p:cNvSpPr txBox="1"/>
          <p:nvPr/>
        </p:nvSpPr>
        <p:spPr>
          <a:xfrm>
            <a:off x="640080" y="2413357"/>
            <a:ext cx="6860177" cy="23088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chemeClr val="dk1"/>
                </a:solidFill>
                <a:latin typeface="Calibri"/>
                <a:ea typeface="Calibri"/>
                <a:cs typeface="Calibri"/>
                <a:sym typeface="Calibri"/>
              </a:rPr>
              <a:t>Implementar un sistema de administración enfocado en la clasificación de ventas.</a:t>
            </a:r>
            <a:endParaRPr sz="18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chemeClr val="dk1"/>
                </a:solidFill>
                <a:latin typeface="Calibri"/>
                <a:ea typeface="Calibri"/>
                <a:cs typeface="Calibri"/>
                <a:sym typeface="Calibri"/>
              </a:rPr>
              <a:t>Implementar un sistema de pedidos en línea con carrito de compra y con pagos como nequi o contra entrega.</a:t>
            </a:r>
            <a:endParaRPr sz="18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chemeClr val="dk1"/>
                </a:solidFill>
                <a:latin typeface="Calibri"/>
                <a:ea typeface="Calibri"/>
                <a:cs typeface="Calibri"/>
                <a:sym typeface="Calibri"/>
              </a:rPr>
              <a:t>Implementar un apartado de reseñas que permita visualizar la opinión de cada usuario.</a:t>
            </a:r>
            <a:endParaRPr sz="18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chemeClr val="dk1"/>
                </a:solidFill>
                <a:latin typeface="Calibri"/>
                <a:ea typeface="Calibri"/>
                <a:cs typeface="Calibri"/>
                <a:sym typeface="Calibri"/>
              </a:rPr>
              <a:t>Implementar un sistema que se enfoque en la organización de stock</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69" name="Google Shape;169;p4"/>
          <p:cNvPicPr preferRelativeResize="0"/>
          <p:nvPr/>
        </p:nvPicPr>
        <p:blipFill rotWithShape="1">
          <a:blip r:embed="rId4">
            <a:alphaModFix/>
          </a:blip>
          <a:srcRect/>
          <a:stretch/>
        </p:blipFill>
        <p:spPr>
          <a:xfrm>
            <a:off x="7668305" y="1626715"/>
            <a:ext cx="3435123" cy="360456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14"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175" name="Google Shape;175;p14"/>
          <p:cNvSpPr txBox="1"/>
          <p:nvPr/>
        </p:nvSpPr>
        <p:spPr>
          <a:xfrm>
            <a:off x="664810" y="2752028"/>
            <a:ext cx="6421790" cy="135394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br>
              <a:rPr lang="es-MX" sz="4800" b="1" i="0" u="none" strike="noStrike" cap="none">
                <a:solidFill>
                  <a:srgbClr val="000000"/>
                </a:solidFill>
                <a:latin typeface="Work Sans"/>
                <a:ea typeface="Work Sans"/>
                <a:cs typeface="Work Sans"/>
                <a:sym typeface="Work Sans"/>
              </a:rPr>
            </a:br>
            <a:r>
              <a:rPr lang="es-MX" sz="3600" b="1" i="0" u="none" strike="noStrike" cap="none">
                <a:solidFill>
                  <a:srgbClr val="000000"/>
                </a:solidFill>
                <a:latin typeface="Work Sans"/>
                <a:ea typeface="Work Sans"/>
                <a:cs typeface="Work Sans"/>
                <a:sym typeface="Work Sans"/>
              </a:rPr>
              <a:t>8. Levantamiento de información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a:spLocks noGrp="1"/>
          </p:cNvSpPr>
          <p:nvPr>
            <p:ph type="body" idx="1"/>
          </p:nvPr>
        </p:nvSpPr>
        <p:spPr>
          <a:xfrm>
            <a:off x="605354" y="2341545"/>
            <a:ext cx="7394947" cy="2174905"/>
          </a:xfrm>
          <a:prstGeom prst="rect">
            <a:avLst/>
          </a:prstGeom>
          <a:noFill/>
          <a:ln>
            <a:noFill/>
          </a:ln>
        </p:spPr>
        <p:txBody>
          <a:bodyPr spcFirstLastPara="1" wrap="square" lIns="91425" tIns="45700" rIns="91425" bIns="45700" anchor="t" anchorCtr="0">
            <a:noAutofit/>
          </a:bodyPr>
          <a:lstStyle/>
          <a:p>
            <a:pPr marL="449580" lvl="0" indent="0" algn="just" rtl="0">
              <a:lnSpc>
                <a:spcPct val="100000"/>
              </a:lnSpc>
              <a:spcBef>
                <a:spcPts val="0"/>
              </a:spcBef>
              <a:spcAft>
                <a:spcPts val="0"/>
              </a:spcAft>
              <a:buSzPts val="2400"/>
              <a:buNone/>
            </a:pPr>
            <a:r>
              <a:rPr lang="es-MX" sz="1800">
                <a:solidFill>
                  <a:schemeClr val="dk1"/>
                </a:solidFill>
                <a:latin typeface="Calibri"/>
                <a:ea typeface="Calibri"/>
                <a:cs typeface="Calibri"/>
                <a:sym typeface="Calibri"/>
              </a:rPr>
              <a:t>Los resultados de la encuesta indican que los clientes compran con frecuencia productos de papelería y desean consultar precios y disponibilidad antes de ir a la tienda. También muestran interés en funciones que faciliten la compra, como pedidos anticipados, listas de productos y repetir compras. Además, valoran recibir notificaciones de promociones. En general, se concluye que un sistema digital mejoraría la experiencia de compra y optimizaría el proceso.</a:t>
            </a:r>
            <a:endParaRPr sz="1800">
              <a:solidFill>
                <a:schemeClr val="dk1"/>
              </a:solidFill>
              <a:latin typeface="Calibri"/>
              <a:ea typeface="Calibri"/>
              <a:cs typeface="Calibri"/>
              <a:sym typeface="Calibri"/>
            </a:endParaRPr>
          </a:p>
        </p:txBody>
      </p:sp>
      <p:pic>
        <p:nvPicPr>
          <p:cNvPr id="181" name="Google Shape;181;p26"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pic>
        <p:nvPicPr>
          <p:cNvPr id="182" name="Google Shape;182;p26" descr="analisis-resultados-encuestas-online – Informática para dummies">
            <a:hlinkClick r:id="rId4"/>
          </p:cNvPr>
          <p:cNvPicPr preferRelativeResize="0"/>
          <p:nvPr/>
        </p:nvPicPr>
        <p:blipFill rotWithShape="1">
          <a:blip r:embed="rId5">
            <a:alphaModFix/>
          </a:blip>
          <a:srcRect/>
          <a:stretch/>
        </p:blipFill>
        <p:spPr>
          <a:xfrm>
            <a:off x="8869774" y="2206837"/>
            <a:ext cx="2455235" cy="2444323"/>
          </a:xfrm>
          <a:prstGeom prst="rect">
            <a:avLst/>
          </a:prstGeom>
          <a:noFill/>
          <a:ln>
            <a:noFill/>
          </a:ln>
        </p:spPr>
      </p:pic>
      <p:sp>
        <p:nvSpPr>
          <p:cNvPr id="183" name="Google Shape;183;p26"/>
          <p:cNvSpPr txBox="1"/>
          <p:nvPr/>
        </p:nvSpPr>
        <p:spPr>
          <a:xfrm>
            <a:off x="605354" y="1666988"/>
            <a:ext cx="8853505" cy="674557"/>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br>
              <a:rPr lang="es-MX" sz="4800" b="1" i="0" u="none" strike="noStrike" cap="none">
                <a:solidFill>
                  <a:schemeClr val="dk1"/>
                </a:solidFill>
                <a:latin typeface="Work Sans"/>
                <a:ea typeface="Work Sans"/>
                <a:cs typeface="Work Sans"/>
                <a:sym typeface="Work Sans"/>
              </a:rPr>
            </a:br>
            <a:r>
              <a:rPr lang="es-MX" sz="4800" b="1" i="0" u="none" strike="noStrike" cap="none">
                <a:solidFill>
                  <a:schemeClr val="dk1"/>
                </a:solidFill>
                <a:latin typeface="Work Sans"/>
                <a:ea typeface="Work Sans"/>
                <a:cs typeface="Work Sans"/>
                <a:sym typeface="Work Sans"/>
              </a:rPr>
              <a:t>8.1 </a:t>
            </a:r>
            <a:r>
              <a:rPr lang="es-MX" sz="4000" b="1" i="0" u="none" strike="noStrike" cap="none">
                <a:solidFill>
                  <a:schemeClr val="dk1"/>
                </a:solidFill>
                <a:latin typeface="Work Sans"/>
                <a:ea typeface="Work Sans"/>
                <a:cs typeface="Work Sans"/>
                <a:sym typeface="Work Sans"/>
              </a:rPr>
              <a:t>Análisis de la encuesta</a:t>
            </a:r>
            <a:endParaRPr sz="4000" b="1" i="0" u="none" strike="noStrike" cap="none">
              <a:solidFill>
                <a:schemeClr val="dk1"/>
              </a:solidFill>
              <a:latin typeface="Work Sans"/>
              <a:ea typeface="Work Sans"/>
              <a:cs typeface="Work Sans"/>
              <a:sym typeface="Work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7"/>
          <p:cNvSpPr txBox="1">
            <a:spLocks noGrp="1"/>
          </p:cNvSpPr>
          <p:nvPr>
            <p:ph type="body" idx="1"/>
          </p:nvPr>
        </p:nvSpPr>
        <p:spPr>
          <a:xfrm>
            <a:off x="348244" y="2258902"/>
            <a:ext cx="8065994" cy="2464117"/>
          </a:xfrm>
          <a:prstGeom prst="rect">
            <a:avLst/>
          </a:prstGeom>
          <a:noFill/>
          <a:ln>
            <a:noFill/>
          </a:ln>
        </p:spPr>
        <p:txBody>
          <a:bodyPr spcFirstLastPara="1" wrap="square" lIns="91425" tIns="45700" rIns="91425" bIns="45700" anchor="t" anchorCtr="0">
            <a:noAutofit/>
          </a:bodyPr>
          <a:lstStyle/>
          <a:p>
            <a:pPr marL="449580" lvl="0" indent="0" algn="l" rtl="0">
              <a:lnSpc>
                <a:spcPct val="100000"/>
              </a:lnSpc>
              <a:spcBef>
                <a:spcPts val="0"/>
              </a:spcBef>
              <a:spcAft>
                <a:spcPts val="0"/>
              </a:spcAft>
              <a:buSzPts val="2400"/>
              <a:buNone/>
            </a:pPr>
            <a:r>
              <a:rPr lang="es-MX" sz="1800">
                <a:solidFill>
                  <a:schemeClr val="dk1"/>
                </a:solidFill>
              </a:rPr>
              <a:t>Los resultados muestran la necesidad de implementar un sistema que mejore el control y la organización del negocio, especialmente en la gestión de inventario con actualizaciones en tiempo real y alertas de stock. También se requiere un sistema de ventas que permita generar comprobantes, aplicar descuentos y gestionar devoluciones. Además, se destaca la importancia de contar con reportes para analizar el desempeño del negocio. En conclusión, el sistema debe ser fácil de usar, accesible desde distintos dispositivos y garantizar la seguridad de la información mediante copias de seguridad.</a:t>
            </a:r>
            <a:endParaRPr sz="1800">
              <a:solidFill>
                <a:schemeClr val="dk1"/>
              </a:solidFill>
            </a:endParaRPr>
          </a:p>
        </p:txBody>
      </p:sp>
      <p:pic>
        <p:nvPicPr>
          <p:cNvPr id="189" name="Google Shape;189;p27"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190" name="Google Shape;190;p27"/>
          <p:cNvSpPr txBox="1"/>
          <p:nvPr/>
        </p:nvSpPr>
        <p:spPr>
          <a:xfrm>
            <a:off x="348244" y="1622035"/>
            <a:ext cx="8853505" cy="636867"/>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br>
              <a:rPr lang="es-MX" sz="4800" b="1" i="0" u="none" strike="noStrike" cap="none">
                <a:solidFill>
                  <a:schemeClr val="dk1"/>
                </a:solidFill>
                <a:latin typeface="Work Sans"/>
                <a:ea typeface="Work Sans"/>
                <a:cs typeface="Work Sans"/>
                <a:sym typeface="Work Sans"/>
              </a:rPr>
            </a:br>
            <a:br>
              <a:rPr lang="es-MX" sz="1100" b="1" i="0" u="none" strike="noStrike" cap="none">
                <a:solidFill>
                  <a:schemeClr val="dk1"/>
                </a:solidFill>
                <a:latin typeface="Work Sans"/>
                <a:ea typeface="Work Sans"/>
                <a:cs typeface="Work Sans"/>
                <a:sym typeface="Work Sans"/>
              </a:rPr>
            </a:br>
            <a:r>
              <a:rPr lang="es-MX" sz="4000" b="1" i="0" u="none" strike="noStrike" cap="none">
                <a:solidFill>
                  <a:srgbClr val="000000"/>
                </a:solidFill>
                <a:latin typeface="Work Sans"/>
                <a:ea typeface="Work Sans"/>
                <a:cs typeface="Work Sans"/>
                <a:sym typeface="Work Sans"/>
              </a:rPr>
              <a:t>8.2 Análisis de la entrevista</a:t>
            </a:r>
            <a:endParaRPr sz="4000" b="1" i="0" u="none" strike="noStrike" cap="none">
              <a:solidFill>
                <a:schemeClr val="dk1"/>
              </a:solidFill>
              <a:latin typeface="Work Sans"/>
              <a:ea typeface="Work Sans"/>
              <a:cs typeface="Work Sans"/>
              <a:sym typeface="Work Sans"/>
            </a:endParaRPr>
          </a:p>
        </p:txBody>
      </p:sp>
      <p:pic>
        <p:nvPicPr>
          <p:cNvPr id="191" name="Google Shape;191;p27" descr="Entrevista Periodista Línea Icono Animación Metrajes - Vídeo de icono,  teléfono: 207677456">
            <a:hlinkClick r:id="rId4"/>
          </p:cNvPr>
          <p:cNvPicPr preferRelativeResize="0"/>
          <p:nvPr/>
        </p:nvPicPr>
        <p:blipFill rotWithShape="1">
          <a:blip r:embed="rId5">
            <a:alphaModFix/>
          </a:blip>
          <a:srcRect/>
          <a:stretch/>
        </p:blipFill>
        <p:spPr>
          <a:xfrm>
            <a:off x="8399928" y="2258902"/>
            <a:ext cx="3792072" cy="213304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28"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197" name="Google Shape;197;p28"/>
          <p:cNvSpPr txBox="1"/>
          <p:nvPr/>
        </p:nvSpPr>
        <p:spPr>
          <a:xfrm>
            <a:off x="497713" y="1883868"/>
            <a:ext cx="8853600" cy="6369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br>
              <a:rPr lang="es-MX" sz="4800" b="1" i="0" u="none" strike="noStrike" cap="none">
                <a:solidFill>
                  <a:schemeClr val="dk1"/>
                </a:solidFill>
                <a:latin typeface="Work Sans"/>
                <a:ea typeface="Work Sans"/>
                <a:cs typeface="Work Sans"/>
                <a:sym typeface="Work Sans"/>
              </a:rPr>
            </a:br>
            <a:br>
              <a:rPr lang="es-MX" sz="1100" b="1" i="0" u="none" strike="noStrike" cap="none">
                <a:solidFill>
                  <a:schemeClr val="dk1"/>
                </a:solidFill>
                <a:latin typeface="Work Sans"/>
                <a:ea typeface="Work Sans"/>
                <a:cs typeface="Work Sans"/>
                <a:sym typeface="Work Sans"/>
              </a:rPr>
            </a:br>
            <a:r>
              <a:rPr lang="es-MX" sz="4000" b="1" i="0" u="none" strike="noStrike" cap="none">
                <a:solidFill>
                  <a:srgbClr val="000000"/>
                </a:solidFill>
                <a:latin typeface="Work Sans"/>
                <a:ea typeface="Work Sans"/>
                <a:cs typeface="Work Sans"/>
                <a:sym typeface="Work Sans"/>
              </a:rPr>
              <a:t>8.3 Análisis general</a:t>
            </a:r>
            <a:endParaRPr sz="4000" b="1" i="0" u="none" strike="noStrike" cap="none">
              <a:solidFill>
                <a:schemeClr val="dk1"/>
              </a:solidFill>
              <a:latin typeface="Work Sans"/>
              <a:ea typeface="Work Sans"/>
              <a:cs typeface="Work Sans"/>
              <a:sym typeface="Work Sans"/>
            </a:endParaRPr>
          </a:p>
        </p:txBody>
      </p:sp>
      <p:sp>
        <p:nvSpPr>
          <p:cNvPr id="198" name="Google Shape;198;p28"/>
          <p:cNvSpPr txBox="1">
            <a:spLocks noGrp="1"/>
          </p:cNvSpPr>
          <p:nvPr>
            <p:ph type="body" idx="1"/>
          </p:nvPr>
        </p:nvSpPr>
        <p:spPr>
          <a:xfrm>
            <a:off x="682382" y="2413358"/>
            <a:ext cx="6687248" cy="203128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Calibri"/>
              <a:buNone/>
            </a:pPr>
            <a:r>
              <a:rPr lang="es-MX" sz="1800">
                <a:solidFill>
                  <a:schemeClr val="dk1"/>
                </a:solidFill>
              </a:rPr>
              <a:t>Se evidencia la necesidad de implementar un sistema que mejore el control del negocio, especialmente en el manejo de inventario en tiempo real con alertas de stock. También debe incluir un sistema de ventas con comprobantes, descuentos y devoluciones, además de generar reportes para analizar el desempeño. En conclusión, el sistema debe ser fácil de usar, accesible y garantizar la seguridad de la información.</a:t>
            </a:r>
            <a:endParaRPr sz="1800" b="0" i="0" u="none" strike="noStrike" cap="none">
              <a:solidFill>
                <a:schemeClr val="dk1"/>
              </a:solidFill>
              <a:latin typeface="Arial"/>
              <a:ea typeface="Arial"/>
              <a:cs typeface="Arial"/>
              <a:sym typeface="Arial"/>
            </a:endParaRPr>
          </a:p>
        </p:txBody>
      </p:sp>
      <p:pic>
        <p:nvPicPr>
          <p:cNvPr id="199" name="Google Shape;199;p28"/>
          <p:cNvPicPr preferRelativeResize="0"/>
          <p:nvPr/>
        </p:nvPicPr>
        <p:blipFill rotWithShape="1">
          <a:blip r:embed="rId4">
            <a:alphaModFix/>
          </a:blip>
          <a:srcRect/>
          <a:stretch/>
        </p:blipFill>
        <p:spPr>
          <a:xfrm>
            <a:off x="7672471" y="1502228"/>
            <a:ext cx="3357683" cy="385354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29"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205" name="Google Shape;205;p29"/>
          <p:cNvSpPr txBox="1"/>
          <p:nvPr/>
        </p:nvSpPr>
        <p:spPr>
          <a:xfrm>
            <a:off x="735149" y="3144253"/>
            <a:ext cx="6421790" cy="62323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4800" b="1" i="0" u="none" strike="noStrike" cap="none">
                <a:solidFill>
                  <a:srgbClr val="000000"/>
                </a:solidFill>
                <a:latin typeface="Work Sans"/>
                <a:ea typeface="Work Sans"/>
                <a:cs typeface="Work Sans"/>
                <a:sym typeface="Work Sans"/>
              </a:rPr>
              <a:t>9. Requerimientos</a:t>
            </a:r>
            <a:endParaRPr sz="3600" b="1" i="0" u="none" strike="noStrike" cap="none">
              <a:solidFill>
                <a:srgbClr val="000000"/>
              </a:solidFill>
              <a:latin typeface="Work Sans"/>
              <a:ea typeface="Work Sans"/>
              <a:cs typeface="Work Sans"/>
              <a:sym typeface="Work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30"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211" name="Google Shape;211;p30"/>
          <p:cNvSpPr txBox="1"/>
          <p:nvPr/>
        </p:nvSpPr>
        <p:spPr>
          <a:xfrm>
            <a:off x="339453" y="314959"/>
            <a:ext cx="8853505" cy="636867"/>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br>
              <a:rPr lang="es-MX" sz="4800" b="1" i="0" u="none" strike="noStrike" cap="none">
                <a:solidFill>
                  <a:schemeClr val="dk1"/>
                </a:solidFill>
                <a:latin typeface="Work Sans"/>
                <a:ea typeface="Work Sans"/>
                <a:cs typeface="Work Sans"/>
                <a:sym typeface="Work Sans"/>
              </a:rPr>
            </a:br>
            <a:br>
              <a:rPr lang="es-MX" sz="1100" b="1" i="0" u="none" strike="noStrike" cap="none">
                <a:solidFill>
                  <a:schemeClr val="dk1"/>
                </a:solidFill>
                <a:latin typeface="Work Sans"/>
                <a:ea typeface="Work Sans"/>
                <a:cs typeface="Work Sans"/>
                <a:sym typeface="Work Sans"/>
              </a:rPr>
            </a:br>
            <a:r>
              <a:rPr lang="es-MX" sz="4000" b="1" i="0" u="none" strike="noStrike" cap="none">
                <a:solidFill>
                  <a:srgbClr val="000000"/>
                </a:solidFill>
                <a:latin typeface="Work Sans"/>
                <a:ea typeface="Work Sans"/>
                <a:cs typeface="Work Sans"/>
                <a:sym typeface="Work Sans"/>
              </a:rPr>
              <a:t>9.1 Requerimientos funcionales</a:t>
            </a:r>
            <a:endParaRPr sz="4000" b="1" i="0" u="none" strike="noStrike" cap="none">
              <a:solidFill>
                <a:schemeClr val="dk1"/>
              </a:solidFill>
              <a:latin typeface="Work Sans"/>
              <a:ea typeface="Work Sans"/>
              <a:cs typeface="Work Sans"/>
              <a:sym typeface="Work Sans"/>
            </a:endParaRPr>
          </a:p>
        </p:txBody>
      </p:sp>
      <p:sp>
        <p:nvSpPr>
          <p:cNvPr id="212" name="Google Shape;212;p30"/>
          <p:cNvSpPr/>
          <p:nvPr/>
        </p:nvSpPr>
        <p:spPr>
          <a:xfrm>
            <a:off x="678738" y="1274890"/>
            <a:ext cx="3496563" cy="1462591"/>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3" name="Google Shape;213;p30"/>
          <p:cNvSpPr/>
          <p:nvPr/>
        </p:nvSpPr>
        <p:spPr>
          <a:xfrm>
            <a:off x="678736" y="3051285"/>
            <a:ext cx="3666205" cy="1777390"/>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4" name="Google Shape;214;p30"/>
          <p:cNvSpPr/>
          <p:nvPr/>
        </p:nvSpPr>
        <p:spPr>
          <a:xfrm>
            <a:off x="5027645" y="1274891"/>
            <a:ext cx="3496563" cy="1462590"/>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5" name="Google Shape;215;p30"/>
          <p:cNvSpPr/>
          <p:nvPr/>
        </p:nvSpPr>
        <p:spPr>
          <a:xfrm>
            <a:off x="5027645" y="3051356"/>
            <a:ext cx="3646316" cy="1777319"/>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6" name="Google Shape;216;p30"/>
          <p:cNvSpPr txBox="1"/>
          <p:nvPr/>
        </p:nvSpPr>
        <p:spPr>
          <a:xfrm>
            <a:off x="593912" y="1313687"/>
            <a:ext cx="3835849" cy="1384995"/>
          </a:xfrm>
          <a:prstGeom prst="rect">
            <a:avLst/>
          </a:prstGeom>
          <a:noFill/>
          <a:ln>
            <a:noFill/>
          </a:ln>
        </p:spPr>
        <p:txBody>
          <a:bodyPr spcFirstLastPara="1" wrap="square" lIns="91425" tIns="45700" rIns="91425" bIns="45700" anchor="t" anchorCtr="0">
            <a:spAutoFit/>
          </a:bodyPr>
          <a:lstStyle/>
          <a:p>
            <a:pPr marL="228600" marR="0" lvl="0" indent="0" algn="l" rtl="0">
              <a:lnSpc>
                <a:spcPct val="100000"/>
              </a:lnSpc>
              <a:spcBef>
                <a:spcPts val="0"/>
              </a:spcBef>
              <a:spcAft>
                <a:spcPts val="0"/>
              </a:spcAft>
              <a:buClr>
                <a:srgbClr val="000000"/>
              </a:buClr>
              <a:buSzPts val="1400"/>
              <a:buFont typeface="Arial"/>
              <a:buNone/>
            </a:pPr>
            <a:r>
              <a:rPr lang="es-MX" sz="1400" b="1" i="0" u="none" strike="noStrike" cap="none">
                <a:solidFill>
                  <a:schemeClr val="dk1"/>
                </a:solidFill>
                <a:latin typeface="Arial"/>
                <a:ea typeface="Arial"/>
                <a:cs typeface="Arial"/>
                <a:sym typeface="Arial"/>
              </a:rPr>
              <a:t>Inventario</a:t>
            </a:r>
            <a:endParaRPr sz="1400" b="1"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Registro y gestión de productos (RF01, RF03) </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Asignación de precios (RF02) </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Registro de proveedores (RF04) </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Alertas de stock mínimo (RF12)</a:t>
            </a:r>
            <a:endParaRPr sz="1400" b="0" i="0" u="none" strike="noStrike" cap="none">
              <a:solidFill>
                <a:srgbClr val="000000"/>
              </a:solidFill>
              <a:latin typeface="Arial"/>
              <a:ea typeface="Arial"/>
              <a:cs typeface="Arial"/>
              <a:sym typeface="Arial"/>
            </a:endParaRPr>
          </a:p>
        </p:txBody>
      </p:sp>
      <p:sp>
        <p:nvSpPr>
          <p:cNvPr id="217" name="Google Shape;217;p30"/>
          <p:cNvSpPr txBox="1"/>
          <p:nvPr/>
        </p:nvSpPr>
        <p:spPr>
          <a:xfrm>
            <a:off x="5027645" y="1371950"/>
            <a:ext cx="3496563"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MX" sz="1400" b="1" i="0" u="none" strike="noStrike" cap="none">
                <a:solidFill>
                  <a:schemeClr val="dk1"/>
                </a:solidFill>
                <a:latin typeface="Arial"/>
                <a:ea typeface="Arial"/>
                <a:cs typeface="Arial"/>
                <a:sym typeface="Arial"/>
              </a:rPr>
              <a:t>Cliente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Búsqueda de productos (RF05)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Visualización de imágenes (RF06)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Reseñas y calificaciones (RF13)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Historial de compras (RF19)</a:t>
            </a:r>
            <a:endParaRPr sz="1400" b="0" i="0" u="none" strike="noStrike" cap="none">
              <a:solidFill>
                <a:srgbClr val="000000"/>
              </a:solidFill>
              <a:latin typeface="Arial"/>
              <a:ea typeface="Arial"/>
              <a:cs typeface="Arial"/>
              <a:sym typeface="Arial"/>
            </a:endParaRPr>
          </a:p>
        </p:txBody>
      </p:sp>
      <p:sp>
        <p:nvSpPr>
          <p:cNvPr id="218" name="Google Shape;218;p30"/>
          <p:cNvSpPr txBox="1"/>
          <p:nvPr/>
        </p:nvSpPr>
        <p:spPr>
          <a:xfrm>
            <a:off x="593912" y="3099342"/>
            <a:ext cx="3835849" cy="1600438"/>
          </a:xfrm>
          <a:prstGeom prst="rect">
            <a:avLst/>
          </a:prstGeom>
          <a:noFill/>
          <a:ln>
            <a:noFill/>
          </a:ln>
        </p:spPr>
        <p:txBody>
          <a:bodyPr spcFirstLastPara="1" wrap="square" lIns="91425" tIns="45700" rIns="91425" bIns="45700" anchor="t" anchorCtr="0">
            <a:spAutoFit/>
          </a:bodyPr>
          <a:lstStyle/>
          <a:p>
            <a:pPr marL="228600" marR="0" lvl="0" indent="0" algn="l" rtl="0">
              <a:lnSpc>
                <a:spcPct val="100000"/>
              </a:lnSpc>
              <a:spcBef>
                <a:spcPts val="0"/>
              </a:spcBef>
              <a:spcAft>
                <a:spcPts val="0"/>
              </a:spcAft>
              <a:buClr>
                <a:srgbClr val="000000"/>
              </a:buClr>
              <a:buSzPts val="1400"/>
              <a:buFont typeface="Arial"/>
              <a:buNone/>
            </a:pPr>
            <a:r>
              <a:rPr lang="es-MX" sz="1400" b="1" i="0" u="none" strike="noStrike" cap="none">
                <a:solidFill>
                  <a:schemeClr val="dk1"/>
                </a:solidFill>
                <a:latin typeface="Arial"/>
                <a:ea typeface="Arial"/>
                <a:cs typeface="Arial"/>
                <a:sym typeface="Arial"/>
              </a:rPr>
              <a:t>Ventas y Compras</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Carrito de compras (RF07) </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Métodos de pago: Nequi y contra entrega (RF08, RF10, RF11) </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Registro de datos de envío (RF09) </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Generación de comprobantes (RF14) </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chemeClr val="dk1"/>
              </a:buClr>
              <a:buSzPts val="1400"/>
              <a:buFont typeface="Arial"/>
              <a:buChar char="•"/>
            </a:pPr>
            <a:r>
              <a:rPr lang="es-MX" sz="1400" b="0" i="0" u="none" strike="noStrike" cap="none">
                <a:solidFill>
                  <a:schemeClr val="dk1"/>
                </a:solidFill>
                <a:latin typeface="Arial"/>
                <a:ea typeface="Arial"/>
                <a:cs typeface="Arial"/>
                <a:sym typeface="Arial"/>
              </a:rPr>
              <a:t>Cancelación de pedidos (RF15) </a:t>
            </a:r>
            <a:endParaRPr sz="1400" b="0" i="0" u="none" strike="noStrike" cap="none">
              <a:solidFill>
                <a:srgbClr val="000000"/>
              </a:solidFill>
              <a:latin typeface="Arial"/>
              <a:ea typeface="Arial"/>
              <a:cs typeface="Arial"/>
              <a:sym typeface="Arial"/>
            </a:endParaRPr>
          </a:p>
        </p:txBody>
      </p:sp>
      <p:sp>
        <p:nvSpPr>
          <p:cNvPr id="219" name="Google Shape;219;p30"/>
          <p:cNvSpPr txBox="1"/>
          <p:nvPr/>
        </p:nvSpPr>
        <p:spPr>
          <a:xfrm>
            <a:off x="5085605" y="3083371"/>
            <a:ext cx="3588355"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1" i="0" u="none" strike="noStrike" cap="none">
                <a:solidFill>
                  <a:srgbClr val="000000"/>
                </a:solidFill>
                <a:latin typeface="Calibri"/>
                <a:ea typeface="Calibri"/>
                <a:cs typeface="Calibri"/>
                <a:sym typeface="Calibri"/>
              </a:rPr>
              <a:t>Reportes y Administración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Reportes de ventas y utilidades (RF16, RF17)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Cupones de descuento (RF18)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Gestión de usuarios y roles (RF20)</a:t>
            </a:r>
            <a:endParaRPr sz="1400" b="0" i="0" u="none" strike="noStrike" cap="none">
              <a:solidFill>
                <a:srgbClr val="000000"/>
              </a:solidFill>
              <a:latin typeface="Arial"/>
              <a:ea typeface="Arial"/>
              <a:cs typeface="Arial"/>
              <a:sym typeface="Arial"/>
            </a:endParaRPr>
          </a:p>
        </p:txBody>
      </p:sp>
      <p:pic>
        <p:nvPicPr>
          <p:cNvPr id="220" name="Google Shape;220;p30">
            <a:hlinkClick r:id="rId4"/>
          </p:cNvPr>
          <p:cNvPicPr preferRelativeResize="0"/>
          <p:nvPr/>
        </p:nvPicPr>
        <p:blipFill rotWithShape="1">
          <a:blip r:embed="rId5">
            <a:alphaModFix/>
          </a:blip>
          <a:srcRect/>
          <a:stretch/>
        </p:blipFill>
        <p:spPr>
          <a:xfrm>
            <a:off x="8777535" y="1515091"/>
            <a:ext cx="3136559" cy="313655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31"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226" name="Google Shape;226;p31"/>
          <p:cNvSpPr txBox="1"/>
          <p:nvPr/>
        </p:nvSpPr>
        <p:spPr>
          <a:xfrm>
            <a:off x="339453" y="314959"/>
            <a:ext cx="9494358" cy="636867"/>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br>
              <a:rPr lang="es-MX" sz="4800" b="1" i="0" u="none" strike="noStrike" cap="none">
                <a:solidFill>
                  <a:schemeClr val="dk1"/>
                </a:solidFill>
                <a:latin typeface="Work Sans"/>
                <a:ea typeface="Work Sans"/>
                <a:cs typeface="Work Sans"/>
                <a:sym typeface="Work Sans"/>
              </a:rPr>
            </a:br>
            <a:br>
              <a:rPr lang="es-MX" sz="1100" b="1" i="0" u="none" strike="noStrike" cap="none">
                <a:solidFill>
                  <a:schemeClr val="dk1"/>
                </a:solidFill>
                <a:latin typeface="Work Sans"/>
                <a:ea typeface="Work Sans"/>
                <a:cs typeface="Work Sans"/>
                <a:sym typeface="Work Sans"/>
              </a:rPr>
            </a:br>
            <a:r>
              <a:rPr lang="es-MX" sz="4000" b="1" i="0" u="none" strike="noStrike" cap="none">
                <a:solidFill>
                  <a:srgbClr val="000000"/>
                </a:solidFill>
                <a:latin typeface="Work Sans"/>
                <a:ea typeface="Work Sans"/>
                <a:cs typeface="Work Sans"/>
                <a:sym typeface="Work Sans"/>
              </a:rPr>
              <a:t>9.2 Requerimientos no funcionales</a:t>
            </a:r>
            <a:endParaRPr sz="4000" b="1" i="0" u="none" strike="noStrike" cap="none">
              <a:solidFill>
                <a:schemeClr val="dk1"/>
              </a:solidFill>
              <a:latin typeface="Work Sans"/>
              <a:ea typeface="Work Sans"/>
              <a:cs typeface="Work Sans"/>
              <a:sym typeface="Work Sans"/>
            </a:endParaRPr>
          </a:p>
        </p:txBody>
      </p:sp>
      <p:sp>
        <p:nvSpPr>
          <p:cNvPr id="227" name="Google Shape;227;p31"/>
          <p:cNvSpPr/>
          <p:nvPr/>
        </p:nvSpPr>
        <p:spPr>
          <a:xfrm>
            <a:off x="678738" y="1274890"/>
            <a:ext cx="3496563" cy="1462591"/>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8" name="Google Shape;228;p31"/>
          <p:cNvSpPr/>
          <p:nvPr/>
        </p:nvSpPr>
        <p:spPr>
          <a:xfrm>
            <a:off x="678737" y="3051284"/>
            <a:ext cx="3615472" cy="1169511"/>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9" name="Google Shape;229;p31"/>
          <p:cNvSpPr/>
          <p:nvPr/>
        </p:nvSpPr>
        <p:spPr>
          <a:xfrm>
            <a:off x="5027645" y="1274891"/>
            <a:ext cx="3496563" cy="1462590"/>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0" name="Google Shape;230;p31"/>
          <p:cNvSpPr txBox="1"/>
          <p:nvPr/>
        </p:nvSpPr>
        <p:spPr>
          <a:xfrm>
            <a:off x="5033128" y="1274890"/>
            <a:ext cx="3491080" cy="1378136"/>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90000"/>
              </a:lnSpc>
              <a:spcBef>
                <a:spcPts val="1000"/>
              </a:spcBef>
              <a:spcAft>
                <a:spcPts val="0"/>
              </a:spcAft>
              <a:buClr>
                <a:srgbClr val="888888"/>
              </a:buClr>
              <a:buSzPts val="2400"/>
              <a:buFont typeface="Arial"/>
              <a:buNone/>
            </a:pPr>
            <a:endParaRPr sz="2400" b="0" i="0" u="none" strike="noStrike" cap="none">
              <a:solidFill>
                <a:srgbClr val="888888"/>
              </a:solidFill>
              <a:latin typeface="Calibri"/>
              <a:ea typeface="Calibri"/>
              <a:cs typeface="Calibri"/>
              <a:sym typeface="Calibri"/>
            </a:endParaRPr>
          </a:p>
        </p:txBody>
      </p:sp>
      <p:sp>
        <p:nvSpPr>
          <p:cNvPr id="231" name="Google Shape;231;p31"/>
          <p:cNvSpPr/>
          <p:nvPr/>
        </p:nvSpPr>
        <p:spPr>
          <a:xfrm>
            <a:off x="5027645" y="3051356"/>
            <a:ext cx="3491080" cy="1169439"/>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2" name="Google Shape;232;p31"/>
          <p:cNvSpPr txBox="1"/>
          <p:nvPr/>
        </p:nvSpPr>
        <p:spPr>
          <a:xfrm>
            <a:off x="5027645" y="3060546"/>
            <a:ext cx="3491080"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MX" sz="1400" b="1" i="0" u="none" strike="noStrike" cap="none">
                <a:solidFill>
                  <a:srgbClr val="000000"/>
                </a:solidFill>
                <a:latin typeface="Arial"/>
                <a:ea typeface="Arial"/>
                <a:cs typeface="Arial"/>
                <a:sym typeface="Arial"/>
              </a:rPr>
              <a:t>Disponibilidad y Confiabilidad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Sistema disponible la mayor parte del tiempo (RNF10)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Respaldo de información (RNF11)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Recuperación ante fallos (RNF12)</a:t>
            </a:r>
            <a:endParaRPr sz="1400" b="0" i="0" u="none" strike="noStrike" cap="none">
              <a:solidFill>
                <a:srgbClr val="000000"/>
              </a:solidFill>
              <a:latin typeface="Arial"/>
              <a:ea typeface="Arial"/>
              <a:cs typeface="Arial"/>
              <a:sym typeface="Arial"/>
            </a:endParaRPr>
          </a:p>
        </p:txBody>
      </p:sp>
      <p:sp>
        <p:nvSpPr>
          <p:cNvPr id="233" name="Google Shape;233;p31"/>
          <p:cNvSpPr txBox="1"/>
          <p:nvPr/>
        </p:nvSpPr>
        <p:spPr>
          <a:xfrm>
            <a:off x="727862" y="3064301"/>
            <a:ext cx="3835849" cy="11695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MX" sz="1400" b="1" i="0" u="none" strike="noStrike" cap="none">
                <a:solidFill>
                  <a:srgbClr val="000000"/>
                </a:solidFill>
                <a:latin typeface="Arial"/>
                <a:ea typeface="Arial"/>
                <a:cs typeface="Arial"/>
                <a:sym typeface="Arial"/>
              </a:rPr>
              <a:t>Rendimiento</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Respuesta rápida del sistema (RNF07)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Carga eficiente de páginas (RNF08)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Soporte para múltiples usuarios simultáneos (RNF09)</a:t>
            </a:r>
            <a:endParaRPr sz="1400" b="0" i="0" u="none" strike="noStrike" cap="none">
              <a:solidFill>
                <a:srgbClr val="000000"/>
              </a:solidFill>
              <a:latin typeface="Arial"/>
              <a:ea typeface="Arial"/>
              <a:cs typeface="Arial"/>
              <a:sym typeface="Arial"/>
            </a:endParaRPr>
          </a:p>
        </p:txBody>
      </p:sp>
      <p:sp>
        <p:nvSpPr>
          <p:cNvPr id="234" name="Google Shape;234;p31"/>
          <p:cNvSpPr txBox="1"/>
          <p:nvPr/>
        </p:nvSpPr>
        <p:spPr>
          <a:xfrm>
            <a:off x="5027645" y="1266200"/>
            <a:ext cx="3607069" cy="13849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MX" sz="1400" b="1" i="0" u="none" strike="noStrike" cap="none">
                <a:solidFill>
                  <a:srgbClr val="000000"/>
                </a:solidFill>
                <a:latin typeface="Arial"/>
                <a:ea typeface="Arial"/>
                <a:cs typeface="Arial"/>
                <a:sym typeface="Arial"/>
              </a:rPr>
              <a:t>Usabilidad y Diseño</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Diseño adaptable (PC, celular, tablet) (RNF02)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Interfaz intuitiva y fácil de usar (RNF05)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Navegación clara para el usuario (RNF06)</a:t>
            </a:r>
            <a:endParaRPr sz="1400" b="0" i="0" u="none" strike="noStrike" cap="none">
              <a:solidFill>
                <a:srgbClr val="000000"/>
              </a:solidFill>
              <a:latin typeface="Arial"/>
              <a:ea typeface="Arial"/>
              <a:cs typeface="Arial"/>
              <a:sym typeface="Arial"/>
            </a:endParaRPr>
          </a:p>
        </p:txBody>
      </p:sp>
      <p:sp>
        <p:nvSpPr>
          <p:cNvPr id="235" name="Google Shape;235;p31"/>
          <p:cNvSpPr txBox="1"/>
          <p:nvPr/>
        </p:nvSpPr>
        <p:spPr>
          <a:xfrm>
            <a:off x="678736" y="1352968"/>
            <a:ext cx="3496563" cy="13849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MX" sz="1400" b="1" i="0" u="none" strike="noStrike" cap="none">
                <a:solidFill>
                  <a:srgbClr val="000000"/>
                </a:solidFill>
                <a:latin typeface="Arial"/>
                <a:ea typeface="Arial"/>
                <a:cs typeface="Arial"/>
                <a:sym typeface="Arial"/>
              </a:rPr>
              <a:t>Seguridad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Protección de datos de clientes (RNF01)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Acceso restringido por roles (RNF03)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Manejo seguro de la información (RNF04) </a:t>
            </a:r>
            <a:endParaRPr sz="1400" b="0" i="0" u="none" strike="noStrike" cap="none">
              <a:solidFill>
                <a:srgbClr val="000000"/>
              </a:solidFill>
              <a:latin typeface="Arial"/>
              <a:ea typeface="Arial"/>
              <a:cs typeface="Arial"/>
              <a:sym typeface="Arial"/>
            </a:endParaRPr>
          </a:p>
        </p:txBody>
      </p:sp>
      <p:pic>
        <p:nvPicPr>
          <p:cNvPr id="236" name="Google Shape;236;p31">
            <a:hlinkClick r:id="rId4"/>
          </p:cNvPr>
          <p:cNvPicPr preferRelativeResize="0"/>
          <p:nvPr/>
        </p:nvPicPr>
        <p:blipFill rotWithShape="1">
          <a:blip r:embed="rId5">
            <a:alphaModFix/>
          </a:blip>
          <a:srcRect/>
          <a:stretch/>
        </p:blipFill>
        <p:spPr>
          <a:xfrm>
            <a:off x="8956266" y="2045445"/>
            <a:ext cx="2168843" cy="1936251"/>
          </a:xfrm>
          <a:prstGeom prst="rect">
            <a:avLst/>
          </a:prstGeom>
          <a:noFill/>
          <a:ln>
            <a:noFill/>
          </a:ln>
        </p:spPr>
      </p:pic>
      <p:sp>
        <p:nvSpPr>
          <p:cNvPr id="237" name="Google Shape;237;p31"/>
          <p:cNvSpPr/>
          <p:nvPr/>
        </p:nvSpPr>
        <p:spPr>
          <a:xfrm>
            <a:off x="2957706" y="4521139"/>
            <a:ext cx="3491080" cy="1613415"/>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8" name="Google Shape;238;p31"/>
          <p:cNvSpPr txBox="1"/>
          <p:nvPr/>
        </p:nvSpPr>
        <p:spPr>
          <a:xfrm>
            <a:off x="2957706" y="4534157"/>
            <a:ext cx="3491080" cy="16003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MX" sz="1400" b="1" i="0" u="none" strike="noStrike" cap="none">
                <a:solidFill>
                  <a:srgbClr val="000000"/>
                </a:solidFill>
                <a:latin typeface="Arial"/>
                <a:ea typeface="Arial"/>
                <a:cs typeface="Arial"/>
                <a:sym typeface="Arial"/>
              </a:rPr>
              <a:t>Mantenimiento y Escalabilidad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Código organizado y fácil de mantener (RNF13)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Posibilidad de agregar nuevas funciones (RNF14)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s-MX" sz="1400" b="0" i="0" u="none" strike="noStrike" cap="none">
                <a:solidFill>
                  <a:srgbClr val="000000"/>
                </a:solidFill>
                <a:latin typeface="Arial"/>
                <a:ea typeface="Arial"/>
                <a:cs typeface="Arial"/>
                <a:sym typeface="Arial"/>
              </a:rPr>
              <a:t>Actualizaciones sin afectar el sistema (RNF15)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32"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244" name="Google Shape;244;p32"/>
          <p:cNvSpPr txBox="1"/>
          <p:nvPr/>
        </p:nvSpPr>
        <p:spPr>
          <a:xfrm>
            <a:off x="526287" y="3101342"/>
            <a:ext cx="8874385" cy="62323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4800" b="1" i="0" u="none" strike="noStrike" cap="none">
                <a:solidFill>
                  <a:srgbClr val="000000"/>
                </a:solidFill>
                <a:latin typeface="Work Sans"/>
                <a:ea typeface="Work Sans"/>
                <a:cs typeface="Work Sans"/>
                <a:sym typeface="Work Sans"/>
              </a:rPr>
              <a:t>10. Historias de usuario</a:t>
            </a:r>
            <a:endParaRPr sz="3600" b="1" i="0" u="none" strike="noStrike" cap="none">
              <a:solidFill>
                <a:srgbClr val="000000"/>
              </a:solidFill>
              <a:latin typeface="Work Sans"/>
              <a:ea typeface="Work Sans"/>
              <a:cs typeface="Work Sans"/>
              <a:sym typeface="Work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33"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pic>
        <p:nvPicPr>
          <p:cNvPr id="250" name="Google Shape;250;p33" descr="icono de línea de historias de usuario 14808852 Vector en Vecteezy">
            <a:hlinkClick r:id="rId4"/>
          </p:cNvPr>
          <p:cNvPicPr preferRelativeResize="0"/>
          <p:nvPr/>
        </p:nvPicPr>
        <p:blipFill rotWithShape="1">
          <a:blip r:embed="rId5">
            <a:alphaModFix/>
          </a:blip>
          <a:srcRect/>
          <a:stretch/>
        </p:blipFill>
        <p:spPr>
          <a:xfrm>
            <a:off x="4510327" y="2071115"/>
            <a:ext cx="2209240" cy="2209240"/>
          </a:xfrm>
          <a:prstGeom prst="rect">
            <a:avLst/>
          </a:prstGeom>
          <a:noFill/>
          <a:ln>
            <a:noFill/>
          </a:ln>
        </p:spPr>
      </p:pic>
      <p:sp>
        <p:nvSpPr>
          <p:cNvPr id="251" name="Google Shape;251;p33"/>
          <p:cNvSpPr/>
          <p:nvPr/>
        </p:nvSpPr>
        <p:spPr>
          <a:xfrm>
            <a:off x="678738" y="1274890"/>
            <a:ext cx="3496563" cy="1900845"/>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2" name="Google Shape;252;p33"/>
          <p:cNvSpPr txBox="1"/>
          <p:nvPr/>
        </p:nvSpPr>
        <p:spPr>
          <a:xfrm>
            <a:off x="678738" y="1245346"/>
            <a:ext cx="3496563"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Calibri"/>
                <a:ea typeface="Calibri"/>
                <a:cs typeface="Calibri"/>
                <a:sym typeface="Calibri"/>
              </a:rPr>
              <a:t>Inventario</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Registrar productos (HU01)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Editar o eliminar productos (HU03)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Registrar proveedores (HU04)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Alertas de stock mínimo (HU12)</a:t>
            </a:r>
            <a:endParaRPr sz="1400" b="0" i="0" u="none" strike="noStrike" cap="none">
              <a:solidFill>
                <a:srgbClr val="000000"/>
              </a:solidFill>
              <a:latin typeface="Arial"/>
              <a:ea typeface="Arial"/>
              <a:cs typeface="Arial"/>
              <a:sym typeface="Arial"/>
            </a:endParaRPr>
          </a:p>
        </p:txBody>
      </p:sp>
      <p:sp>
        <p:nvSpPr>
          <p:cNvPr id="253" name="Google Shape;253;p33"/>
          <p:cNvSpPr/>
          <p:nvPr/>
        </p:nvSpPr>
        <p:spPr>
          <a:xfrm>
            <a:off x="678738" y="3535747"/>
            <a:ext cx="3496563" cy="1900845"/>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4" name="Google Shape;254;p33"/>
          <p:cNvSpPr txBox="1"/>
          <p:nvPr/>
        </p:nvSpPr>
        <p:spPr>
          <a:xfrm>
            <a:off x="678738" y="3535747"/>
            <a:ext cx="3496563"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Arial"/>
                <a:ea typeface="Arial"/>
                <a:cs typeface="Arial"/>
                <a:sym typeface="Arial"/>
              </a:rPr>
              <a:t>Compras y Pagos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Arial"/>
                <a:ea typeface="Arial"/>
                <a:cs typeface="Arial"/>
                <a:sym typeface="Arial"/>
              </a:rPr>
              <a:t>Carrito de compras (HU07)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Arial"/>
                <a:ea typeface="Arial"/>
                <a:cs typeface="Arial"/>
                <a:sym typeface="Arial"/>
              </a:rPr>
              <a:t>Pago por Nequi / QR (HU08, HU10)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Arial"/>
                <a:ea typeface="Arial"/>
                <a:cs typeface="Arial"/>
                <a:sym typeface="Arial"/>
              </a:rPr>
              <a:t>Pago contra entrega (HU11)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Arial"/>
                <a:ea typeface="Arial"/>
                <a:cs typeface="Arial"/>
                <a:sym typeface="Arial"/>
              </a:rPr>
              <a:t>Cancelar pedidos (HU15)</a:t>
            </a:r>
            <a:endParaRPr sz="1400" b="0" i="0" u="none" strike="noStrike" cap="none">
              <a:solidFill>
                <a:srgbClr val="000000"/>
              </a:solidFill>
              <a:latin typeface="Arial"/>
              <a:ea typeface="Arial"/>
              <a:cs typeface="Arial"/>
              <a:sym typeface="Arial"/>
            </a:endParaRPr>
          </a:p>
        </p:txBody>
      </p:sp>
      <p:sp>
        <p:nvSpPr>
          <p:cNvPr id="255" name="Google Shape;255;p33"/>
          <p:cNvSpPr/>
          <p:nvPr/>
        </p:nvSpPr>
        <p:spPr>
          <a:xfrm>
            <a:off x="7766149" y="1274890"/>
            <a:ext cx="3496563" cy="1900845"/>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6" name="Google Shape;256;p33"/>
          <p:cNvSpPr txBox="1"/>
          <p:nvPr/>
        </p:nvSpPr>
        <p:spPr>
          <a:xfrm>
            <a:off x="7804841" y="1245346"/>
            <a:ext cx="3496563"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Calibri"/>
                <a:ea typeface="Calibri"/>
                <a:cs typeface="Calibri"/>
                <a:sym typeface="Calibri"/>
              </a:rPr>
              <a:t>Cliente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Buscar productos (HU05)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Ver imágenes (HU06)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Reseñas y calificaciones (HU13)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Historial de compras (HU19)</a:t>
            </a:r>
            <a:endParaRPr sz="1400" b="0" i="0" u="none" strike="noStrike" cap="none">
              <a:solidFill>
                <a:srgbClr val="000000"/>
              </a:solidFill>
              <a:latin typeface="Arial"/>
              <a:ea typeface="Arial"/>
              <a:cs typeface="Arial"/>
              <a:sym typeface="Arial"/>
            </a:endParaRPr>
          </a:p>
        </p:txBody>
      </p:sp>
      <p:sp>
        <p:nvSpPr>
          <p:cNvPr id="257" name="Google Shape;257;p33"/>
          <p:cNvSpPr/>
          <p:nvPr/>
        </p:nvSpPr>
        <p:spPr>
          <a:xfrm>
            <a:off x="7804841" y="3426207"/>
            <a:ext cx="3496563" cy="2010385"/>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8" name="Google Shape;258;p33"/>
          <p:cNvSpPr txBox="1"/>
          <p:nvPr/>
        </p:nvSpPr>
        <p:spPr>
          <a:xfrm>
            <a:off x="7843533" y="3396663"/>
            <a:ext cx="3496563"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chemeClr val="dk1"/>
                </a:solidFill>
                <a:latin typeface="Calibri"/>
                <a:ea typeface="Calibri"/>
                <a:cs typeface="Calibri"/>
                <a:sym typeface="Calibri"/>
              </a:rPr>
              <a:t>Reportes y Ventas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chemeClr val="dk1"/>
                </a:solidFill>
                <a:latin typeface="Calibri"/>
                <a:ea typeface="Calibri"/>
                <a:cs typeface="Calibri"/>
                <a:sym typeface="Calibri"/>
              </a:rPr>
              <a:t>Comprobante de compra (HU14)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chemeClr val="dk1"/>
                </a:solidFill>
                <a:latin typeface="Calibri"/>
                <a:ea typeface="Calibri"/>
                <a:cs typeface="Calibri"/>
                <a:sym typeface="Calibri"/>
              </a:rPr>
              <a:t>Reportes diarios en PDF (HU16)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chemeClr val="dk1"/>
                </a:solidFill>
                <a:latin typeface="Calibri"/>
                <a:ea typeface="Calibri"/>
                <a:cs typeface="Calibri"/>
                <a:sym typeface="Calibri"/>
              </a:rPr>
              <a:t>Reporte de utilidades (HU17)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chemeClr val="dk1"/>
                </a:solidFill>
                <a:latin typeface="Calibri"/>
                <a:ea typeface="Calibri"/>
                <a:cs typeface="Calibri"/>
                <a:sym typeface="Calibri"/>
              </a:rPr>
              <a:t>Cupones de descuento (HU18)</a:t>
            </a:r>
            <a:endParaRPr sz="1400" b="0" i="0" u="none" strike="noStrike" cap="none">
              <a:solidFill>
                <a:srgbClr val="000000"/>
              </a:solidFill>
              <a:latin typeface="Arial"/>
              <a:ea typeface="Arial"/>
              <a:cs typeface="Arial"/>
              <a:sym typeface="Arial"/>
            </a:endParaRPr>
          </a:p>
        </p:txBody>
      </p:sp>
      <p:sp>
        <p:nvSpPr>
          <p:cNvPr id="259" name="Google Shape;259;p33"/>
          <p:cNvSpPr/>
          <p:nvPr/>
        </p:nvSpPr>
        <p:spPr>
          <a:xfrm>
            <a:off x="4467434" y="4671642"/>
            <a:ext cx="3045273" cy="1529897"/>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0" name="Google Shape;260;p33"/>
          <p:cNvSpPr txBox="1"/>
          <p:nvPr/>
        </p:nvSpPr>
        <p:spPr>
          <a:xfrm>
            <a:off x="4467434" y="4797292"/>
            <a:ext cx="3045273"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1" i="0" u="none" strike="noStrike" cap="none">
                <a:solidFill>
                  <a:srgbClr val="000000"/>
                </a:solidFill>
                <a:latin typeface="Calibri"/>
                <a:ea typeface="Calibri"/>
                <a:cs typeface="Calibri"/>
                <a:sym typeface="Calibri"/>
              </a:rPr>
              <a:t>Administración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Asignar precios (HU02)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Datos de envío (HU09)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s-MX" sz="1800" b="0" i="0" u="none" strike="noStrike" cap="none">
                <a:solidFill>
                  <a:srgbClr val="000000"/>
                </a:solidFill>
                <a:latin typeface="Calibri"/>
                <a:ea typeface="Calibri"/>
                <a:cs typeface="Calibri"/>
                <a:sym typeface="Calibri"/>
              </a:rPr>
              <a:t>Gestión de accesos (HU20)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34"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266" name="Google Shape;266;p34"/>
          <p:cNvSpPr txBox="1"/>
          <p:nvPr/>
        </p:nvSpPr>
        <p:spPr>
          <a:xfrm>
            <a:off x="409507" y="3110566"/>
            <a:ext cx="6592437" cy="636867"/>
          </a:xfrm>
          <a:prstGeom prst="rect">
            <a:avLst/>
          </a:prstGeom>
          <a:noFill/>
          <a:ln>
            <a:noFill/>
          </a:ln>
        </p:spPr>
        <p:txBody>
          <a:bodyPr spcFirstLastPara="1" wrap="square" lIns="91425" tIns="45700" rIns="91425" bIns="45700" anchor="b" anchorCtr="0">
            <a:noAutofit/>
          </a:bodyPr>
          <a:lstStyle/>
          <a:p>
            <a:pPr marL="228600" marR="0" lvl="0" indent="0" algn="l" rtl="0">
              <a:lnSpc>
                <a:spcPct val="100000"/>
              </a:lnSpc>
              <a:spcBef>
                <a:spcPts val="0"/>
              </a:spcBef>
              <a:spcAft>
                <a:spcPts val="0"/>
              </a:spcAft>
              <a:buClr>
                <a:srgbClr val="000000"/>
              </a:buClr>
              <a:buSzPts val="4800"/>
              <a:buFont typeface="Arial"/>
              <a:buNone/>
            </a:pPr>
            <a:r>
              <a:rPr lang="es-MX" sz="4800" b="1" i="0" u="none" strike="noStrike" cap="none">
                <a:solidFill>
                  <a:schemeClr val="dk1"/>
                </a:solidFill>
                <a:latin typeface="Work Sans"/>
                <a:ea typeface="Work Sans"/>
                <a:cs typeface="Work Sans"/>
                <a:sym typeface="Work Sans"/>
              </a:rPr>
              <a:t>11. Relación  RF-HU</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35" descr="Servicio Nacional de Aprendizaje - SENA | Bogota.gov.co"/>
          <p:cNvPicPr preferRelativeResize="0"/>
          <p:nvPr/>
        </p:nvPicPr>
        <p:blipFill rotWithShape="1">
          <a:blip r:embed="rId3">
            <a:alphaModFix/>
          </a:blip>
          <a:srcRect/>
          <a:stretch/>
        </p:blipFill>
        <p:spPr>
          <a:xfrm>
            <a:off x="11418348" y="257683"/>
            <a:ext cx="651382" cy="636867"/>
          </a:xfrm>
          <a:prstGeom prst="rect">
            <a:avLst/>
          </a:prstGeom>
          <a:noFill/>
          <a:ln>
            <a:noFill/>
          </a:ln>
        </p:spPr>
      </p:pic>
      <p:graphicFrame>
        <p:nvGraphicFramePr>
          <p:cNvPr id="272" name="Google Shape;272;p35"/>
          <p:cNvGraphicFramePr/>
          <p:nvPr/>
        </p:nvGraphicFramePr>
        <p:xfrm>
          <a:off x="447960" y="894550"/>
          <a:ext cx="3000000" cy="3000000"/>
        </p:xfrm>
        <a:graphic>
          <a:graphicData uri="http://schemas.openxmlformats.org/drawingml/2006/table">
            <a:tbl>
              <a:tblPr>
                <a:noFill/>
                <a:tableStyleId>{9E162717-495E-49A1-95A1-FCD24B269607}</a:tableStyleId>
              </a:tblPr>
              <a:tblGrid>
                <a:gridCol w="5648050">
                  <a:extLst>
                    <a:ext uri="{9D8B030D-6E8A-4147-A177-3AD203B41FA5}">
                      <a16:colId xmlns:a16="http://schemas.microsoft.com/office/drawing/2014/main" val="20000"/>
                    </a:ext>
                  </a:extLst>
                </a:gridCol>
                <a:gridCol w="5648050">
                  <a:extLst>
                    <a:ext uri="{9D8B030D-6E8A-4147-A177-3AD203B41FA5}">
                      <a16:colId xmlns:a16="http://schemas.microsoft.com/office/drawing/2014/main" val="20001"/>
                    </a:ext>
                  </a:extLst>
                </a:gridCol>
              </a:tblGrid>
              <a:tr h="162875">
                <a:tc>
                  <a:txBody>
                    <a:bodyPr/>
                    <a:lstStyle/>
                    <a:p>
                      <a:pPr marL="0" marR="0" lvl="0" indent="0" algn="l" rtl="0">
                        <a:lnSpc>
                          <a:spcPct val="100000"/>
                        </a:lnSpc>
                        <a:spcBef>
                          <a:spcPts val="0"/>
                        </a:spcBef>
                        <a:spcAft>
                          <a:spcPts val="0"/>
                        </a:spcAft>
                        <a:buClr>
                          <a:srgbClr val="000000"/>
                        </a:buClr>
                        <a:buSzPts val="1200"/>
                        <a:buFont typeface="Arial"/>
                        <a:buNone/>
                      </a:pPr>
                      <a:r>
                        <a:rPr lang="es-MX" sz="1200" b="1" i="0" u="none" strike="noStrike" cap="none">
                          <a:solidFill>
                            <a:srgbClr val="FFFFFF"/>
                          </a:solidFill>
                          <a:latin typeface="Calibri"/>
                          <a:ea typeface="Calibri"/>
                          <a:cs typeface="Calibri"/>
                          <a:sym typeface="Calibri"/>
                        </a:rPr>
                        <a:t>Requerimiento Funcional</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66CC"/>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1" i="0" u="none" strike="noStrike" cap="none">
                          <a:solidFill>
                            <a:srgbClr val="FFFFFF"/>
                          </a:solidFill>
                          <a:latin typeface="Calibri"/>
                          <a:ea typeface="Calibri"/>
                          <a:cs typeface="Calibri"/>
                          <a:sym typeface="Calibri"/>
                        </a:rPr>
                        <a:t>Historia de Usuario</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66CC"/>
                    </a:solidFill>
                  </a:tcPr>
                </a:tc>
                <a:extLst>
                  <a:ext uri="{0D108BD9-81ED-4DB2-BD59-A6C34878D82A}">
                    <a16:rowId xmlns:a16="http://schemas.microsoft.com/office/drawing/2014/main" val="10000"/>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Registro de nuevos productos (nombre, categoría y descripción). RF01</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Admin, quiero registrar productos para que aparezcan en el catálogo. HU01</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1"/>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Asignación de precios de compra y venta. RF02</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Dueño, quiero definir precios para controlar costos y ganancias. HU02</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02"/>
                  </a:ext>
                </a:extLst>
              </a:tr>
              <a:tr h="353175">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Edición y eliminación lógica de productos con actualización de inventario  RF03.</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Admin, quiero editar o desactivar productos para mantener actualizado el inventario. HU03</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3"/>
                  </a:ext>
                </a:extLst>
              </a:tr>
              <a:tr h="1421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Registro de proveedores con datos de contacto. RF04</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Dueño, quiero guardar datos de proveedores para contactarlos fácilmente. HU4</a:t>
                      </a:r>
                      <a:endParaRPr sz="14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04"/>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Búsqueda de productos por nombre o categoría. RF05</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buscar productos para encontrarlos rápidamente. HU05</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5"/>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Visualización de imágenes de productos en el catálogo. RF06</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ver fotos de los productos antes de comprar. HU06</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06"/>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Carrito de compras para añadir o quitar productos. RF07</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gestionar mi carrito antes de confirmar la compra. HU07</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7"/>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Mostrar número o QR de Nequi para pagos. RF08</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ver el QR o número de Nequi para pagar fácilmente. HU08</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08"/>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Formulario de datos de envío (dirección y teléfono). RF09</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ingresar mis datos de envío para recibir el pedido. HU09</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9"/>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Pago por transferencia Nequi con comprobante. RF10</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subir el comprobante de pago para confirmar mi compra. HU10</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10"/>
                  </a:ext>
                </a:extLst>
              </a:tr>
              <a:tr h="154525">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Opción de pago contra entrega. RF11</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pagar al recibir el pedido. HU11</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11"/>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Alertas de inventario cuando el stock sea mínimo. RF12</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Admin, quiero recibir alertas de bajo stock para reponer productos. HU12</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12"/>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Sistema de reseñas y calificación con estrellas. RF13</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calificar productos y dejar reseñas.HU13</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13"/>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Generación de comprobantes de venta digitales. RF14</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descargar un comprobante de mi compra. HU14</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14"/>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Cancelación de pedidos antes del envío. RF15</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cancelar un pedido antes de que sea enviado. HU15</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15"/>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Reportes diarios de ventas exportables a PDF. RF16</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Dueño, quiero generar reportes diarios de ventas en PDF. HU16</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16"/>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Reporte mensual de utilidades.RF17</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Dueño, quiero ver las ganancias mensuales del negocio. HU17</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17"/>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Creación de cupones de descuento. RF18</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Admin, quiero crear cupones para promociones. HU18</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18"/>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Historial de compras del cliente. RF19</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Cliente, quiero ver mis pedidos anteriores. HU19</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19"/>
                  </a:ext>
                </a:extLst>
              </a:tr>
              <a:tr h="250700">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Gestión de usuarios y roles (admin/cliente). RF20</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000000"/>
                          </a:solidFill>
                          <a:latin typeface="Calibri"/>
                          <a:ea typeface="Calibri"/>
                          <a:cs typeface="Calibri"/>
                          <a:sym typeface="Calibri"/>
                        </a:rPr>
                        <a:t>Como Dueño, quiero controlar quién puede administrar el sistema. HU20</a:t>
                      </a:r>
                      <a:endParaRPr sz="1200" u="none" strike="noStrike" cap="none"/>
                    </a:p>
                  </a:txBody>
                  <a:tcPr marL="38450" marR="38450" marT="19225" marB="19225">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12675" cap="flat" cmpd="sng">
                      <a:solidFill>
                        <a:srgbClr val="FFFFFF"/>
                      </a:solidFill>
                      <a:prstDash val="solid"/>
                      <a:round/>
                      <a:headEnd type="none" w="sm" len="sm"/>
                      <a:tailEnd type="none" w="sm" len="sm"/>
                    </a:lnB>
                    <a:solidFill>
                      <a:srgbClr val="E6F0FF"/>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36"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278" name="Google Shape;278;p36"/>
          <p:cNvSpPr txBox="1"/>
          <p:nvPr/>
        </p:nvSpPr>
        <p:spPr>
          <a:xfrm>
            <a:off x="536473" y="3148667"/>
            <a:ext cx="6421790"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12. MOCKUPS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37"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284" name="Google Shape;284;p37"/>
          <p:cNvSpPr txBox="1"/>
          <p:nvPr/>
        </p:nvSpPr>
        <p:spPr>
          <a:xfrm>
            <a:off x="632725" y="314959"/>
            <a:ext cx="5627398"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Inicio del aplicativo </a:t>
            </a:r>
            <a:endParaRPr sz="1400" b="0" i="0" u="none" strike="noStrike" cap="none">
              <a:solidFill>
                <a:srgbClr val="000000"/>
              </a:solidFill>
              <a:latin typeface="Arial"/>
              <a:ea typeface="Arial"/>
              <a:cs typeface="Arial"/>
              <a:sym typeface="Arial"/>
            </a:endParaRPr>
          </a:p>
        </p:txBody>
      </p:sp>
      <p:pic>
        <p:nvPicPr>
          <p:cNvPr id="285" name="Google Shape;285;p37">
            <a:hlinkClick r:id="rId4"/>
          </p:cNvPr>
          <p:cNvPicPr preferRelativeResize="0"/>
          <p:nvPr/>
        </p:nvPicPr>
        <p:blipFill rotWithShape="1">
          <a:blip r:embed="rId5">
            <a:alphaModFix/>
          </a:blip>
          <a:srcRect/>
          <a:stretch/>
        </p:blipFill>
        <p:spPr>
          <a:xfrm>
            <a:off x="1292148" y="951826"/>
            <a:ext cx="4166431" cy="3796198"/>
          </a:xfrm>
          <a:prstGeom prst="rect">
            <a:avLst/>
          </a:prstGeom>
          <a:noFill/>
          <a:ln>
            <a:noFill/>
          </a:ln>
        </p:spPr>
      </p:pic>
      <p:pic>
        <p:nvPicPr>
          <p:cNvPr id="286" name="Google Shape;286;p37">
            <a:hlinkClick r:id="rId4"/>
          </p:cNvPr>
          <p:cNvPicPr preferRelativeResize="0"/>
          <p:nvPr/>
        </p:nvPicPr>
        <p:blipFill rotWithShape="1">
          <a:blip r:embed="rId6">
            <a:alphaModFix/>
          </a:blip>
          <a:srcRect/>
          <a:stretch/>
        </p:blipFill>
        <p:spPr>
          <a:xfrm>
            <a:off x="7096282" y="951826"/>
            <a:ext cx="4166430" cy="3786718"/>
          </a:xfrm>
          <a:prstGeom prst="rect">
            <a:avLst/>
          </a:prstGeom>
          <a:noFill/>
          <a:ln>
            <a:noFill/>
          </a:ln>
        </p:spPr>
      </p:pic>
      <p:pic>
        <p:nvPicPr>
          <p:cNvPr id="287" name="Google Shape;287;p37">
            <a:hlinkClick r:id="rId4"/>
          </p:cNvPr>
          <p:cNvPicPr preferRelativeResize="0"/>
          <p:nvPr/>
        </p:nvPicPr>
        <p:blipFill rotWithShape="1">
          <a:blip r:embed="rId7">
            <a:alphaModFix/>
          </a:blip>
          <a:srcRect/>
          <a:stretch/>
        </p:blipFill>
        <p:spPr>
          <a:xfrm>
            <a:off x="3587312" y="4824225"/>
            <a:ext cx="5345622" cy="126606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38"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293" name="Google Shape;293;p38"/>
          <p:cNvSpPr txBox="1"/>
          <p:nvPr/>
        </p:nvSpPr>
        <p:spPr>
          <a:xfrm>
            <a:off x="632725" y="314959"/>
            <a:ext cx="5627398"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Carrito de compras</a:t>
            </a:r>
            <a:endParaRPr sz="1400" b="0" i="0" u="none" strike="noStrike" cap="none">
              <a:solidFill>
                <a:srgbClr val="000000"/>
              </a:solidFill>
              <a:latin typeface="Arial"/>
              <a:ea typeface="Arial"/>
              <a:cs typeface="Arial"/>
              <a:sym typeface="Arial"/>
            </a:endParaRPr>
          </a:p>
        </p:txBody>
      </p:sp>
      <p:pic>
        <p:nvPicPr>
          <p:cNvPr id="294" name="Google Shape;294;p38"/>
          <p:cNvPicPr preferRelativeResize="0"/>
          <p:nvPr/>
        </p:nvPicPr>
        <p:blipFill rotWithShape="1">
          <a:blip r:embed="rId4">
            <a:alphaModFix/>
          </a:blip>
          <a:srcRect/>
          <a:stretch/>
        </p:blipFill>
        <p:spPr>
          <a:xfrm>
            <a:off x="758879" y="875625"/>
            <a:ext cx="5931585" cy="5293150"/>
          </a:xfrm>
          <a:prstGeom prst="rect">
            <a:avLst/>
          </a:prstGeom>
          <a:noFill/>
          <a:ln>
            <a:noFill/>
          </a:ln>
        </p:spPr>
      </p:pic>
      <p:pic>
        <p:nvPicPr>
          <p:cNvPr id="295" name="Google Shape;295;p38"/>
          <p:cNvPicPr preferRelativeResize="0"/>
          <p:nvPr/>
        </p:nvPicPr>
        <p:blipFill rotWithShape="1">
          <a:blip r:embed="rId5">
            <a:alphaModFix/>
          </a:blip>
          <a:srcRect/>
          <a:stretch/>
        </p:blipFill>
        <p:spPr>
          <a:xfrm>
            <a:off x="6961124" y="875625"/>
            <a:ext cx="4286859" cy="2446745"/>
          </a:xfrm>
          <a:prstGeom prst="rect">
            <a:avLst/>
          </a:prstGeom>
          <a:noFill/>
          <a:ln>
            <a:noFill/>
          </a:ln>
        </p:spPr>
      </p:pic>
      <p:pic>
        <p:nvPicPr>
          <p:cNvPr id="296" name="Google Shape;296;p38"/>
          <p:cNvPicPr preferRelativeResize="0"/>
          <p:nvPr/>
        </p:nvPicPr>
        <p:blipFill rotWithShape="1">
          <a:blip r:embed="rId6">
            <a:alphaModFix/>
          </a:blip>
          <a:srcRect/>
          <a:stretch/>
        </p:blipFill>
        <p:spPr>
          <a:xfrm>
            <a:off x="6961124" y="3322370"/>
            <a:ext cx="4377079" cy="284640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Google Shape;301;p39"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302" name="Google Shape;302;p39"/>
          <p:cNvSpPr txBox="1"/>
          <p:nvPr/>
        </p:nvSpPr>
        <p:spPr>
          <a:xfrm>
            <a:off x="632725" y="314959"/>
            <a:ext cx="4334929"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Proceso de pago </a:t>
            </a:r>
            <a:endParaRPr sz="1400" b="0" i="0" u="none" strike="noStrike" cap="none">
              <a:solidFill>
                <a:srgbClr val="000000"/>
              </a:solidFill>
              <a:latin typeface="Arial"/>
              <a:ea typeface="Arial"/>
              <a:cs typeface="Arial"/>
              <a:sym typeface="Arial"/>
            </a:endParaRPr>
          </a:p>
        </p:txBody>
      </p:sp>
      <p:pic>
        <p:nvPicPr>
          <p:cNvPr id="303" name="Google Shape;303;p39"/>
          <p:cNvPicPr preferRelativeResize="0"/>
          <p:nvPr/>
        </p:nvPicPr>
        <p:blipFill rotWithShape="1">
          <a:blip r:embed="rId4">
            <a:alphaModFix/>
          </a:blip>
          <a:srcRect/>
          <a:stretch/>
        </p:blipFill>
        <p:spPr>
          <a:xfrm>
            <a:off x="703384" y="951826"/>
            <a:ext cx="4990725" cy="3875151"/>
          </a:xfrm>
          <a:prstGeom prst="rect">
            <a:avLst/>
          </a:prstGeom>
          <a:noFill/>
          <a:ln>
            <a:noFill/>
          </a:ln>
        </p:spPr>
      </p:pic>
      <p:pic>
        <p:nvPicPr>
          <p:cNvPr id="304" name="Google Shape;304;p39"/>
          <p:cNvPicPr preferRelativeResize="0"/>
          <p:nvPr/>
        </p:nvPicPr>
        <p:blipFill rotWithShape="1">
          <a:blip r:embed="rId5">
            <a:alphaModFix/>
          </a:blip>
          <a:srcRect/>
          <a:stretch/>
        </p:blipFill>
        <p:spPr>
          <a:xfrm>
            <a:off x="5797250" y="951826"/>
            <a:ext cx="5013268" cy="38751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pic>
        <p:nvPicPr>
          <p:cNvPr id="309" name="Google Shape;309;p40"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310" name="Google Shape;310;p40"/>
          <p:cNvSpPr txBox="1"/>
          <p:nvPr/>
        </p:nvSpPr>
        <p:spPr>
          <a:xfrm>
            <a:off x="632725" y="314959"/>
            <a:ext cx="5636190"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Panel de administrador</a:t>
            </a:r>
            <a:endParaRPr sz="1400" b="0" i="0" u="none" strike="noStrike" cap="none">
              <a:solidFill>
                <a:srgbClr val="000000"/>
              </a:solidFill>
              <a:latin typeface="Arial"/>
              <a:ea typeface="Arial"/>
              <a:cs typeface="Arial"/>
              <a:sym typeface="Arial"/>
            </a:endParaRPr>
          </a:p>
        </p:txBody>
      </p:sp>
      <p:pic>
        <p:nvPicPr>
          <p:cNvPr id="311" name="Google Shape;311;p40"/>
          <p:cNvPicPr preferRelativeResize="0"/>
          <p:nvPr/>
        </p:nvPicPr>
        <p:blipFill rotWithShape="1">
          <a:blip r:embed="rId4">
            <a:alphaModFix/>
          </a:blip>
          <a:srcRect/>
          <a:stretch/>
        </p:blipFill>
        <p:spPr>
          <a:xfrm>
            <a:off x="400158" y="1257958"/>
            <a:ext cx="4123913" cy="4095898"/>
          </a:xfrm>
          <a:prstGeom prst="rect">
            <a:avLst/>
          </a:prstGeom>
          <a:noFill/>
          <a:ln>
            <a:noFill/>
          </a:ln>
        </p:spPr>
      </p:pic>
      <p:pic>
        <p:nvPicPr>
          <p:cNvPr id="312" name="Google Shape;312;p40"/>
          <p:cNvPicPr preferRelativeResize="0"/>
          <p:nvPr/>
        </p:nvPicPr>
        <p:blipFill rotWithShape="1">
          <a:blip r:embed="rId5">
            <a:alphaModFix/>
          </a:blip>
          <a:srcRect/>
          <a:stretch/>
        </p:blipFill>
        <p:spPr>
          <a:xfrm>
            <a:off x="4524071" y="1257959"/>
            <a:ext cx="4140784" cy="4095897"/>
          </a:xfrm>
          <a:prstGeom prst="rect">
            <a:avLst/>
          </a:prstGeom>
          <a:noFill/>
          <a:ln>
            <a:noFill/>
          </a:ln>
        </p:spPr>
      </p:pic>
      <p:pic>
        <p:nvPicPr>
          <p:cNvPr id="313" name="Google Shape;313;p40"/>
          <p:cNvPicPr preferRelativeResize="0"/>
          <p:nvPr/>
        </p:nvPicPr>
        <p:blipFill rotWithShape="1">
          <a:blip r:embed="rId6">
            <a:alphaModFix/>
          </a:blip>
          <a:srcRect/>
          <a:stretch/>
        </p:blipFill>
        <p:spPr>
          <a:xfrm>
            <a:off x="8647983" y="1257958"/>
            <a:ext cx="3266111" cy="413501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pic>
        <p:nvPicPr>
          <p:cNvPr id="318" name="Google Shape;318;p41"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319" name="Google Shape;319;p41"/>
          <p:cNvSpPr txBox="1"/>
          <p:nvPr/>
        </p:nvSpPr>
        <p:spPr>
          <a:xfrm>
            <a:off x="632724" y="314959"/>
            <a:ext cx="7078129"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Inicio de sesión/registro </a:t>
            </a:r>
            <a:endParaRPr sz="1400" b="0" i="0" u="none" strike="noStrike" cap="none">
              <a:solidFill>
                <a:srgbClr val="000000"/>
              </a:solidFill>
              <a:latin typeface="Arial"/>
              <a:ea typeface="Arial"/>
              <a:cs typeface="Arial"/>
              <a:sym typeface="Arial"/>
            </a:endParaRPr>
          </a:p>
        </p:txBody>
      </p:sp>
      <p:pic>
        <p:nvPicPr>
          <p:cNvPr id="320" name="Google Shape;320;p41"/>
          <p:cNvPicPr preferRelativeResize="0"/>
          <p:nvPr/>
        </p:nvPicPr>
        <p:blipFill rotWithShape="1">
          <a:blip r:embed="rId4">
            <a:alphaModFix/>
          </a:blip>
          <a:srcRect/>
          <a:stretch/>
        </p:blipFill>
        <p:spPr>
          <a:xfrm>
            <a:off x="506538" y="1291687"/>
            <a:ext cx="5466650" cy="4274626"/>
          </a:xfrm>
          <a:prstGeom prst="rect">
            <a:avLst/>
          </a:prstGeom>
          <a:noFill/>
          <a:ln>
            <a:noFill/>
          </a:ln>
        </p:spPr>
      </p:pic>
      <p:pic>
        <p:nvPicPr>
          <p:cNvPr id="321" name="Google Shape;321;p41"/>
          <p:cNvPicPr preferRelativeResize="0"/>
          <p:nvPr/>
        </p:nvPicPr>
        <p:blipFill rotWithShape="1">
          <a:blip r:embed="rId5">
            <a:alphaModFix/>
          </a:blip>
          <a:srcRect/>
          <a:stretch/>
        </p:blipFill>
        <p:spPr>
          <a:xfrm>
            <a:off x="5973188" y="1291687"/>
            <a:ext cx="5940906" cy="42746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p43"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327" name="Google Shape;327;p43"/>
          <p:cNvSpPr txBox="1"/>
          <p:nvPr/>
        </p:nvSpPr>
        <p:spPr>
          <a:xfrm>
            <a:off x="819501" y="3148667"/>
            <a:ext cx="6421790"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13. GitHub</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1"/>
        <p:cNvGrpSpPr/>
        <p:nvPr/>
      </p:nvGrpSpPr>
      <p:grpSpPr>
        <a:xfrm>
          <a:off x="0" y="0"/>
          <a:ext cx="0" cy="0"/>
          <a:chOff x="0" y="0"/>
          <a:chExt cx="0" cy="0"/>
        </a:xfrm>
      </p:grpSpPr>
      <p:sp>
        <p:nvSpPr>
          <p:cNvPr id="332" name="Google Shape;332;p44"/>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333" name="Google Shape;333;p44"/>
          <p:cNvGrpSpPr/>
          <p:nvPr/>
        </p:nvGrpSpPr>
        <p:grpSpPr>
          <a:xfrm rot="5400000">
            <a:off x="-1564726" y="1890469"/>
            <a:ext cx="5860051" cy="2079143"/>
            <a:chOff x="6081624" y="1998368"/>
            <a:chExt cx="5613457" cy="782175"/>
          </a:xfrm>
        </p:grpSpPr>
        <p:sp>
          <p:nvSpPr>
            <p:cNvPr id="334" name="Google Shape;334;p44"/>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5" name="Google Shape;335;p44"/>
            <p:cNvSpPr/>
            <p:nvPr/>
          </p:nvSpPr>
          <p:spPr>
            <a:xfrm rot="10800000">
              <a:off x="6081624" y="1998844"/>
              <a:ext cx="5372968"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336" name="Google Shape;336;p44"/>
          <p:cNvSpPr/>
          <p:nvPr/>
        </p:nvSpPr>
        <p:spPr>
          <a:xfrm>
            <a:off x="579528" y="466344"/>
            <a:ext cx="11111729" cy="5917827"/>
          </a:xfrm>
          <a:prstGeom prst="rect">
            <a:avLst/>
          </a:prstGeom>
          <a:solidFill>
            <a:schemeClr val="lt1"/>
          </a:solidFill>
          <a:ln>
            <a:noFill/>
          </a:ln>
          <a:effectLst>
            <a:outerShdw blurRad="139700" dist="127000" dir="5400000" algn="t" rotWithShape="0">
              <a:srgbClr val="000000">
                <a:alpha val="1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337" name="Google Shape;337;p44"/>
          <p:cNvPicPr preferRelativeResize="0"/>
          <p:nvPr/>
        </p:nvPicPr>
        <p:blipFill rotWithShape="1">
          <a:blip r:embed="rId3">
            <a:alphaModFix/>
          </a:blip>
          <a:srcRect l="19408" r="1" b="1"/>
          <a:stretch/>
        </p:blipFill>
        <p:spPr>
          <a:xfrm>
            <a:off x="838200" y="704765"/>
            <a:ext cx="10628376" cy="544000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p45"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
        <p:nvSpPr>
          <p:cNvPr id="343" name="Google Shape;343;p45"/>
          <p:cNvSpPr txBox="1"/>
          <p:nvPr/>
        </p:nvSpPr>
        <p:spPr>
          <a:xfrm>
            <a:off x="318056" y="2868334"/>
            <a:ext cx="6421790"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14. Base de datos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p:nvPr/>
        </p:nvSpPr>
        <p:spPr>
          <a:xfrm>
            <a:off x="357384" y="2868334"/>
            <a:ext cx="9553531"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14.1 Diagrama entidad relación y relacional</a:t>
            </a:r>
            <a:endParaRPr sz="1400" b="0" i="0" u="none" strike="noStrike" cap="none">
              <a:solidFill>
                <a:srgbClr val="000000"/>
              </a:solidFill>
              <a:latin typeface="Arial"/>
              <a:ea typeface="Arial"/>
              <a:cs typeface="Arial"/>
              <a:sym typeface="Arial"/>
            </a:endParaRPr>
          </a:p>
        </p:txBody>
      </p:sp>
      <p:pic>
        <p:nvPicPr>
          <p:cNvPr id="349" name="Google Shape;349;p49"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4" name="Google Shape;354;p50">
            <a:hlinkClick r:id="rId3"/>
          </p:cNvPr>
          <p:cNvPicPr preferRelativeResize="0"/>
          <p:nvPr/>
        </p:nvPicPr>
        <p:blipFill rotWithShape="1">
          <a:blip r:embed="rId4">
            <a:alphaModFix/>
          </a:blip>
          <a:srcRect/>
          <a:stretch/>
        </p:blipFill>
        <p:spPr>
          <a:xfrm>
            <a:off x="0" y="0"/>
            <a:ext cx="12192000" cy="685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359" name="Google Shape;359;p51">
            <a:hlinkClick r:id="rId3"/>
          </p:cNvPr>
          <p:cNvPicPr preferRelativeResize="0"/>
          <p:nvPr/>
        </p:nvPicPr>
        <p:blipFill rotWithShape="1">
          <a:blip r:embed="rId4">
            <a:alphaModFix/>
          </a:blip>
          <a:srcRect/>
          <a:stretch/>
        </p:blipFill>
        <p:spPr>
          <a:xfrm>
            <a:off x="1956618" y="0"/>
            <a:ext cx="8858865"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pic>
        <p:nvPicPr>
          <p:cNvPr id="364" name="Google Shape;364;p52"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
        <p:nvSpPr>
          <p:cNvPr id="365" name="Google Shape;365;p52"/>
          <p:cNvSpPr txBox="1"/>
          <p:nvPr/>
        </p:nvSpPr>
        <p:spPr>
          <a:xfrm>
            <a:off x="318056" y="2868334"/>
            <a:ext cx="6421790"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14.2 Normalización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370" name="Google Shape;370;p53"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
        <p:nvSpPr>
          <p:cNvPr id="371" name="Google Shape;371;p53"/>
          <p:cNvSpPr txBox="1"/>
          <p:nvPr/>
        </p:nvSpPr>
        <p:spPr>
          <a:xfrm>
            <a:off x="4525418" y="1453931"/>
            <a:ext cx="204978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MX" sz="1400" b="0" i="0" u="none" strike="noStrike" cap="none">
                <a:solidFill>
                  <a:srgbClr val="000000"/>
                </a:solidFill>
                <a:latin typeface="Arial"/>
                <a:ea typeface="Arial"/>
                <a:cs typeface="Arial"/>
                <a:sym typeface="Arial"/>
              </a:rPr>
              <a:t>INFORMACION AQUI</a:t>
            </a:r>
            <a:endParaRPr sz="1400" b="0" i="0" u="none" strike="noStrike" cap="none">
              <a:solidFill>
                <a:srgbClr val="000000"/>
              </a:solidFill>
              <a:latin typeface="Arial"/>
              <a:ea typeface="Arial"/>
              <a:cs typeface="Arial"/>
              <a:sym typeface="Arial"/>
            </a:endParaRPr>
          </a:p>
        </p:txBody>
      </p:sp>
      <p:cxnSp>
        <p:nvCxnSpPr>
          <p:cNvPr id="372" name="Google Shape;372;p53"/>
          <p:cNvCxnSpPr/>
          <p:nvPr/>
        </p:nvCxnSpPr>
        <p:spPr>
          <a:xfrm>
            <a:off x="5550308" y="1746291"/>
            <a:ext cx="0" cy="477083"/>
          </a:xfrm>
          <a:prstGeom prst="straightConnector1">
            <a:avLst/>
          </a:prstGeom>
          <a:noFill/>
          <a:ln w="9525" cap="flat" cmpd="sng">
            <a:solidFill>
              <a:srgbClr val="3E6EC2"/>
            </a:solidFill>
            <a:prstDash val="solid"/>
            <a:round/>
            <a:headEnd type="none" w="sm" len="sm"/>
            <a:tailEnd type="triangle" w="med" len="med"/>
          </a:ln>
        </p:spPr>
      </p:cxnSp>
      <p:pic>
        <p:nvPicPr>
          <p:cNvPr id="373" name="Google Shape;373;p53">
            <a:hlinkClick r:id="rId4"/>
          </p:cNvPr>
          <p:cNvPicPr preferRelativeResize="0"/>
          <p:nvPr/>
        </p:nvPicPr>
        <p:blipFill rotWithShape="1">
          <a:blip r:embed="rId5">
            <a:alphaModFix/>
          </a:blip>
          <a:srcRect l="2070" r="-2070"/>
          <a:stretch/>
        </p:blipFill>
        <p:spPr>
          <a:xfrm>
            <a:off x="996624" y="2302600"/>
            <a:ext cx="9559502" cy="34450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pic>
        <p:nvPicPr>
          <p:cNvPr id="378" name="Google Shape;378;p47"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
        <p:nvSpPr>
          <p:cNvPr id="379" name="Google Shape;379;p47"/>
          <p:cNvSpPr txBox="1"/>
          <p:nvPr/>
        </p:nvSpPr>
        <p:spPr>
          <a:xfrm>
            <a:off x="357385" y="2868334"/>
            <a:ext cx="6421790"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14.3 Diccionario de datos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48">
            <a:hlinkClick r:id="rId3"/>
          </p:cNvPr>
          <p:cNvPicPr preferRelativeResize="0"/>
          <p:nvPr/>
        </p:nvPicPr>
        <p:blipFill rotWithShape="1">
          <a:blip r:embed="rId4">
            <a:alphaModFix/>
          </a:blip>
          <a:srcRect/>
          <a:stretch/>
        </p:blipFill>
        <p:spPr>
          <a:xfrm>
            <a:off x="0" y="548641"/>
            <a:ext cx="12192000" cy="595884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89" name="Google Shape;389;p56"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
        <p:nvSpPr>
          <p:cNvPr id="390" name="Google Shape;390;p56"/>
          <p:cNvSpPr txBox="1"/>
          <p:nvPr/>
        </p:nvSpPr>
        <p:spPr>
          <a:xfrm>
            <a:off x="357384" y="2868334"/>
            <a:ext cx="10615415"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	15. DIAGRAMA CASOS DE USO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pic>
        <p:nvPicPr>
          <p:cNvPr id="395" name="Google Shape;395;p57">
            <a:hlinkClick r:id="rId3"/>
          </p:cNvPr>
          <p:cNvPicPr preferRelativeResize="0"/>
          <p:nvPr/>
        </p:nvPicPr>
        <p:blipFill rotWithShape="1">
          <a:blip r:embed="rId4">
            <a:alphaModFix/>
          </a:blip>
          <a:srcRect/>
          <a:stretch/>
        </p:blipFill>
        <p:spPr>
          <a:xfrm>
            <a:off x="0" y="0"/>
            <a:ext cx="12192000" cy="68199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p54"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
        <p:nvSpPr>
          <p:cNvPr id="401" name="Google Shape;401;p54"/>
          <p:cNvSpPr txBox="1"/>
          <p:nvPr/>
        </p:nvSpPr>
        <p:spPr>
          <a:xfrm>
            <a:off x="357384" y="2868334"/>
            <a:ext cx="10615415"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	15.1 DOCUMENTACIÓN DE CASO DE USO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55"/>
          <p:cNvSpPr txBox="1"/>
          <p:nvPr/>
        </p:nvSpPr>
        <p:spPr>
          <a:xfrm>
            <a:off x="5132439" y="1032386"/>
            <a:ext cx="909483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MX" sz="1400" b="0" i="0" u="none" strike="noStrike" cap="none">
                <a:solidFill>
                  <a:srgbClr val="000000"/>
                </a:solidFill>
                <a:latin typeface="Arial"/>
                <a:ea typeface="Arial"/>
                <a:cs typeface="Arial"/>
                <a:sym typeface="Arial"/>
              </a:rPr>
              <a:t>DOCUMENTACION</a:t>
            </a:r>
            <a:endParaRPr sz="1400" b="0" i="0" u="none" strike="noStrike" cap="none">
              <a:solidFill>
                <a:srgbClr val="000000"/>
              </a:solidFill>
              <a:latin typeface="Arial"/>
              <a:ea typeface="Arial"/>
              <a:cs typeface="Arial"/>
              <a:sym typeface="Arial"/>
            </a:endParaRPr>
          </a:p>
        </p:txBody>
      </p:sp>
      <p:pic>
        <p:nvPicPr>
          <p:cNvPr id="407" name="Google Shape;407;p55" descr="icono de documento de google 17395386 PNG">
            <a:hlinkClick r:id="rId3"/>
          </p:cNvPr>
          <p:cNvPicPr preferRelativeResize="0"/>
          <p:nvPr/>
        </p:nvPicPr>
        <p:blipFill rotWithShape="1">
          <a:blip r:embed="rId4">
            <a:alphaModFix/>
          </a:blip>
          <a:srcRect/>
          <a:stretch/>
        </p:blipFill>
        <p:spPr>
          <a:xfrm>
            <a:off x="3522366" y="1186274"/>
            <a:ext cx="5147268" cy="5147268"/>
          </a:xfrm>
          <a:prstGeom prst="rect">
            <a:avLst/>
          </a:prstGeom>
          <a:noFill/>
          <a:ln>
            <a:noFill/>
          </a:ln>
        </p:spPr>
      </p:pic>
      <p:pic>
        <p:nvPicPr>
          <p:cNvPr id="408" name="Google Shape;408;p55" descr="Servicio Nacional de Aprendizaje - SENA | Bogota.gov.co"/>
          <p:cNvPicPr preferRelativeResize="0"/>
          <p:nvPr/>
        </p:nvPicPr>
        <p:blipFill rotWithShape="1">
          <a:blip r:embed="rId5">
            <a:alphaModFix/>
          </a:blip>
          <a:srcRect/>
          <a:stretch/>
        </p:blipFill>
        <p:spPr>
          <a:xfrm>
            <a:off x="11252880" y="216636"/>
            <a:ext cx="651382" cy="63686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pic>
        <p:nvPicPr>
          <p:cNvPr id="413" name="Google Shape;413;p58"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
        <p:nvSpPr>
          <p:cNvPr id="414" name="Google Shape;414;p58"/>
          <p:cNvSpPr txBox="1"/>
          <p:nvPr/>
        </p:nvSpPr>
        <p:spPr>
          <a:xfrm>
            <a:off x="357384" y="2868334"/>
            <a:ext cx="10615415" cy="5606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	16. PLATAFORMA TECNOLÓGICA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graphicFrame>
        <p:nvGraphicFramePr>
          <p:cNvPr id="419" name="Google Shape;419;p59"/>
          <p:cNvGraphicFramePr/>
          <p:nvPr/>
        </p:nvGraphicFramePr>
        <p:xfrm>
          <a:off x="2032000" y="719666"/>
          <a:ext cx="3000000" cy="3000000"/>
        </p:xfrm>
        <a:graphic>
          <a:graphicData uri="http://schemas.openxmlformats.org/drawingml/2006/table">
            <a:tbl>
              <a:tblPr firstRow="1" bandRow="1">
                <a:noFill/>
                <a:tableStyleId>{9E162717-495E-49A1-95A1-FCD24B269607}</a:tableStyleId>
              </a:tblPr>
              <a:tblGrid>
                <a:gridCol w="3811650">
                  <a:extLst>
                    <a:ext uri="{9D8B030D-6E8A-4147-A177-3AD203B41FA5}">
                      <a16:colId xmlns:a16="http://schemas.microsoft.com/office/drawing/2014/main" val="20000"/>
                    </a:ext>
                  </a:extLst>
                </a:gridCol>
                <a:gridCol w="3811650">
                  <a:extLst>
                    <a:ext uri="{9D8B030D-6E8A-4147-A177-3AD203B41FA5}">
                      <a16:colId xmlns:a16="http://schemas.microsoft.com/office/drawing/2014/main" val="20001"/>
                    </a:ext>
                  </a:extLst>
                </a:gridCol>
              </a:tblGrid>
              <a:tr h="451550">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ELEMENTO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TECNOLOGIA</a:t>
                      </a:r>
                      <a:endParaRPr sz="1400" u="none" strike="noStrike" cap="none"/>
                    </a:p>
                  </a:txBody>
                  <a:tcPr marL="91450" marR="91450" marT="45725" marB="45725"/>
                </a:tc>
                <a:extLst>
                  <a:ext uri="{0D108BD9-81ED-4DB2-BD59-A6C34878D82A}">
                    <a16:rowId xmlns:a16="http://schemas.microsoft.com/office/drawing/2014/main" val="10000"/>
                  </a:ext>
                </a:extLst>
              </a:tr>
              <a:tr h="451550">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Fronted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HTML, CSS , JAVA SCRIPT</a:t>
                      </a:r>
                      <a:endParaRPr sz="1400" u="none" strike="noStrike" cap="none"/>
                    </a:p>
                  </a:txBody>
                  <a:tcPr marL="91450" marR="91450" marT="45725" marB="45725"/>
                </a:tc>
                <a:extLst>
                  <a:ext uri="{0D108BD9-81ED-4DB2-BD59-A6C34878D82A}">
                    <a16:rowId xmlns:a16="http://schemas.microsoft.com/office/drawing/2014/main" val="10001"/>
                  </a:ext>
                </a:extLst>
              </a:tr>
              <a:tr h="451550">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Backend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PHP, j</a:t>
                      </a:r>
                      <a:r>
                        <a:rPr lang="es-MX" sz="1400" b="0" i="0" u="none" strike="noStrike" cap="none">
                          <a:solidFill>
                            <a:srgbClr val="000000"/>
                          </a:solidFill>
                          <a:latin typeface="Arial"/>
                          <a:ea typeface="Arial"/>
                          <a:cs typeface="Arial"/>
                          <a:sym typeface="Arial"/>
                        </a:rPr>
                        <a:t>avaScript </a:t>
                      </a:r>
                      <a:endParaRPr sz="1400" u="none" strike="noStrike" cap="none"/>
                    </a:p>
                  </a:txBody>
                  <a:tcPr marL="91450" marR="91450" marT="45725" marB="45725"/>
                </a:tc>
                <a:extLst>
                  <a:ext uri="{0D108BD9-81ED-4DB2-BD59-A6C34878D82A}">
                    <a16:rowId xmlns:a16="http://schemas.microsoft.com/office/drawing/2014/main" val="10002"/>
                  </a:ext>
                </a:extLst>
              </a:tr>
              <a:tr h="451550">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Base de datos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MY SQL</a:t>
                      </a:r>
                      <a:endParaRPr sz="1400" u="none" strike="noStrike" cap="none"/>
                    </a:p>
                  </a:txBody>
                  <a:tcPr marL="91450" marR="91450" marT="45725" marB="45725"/>
                </a:tc>
                <a:extLst>
                  <a:ext uri="{0D108BD9-81ED-4DB2-BD59-A6C34878D82A}">
                    <a16:rowId xmlns:a16="http://schemas.microsoft.com/office/drawing/2014/main" val="10003"/>
                  </a:ext>
                </a:extLst>
              </a:tr>
              <a:tr h="451550">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Servidor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APACHE</a:t>
                      </a:r>
                      <a:endParaRPr sz="1400" u="none" strike="noStrike" cap="none"/>
                    </a:p>
                  </a:txBody>
                  <a:tcPr marL="91450" marR="91450" marT="45725" marB="45725"/>
                </a:tc>
                <a:extLst>
                  <a:ext uri="{0D108BD9-81ED-4DB2-BD59-A6C34878D82A}">
                    <a16:rowId xmlns:a16="http://schemas.microsoft.com/office/drawing/2014/main" val="10004"/>
                  </a:ext>
                </a:extLst>
              </a:tr>
              <a:tr h="451550">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Sistema operativo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WINDOWS Y ANDROID</a:t>
                      </a:r>
                      <a:endParaRPr sz="1400" u="none" strike="noStrike" cap="none"/>
                    </a:p>
                  </a:txBody>
                  <a:tcPr marL="91450" marR="91450" marT="45725" marB="45725"/>
                </a:tc>
                <a:extLst>
                  <a:ext uri="{0D108BD9-81ED-4DB2-BD59-A6C34878D82A}">
                    <a16:rowId xmlns:a16="http://schemas.microsoft.com/office/drawing/2014/main" val="10005"/>
                  </a:ext>
                </a:extLst>
              </a:tr>
              <a:tr h="451550">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Control De versiones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MX" sz="1400" u="none" strike="noStrike" cap="none"/>
                        <a:t>GIT Y GITHUB</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pic>
        <p:nvPicPr>
          <p:cNvPr id="420" name="Google Shape;420;p59"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pic>
        <p:nvPicPr>
          <p:cNvPr id="425" name="Google Shape;425;g3ed651dca4a_1_12"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
        <p:nvSpPr>
          <p:cNvPr id="426" name="Google Shape;426;g3ed651dca4a_1_12"/>
          <p:cNvSpPr txBox="1"/>
          <p:nvPr/>
        </p:nvSpPr>
        <p:spPr>
          <a:xfrm>
            <a:off x="357384" y="2868334"/>
            <a:ext cx="10615500" cy="5607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	17. Ficha técnica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g3ed651dca4a_1_25"/>
          <p:cNvSpPr txBox="1">
            <a:spLocks noGrp="1"/>
          </p:cNvSpPr>
          <p:nvPr>
            <p:ph type="body" idx="1"/>
          </p:nvPr>
        </p:nvSpPr>
        <p:spPr>
          <a:xfrm>
            <a:off x="9130100" y="1214350"/>
            <a:ext cx="2512500" cy="579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s-MX" sz="1800">
                <a:solidFill>
                  <a:schemeClr val="dk1"/>
                </a:solidFill>
              </a:rPr>
              <a:t>Ficha completa </a:t>
            </a:r>
            <a:endParaRPr sz="1800">
              <a:solidFill>
                <a:schemeClr val="dk1"/>
              </a:solidFill>
            </a:endParaRPr>
          </a:p>
        </p:txBody>
      </p:sp>
      <p:pic>
        <p:nvPicPr>
          <p:cNvPr id="432" name="Google Shape;432;g3ed651dca4a_1_25" descr="Servicio Nacional de Aprendizaje - SENA | Bogota.gov.co"/>
          <p:cNvPicPr preferRelativeResize="0"/>
          <p:nvPr/>
        </p:nvPicPr>
        <p:blipFill rotWithShape="1">
          <a:blip r:embed="rId3">
            <a:alphaModFix/>
          </a:blip>
          <a:srcRect/>
          <a:stretch/>
        </p:blipFill>
        <p:spPr>
          <a:xfrm>
            <a:off x="11262712" y="314959"/>
            <a:ext cx="651382" cy="636867"/>
          </a:xfrm>
          <a:prstGeom prst="rect">
            <a:avLst/>
          </a:prstGeom>
          <a:noFill/>
          <a:ln>
            <a:noFill/>
          </a:ln>
        </p:spPr>
      </p:pic>
      <p:sp>
        <p:nvSpPr>
          <p:cNvPr id="433" name="Google Shape;433;g3ed651dca4a_1_25"/>
          <p:cNvSpPr txBox="1"/>
          <p:nvPr/>
        </p:nvSpPr>
        <p:spPr>
          <a:xfrm>
            <a:off x="368169" y="455785"/>
            <a:ext cx="8853600" cy="6369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br>
              <a:rPr lang="es-MX" sz="4800" b="1" i="0" u="none" strike="noStrike" cap="none">
                <a:solidFill>
                  <a:schemeClr val="dk1"/>
                </a:solidFill>
                <a:latin typeface="Work Sans"/>
                <a:ea typeface="Work Sans"/>
                <a:cs typeface="Work Sans"/>
                <a:sym typeface="Work Sans"/>
              </a:rPr>
            </a:br>
            <a:br>
              <a:rPr lang="es-MX" sz="1100" b="1" i="0" u="none" strike="noStrike" cap="none">
                <a:solidFill>
                  <a:schemeClr val="dk1"/>
                </a:solidFill>
                <a:latin typeface="Work Sans"/>
                <a:ea typeface="Work Sans"/>
                <a:cs typeface="Work Sans"/>
                <a:sym typeface="Work Sans"/>
              </a:rPr>
            </a:br>
            <a:r>
              <a:rPr lang="es-MX" sz="4000" b="1" i="0" u="none" strike="noStrike" cap="none">
                <a:solidFill>
                  <a:srgbClr val="000000"/>
                </a:solidFill>
                <a:latin typeface="Work Sans"/>
                <a:ea typeface="Work Sans"/>
                <a:cs typeface="Work Sans"/>
                <a:sym typeface="Work Sans"/>
              </a:rPr>
              <a:t>Requisitos del sistema </a:t>
            </a:r>
            <a:endParaRPr sz="4000" b="1" i="0" u="none" strike="noStrike" cap="none">
              <a:solidFill>
                <a:schemeClr val="dk1"/>
              </a:solidFill>
              <a:latin typeface="Work Sans"/>
              <a:ea typeface="Work Sans"/>
              <a:cs typeface="Work Sans"/>
              <a:sym typeface="Work Sans"/>
            </a:endParaRPr>
          </a:p>
        </p:txBody>
      </p:sp>
      <p:graphicFrame>
        <p:nvGraphicFramePr>
          <p:cNvPr id="434" name="Google Shape;434;g3ed651dca4a_1_25"/>
          <p:cNvGraphicFramePr/>
          <p:nvPr/>
        </p:nvGraphicFramePr>
        <p:xfrm>
          <a:off x="368163" y="1388400"/>
          <a:ext cx="3000000" cy="3000000"/>
        </p:xfrm>
        <a:graphic>
          <a:graphicData uri="http://schemas.openxmlformats.org/drawingml/2006/table">
            <a:tbl>
              <a:tblPr bandRow="1">
                <a:noFill/>
                <a:tableStyleId>{1F3786CA-8E7E-46C4-8C7D-C98C2926EA20}</a:tableStyleId>
              </a:tblPr>
              <a:tblGrid>
                <a:gridCol w="1306325">
                  <a:extLst>
                    <a:ext uri="{9D8B030D-6E8A-4147-A177-3AD203B41FA5}">
                      <a16:colId xmlns:a16="http://schemas.microsoft.com/office/drawing/2014/main" val="20000"/>
                    </a:ext>
                  </a:extLst>
                </a:gridCol>
                <a:gridCol w="2387025">
                  <a:extLst>
                    <a:ext uri="{9D8B030D-6E8A-4147-A177-3AD203B41FA5}">
                      <a16:colId xmlns:a16="http://schemas.microsoft.com/office/drawing/2014/main" val="20001"/>
                    </a:ext>
                  </a:extLst>
                </a:gridCol>
                <a:gridCol w="2802675">
                  <a:extLst>
                    <a:ext uri="{9D8B030D-6E8A-4147-A177-3AD203B41FA5}">
                      <a16:colId xmlns:a16="http://schemas.microsoft.com/office/drawing/2014/main" val="20002"/>
                    </a:ext>
                  </a:extLst>
                </a:gridCol>
              </a:tblGrid>
              <a:tr h="284425">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Componente</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Mínimos</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Recomendadas</a:t>
                      </a:r>
                      <a:endParaRPr sz="1200" u="none" strike="noStrike" cap="none"/>
                    </a:p>
                  </a:txBody>
                  <a:tcPr marL="73025" marR="73025" marT="0" marB="0"/>
                </a:tc>
                <a:extLst>
                  <a:ext uri="{0D108BD9-81ED-4DB2-BD59-A6C34878D82A}">
                    <a16:rowId xmlns:a16="http://schemas.microsoft.com/office/drawing/2014/main" val="10000"/>
                  </a:ext>
                </a:extLst>
              </a:tr>
              <a:tr h="152400">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Procesador</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Intel Celeron o Pentium de 1 GHz</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Intel core i5</a:t>
                      </a:r>
                      <a:endParaRPr sz="1200" u="none" strike="noStrike" cap="none"/>
                    </a:p>
                  </a:txBody>
                  <a:tcPr marL="73025" marR="73025" marT="0" marB="0"/>
                </a:tc>
                <a:extLst>
                  <a:ext uri="{0D108BD9-81ED-4DB2-BD59-A6C34878D82A}">
                    <a16:rowId xmlns:a16="http://schemas.microsoft.com/office/drawing/2014/main" val="10001"/>
                  </a:ext>
                </a:extLst>
              </a:tr>
              <a:tr h="152400">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Memoria RAM</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1 GB mínimo</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4 GB o Superior</a:t>
                      </a:r>
                      <a:endParaRPr sz="1200" u="none" strike="noStrike" cap="none"/>
                    </a:p>
                  </a:txBody>
                  <a:tcPr marL="73025" marR="73025" marT="0" marB="0"/>
                </a:tc>
                <a:extLst>
                  <a:ext uri="{0D108BD9-81ED-4DB2-BD59-A6C34878D82A}">
                    <a16:rowId xmlns:a16="http://schemas.microsoft.com/office/drawing/2014/main" val="10002"/>
                  </a:ext>
                </a:extLst>
              </a:tr>
              <a:tr h="152400">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Disco Duro</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1.5 GB disponibles</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240GB mínimo </a:t>
                      </a:r>
                      <a:endParaRPr sz="1200" u="none" strike="noStrike" cap="none"/>
                    </a:p>
                  </a:txBody>
                  <a:tcPr marL="73025" marR="73025" marT="0" marB="0"/>
                </a:tc>
                <a:extLst>
                  <a:ext uri="{0D108BD9-81ED-4DB2-BD59-A6C34878D82A}">
                    <a16:rowId xmlns:a16="http://schemas.microsoft.com/office/drawing/2014/main" val="10003"/>
                  </a:ext>
                </a:extLst>
              </a:tr>
              <a:tr h="35550">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Monitor</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Resolución 1920 x 1080</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(2560x1440) </a:t>
                      </a:r>
                      <a:endParaRPr sz="1200" u="none" strike="noStrike" cap="none"/>
                    </a:p>
                  </a:txBody>
                  <a:tcPr marL="73025" marR="73025" marT="0" marB="0"/>
                </a:tc>
                <a:extLst>
                  <a:ext uri="{0D108BD9-81ED-4DB2-BD59-A6C34878D82A}">
                    <a16:rowId xmlns:a16="http://schemas.microsoft.com/office/drawing/2014/main" val="10004"/>
                  </a:ext>
                </a:extLst>
              </a:tr>
              <a:tr h="152400">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Conexión</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Acceso a Internet</a:t>
                      </a:r>
                      <a:endParaRPr sz="1200" u="none" strike="noStrike" cap="none"/>
                    </a:p>
                  </a:txBody>
                  <a:tcPr marL="73025" marR="73025" marT="0" marB="0" anchor="ctr"/>
                </a:tc>
                <a:tc>
                  <a:txBody>
                    <a:bodyPr/>
                    <a:lstStyle/>
                    <a:p>
                      <a:pPr marL="0" marR="0" lvl="0" indent="0" algn="l" rtl="0">
                        <a:lnSpc>
                          <a:spcPct val="100000"/>
                        </a:lnSpc>
                        <a:spcBef>
                          <a:spcPts val="0"/>
                        </a:spcBef>
                        <a:spcAft>
                          <a:spcPts val="0"/>
                        </a:spcAft>
                        <a:buClr>
                          <a:srgbClr val="000000"/>
                        </a:buClr>
                        <a:buSzPts val="1200"/>
                        <a:buFont typeface="Arial"/>
                        <a:buNone/>
                      </a:pPr>
                      <a:r>
                        <a:rPr lang="es-MX" sz="1200" u="none" strike="noStrike" cap="none">
                          <a:solidFill>
                            <a:srgbClr val="0F1115"/>
                          </a:solidFill>
                        </a:rPr>
                        <a:t>5 Mbps o superior</a:t>
                      </a:r>
                      <a:endParaRPr sz="1200" u="none" strike="noStrike" cap="none"/>
                    </a:p>
                  </a:txBody>
                  <a:tcPr marL="73025" marR="73025" marT="0" marB="0"/>
                </a:tc>
                <a:extLst>
                  <a:ext uri="{0D108BD9-81ED-4DB2-BD59-A6C34878D82A}">
                    <a16:rowId xmlns:a16="http://schemas.microsoft.com/office/drawing/2014/main" val="10005"/>
                  </a:ext>
                </a:extLst>
              </a:tr>
              <a:tr h="152400">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Almacenamiento</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500 MB</a:t>
                      </a:r>
                      <a:endParaRPr sz="1200" u="none" strike="noStrike" cap="none"/>
                    </a:p>
                  </a:txBody>
                  <a:tcPr marL="73025" marR="73025" marT="0" marB="0" anchor="ctr"/>
                </a:tc>
                <a:tc>
                  <a:txBody>
                    <a:bodyPr/>
                    <a:lstStyle/>
                    <a:p>
                      <a:pPr marL="0" marR="0" lvl="0" indent="0" algn="l" rtl="0">
                        <a:lnSpc>
                          <a:spcPct val="115833"/>
                        </a:lnSpc>
                        <a:spcBef>
                          <a:spcPts val="0"/>
                        </a:spcBef>
                        <a:spcAft>
                          <a:spcPts val="0"/>
                        </a:spcAft>
                        <a:buClr>
                          <a:srgbClr val="000000"/>
                        </a:buClr>
                        <a:buSzPts val="1200"/>
                        <a:buFont typeface="Arial"/>
                        <a:buNone/>
                      </a:pPr>
                      <a:r>
                        <a:rPr lang="es-MX" sz="1200" u="none" strike="noStrike" cap="none"/>
                        <a:t>256 GB</a:t>
                      </a:r>
                      <a:endParaRPr sz="1200" u="none" strike="noStrike" cap="none"/>
                    </a:p>
                  </a:txBody>
                  <a:tcPr marL="73025" marR="73025" marT="0" marB="0"/>
                </a:tc>
                <a:extLst>
                  <a:ext uri="{0D108BD9-81ED-4DB2-BD59-A6C34878D82A}">
                    <a16:rowId xmlns:a16="http://schemas.microsoft.com/office/drawing/2014/main" val="10006"/>
                  </a:ext>
                </a:extLst>
              </a:tr>
            </a:tbl>
          </a:graphicData>
        </a:graphic>
      </p:graphicFrame>
      <p:pic>
        <p:nvPicPr>
          <p:cNvPr id="435" name="Google Shape;435;g3ed651dca4a_1_25">
            <a:hlinkClick r:id="rId4"/>
          </p:cNvPr>
          <p:cNvPicPr preferRelativeResize="0"/>
          <p:nvPr/>
        </p:nvPicPr>
        <p:blipFill rotWithShape="1">
          <a:blip r:embed="rId5">
            <a:alphaModFix/>
          </a:blip>
          <a:srcRect/>
          <a:stretch/>
        </p:blipFill>
        <p:spPr>
          <a:xfrm>
            <a:off x="8784225" y="1794250"/>
            <a:ext cx="2269025" cy="29928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pic>
        <p:nvPicPr>
          <p:cNvPr id="440" name="Google Shape;440;g3ed651dca4a_1_50"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sp>
        <p:nvSpPr>
          <p:cNvPr id="441" name="Google Shape;441;g3ed651dca4a_1_50"/>
          <p:cNvSpPr txBox="1"/>
          <p:nvPr/>
        </p:nvSpPr>
        <p:spPr>
          <a:xfrm>
            <a:off x="788250" y="2868300"/>
            <a:ext cx="10615500" cy="5607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6000"/>
              <a:buFont typeface="Calibri"/>
              <a:buNone/>
            </a:pPr>
            <a:r>
              <a:rPr lang="es-MX" sz="3600" b="1" i="0" u="none" strike="noStrike" cap="none">
                <a:solidFill>
                  <a:srgbClr val="000000"/>
                </a:solidFill>
                <a:latin typeface="Work Sans"/>
                <a:ea typeface="Work Sans"/>
                <a:cs typeface="Work Sans"/>
                <a:sym typeface="Work Sans"/>
              </a:rPr>
              <a:t>	17.1 Diagrama de despliegue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7" name="Google Shape;447;g3ed651dca4a_1_55" descr="Servicio Nacional de Aprendizaje - SENA | Bogota.gov.co"/>
          <p:cNvPicPr preferRelativeResize="0"/>
          <p:nvPr/>
        </p:nvPicPr>
        <p:blipFill rotWithShape="1">
          <a:blip r:embed="rId3">
            <a:alphaModFix/>
          </a:blip>
          <a:srcRect/>
          <a:stretch/>
        </p:blipFill>
        <p:spPr>
          <a:xfrm>
            <a:off x="11252880" y="216636"/>
            <a:ext cx="651382" cy="636867"/>
          </a:xfrm>
          <a:prstGeom prst="rect">
            <a:avLst/>
          </a:prstGeom>
          <a:noFill/>
          <a:ln>
            <a:noFill/>
          </a:ln>
        </p:spPr>
      </p:pic>
      <p:pic>
        <p:nvPicPr>
          <p:cNvPr id="448" name="Google Shape;448;g3ed651dca4a_1_55" title="Diagrama de Despliegue.jpg">
            <a:hlinkClick r:id="rId4"/>
          </p:cNvPr>
          <p:cNvPicPr preferRelativeResize="0"/>
          <p:nvPr/>
        </p:nvPicPr>
        <p:blipFill rotWithShape="1">
          <a:blip r:embed="rId5">
            <a:alphaModFix/>
          </a:blip>
          <a:srcRect/>
          <a:stretch/>
        </p:blipFill>
        <p:spPr>
          <a:xfrm>
            <a:off x="259725" y="1857050"/>
            <a:ext cx="11672550" cy="37331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g3fb872700b3_0_0"/>
          <p:cNvSpPr txBox="1"/>
          <p:nvPr/>
        </p:nvSpPr>
        <p:spPr>
          <a:xfrm>
            <a:off x="3474720" y="2782669"/>
            <a:ext cx="680313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3600" b="1" i="0" u="none" strike="noStrike" cap="none">
                <a:solidFill>
                  <a:srgbClr val="000000"/>
                </a:solidFill>
                <a:latin typeface="Work Sans"/>
                <a:ea typeface="Work Sans"/>
                <a:cs typeface="Work Sans"/>
                <a:sym typeface="Work Sans"/>
              </a:rPr>
              <a:t>17.2 Sentencias SQL</a:t>
            </a:r>
            <a:endParaRPr sz="3600" b="1" i="0" u="none" strike="noStrike" cap="none">
              <a:solidFill>
                <a:srgbClr val="000000"/>
              </a:solidFill>
              <a:latin typeface="Work Sans"/>
              <a:ea typeface="Work Sans"/>
              <a:cs typeface="Work Sans"/>
              <a:sym typeface="Work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459" name="Google Shape;459;p46">
            <a:hlinkClick r:id="rId3"/>
          </p:cNvPr>
          <p:cNvPicPr preferRelativeResize="0"/>
          <p:nvPr/>
        </p:nvPicPr>
        <p:blipFill rotWithShape="1">
          <a:blip r:embed="rId4">
            <a:alphaModFix/>
          </a:blip>
          <a:srcRect/>
          <a:stretch/>
        </p:blipFill>
        <p:spPr>
          <a:xfrm>
            <a:off x="3763467" y="1188716"/>
            <a:ext cx="4665065" cy="448056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1815</Words>
  <Application>Microsoft Office PowerPoint</Application>
  <PresentationFormat>Panorámica</PresentationFormat>
  <Paragraphs>246</Paragraphs>
  <Slides>53</Slides>
  <Notes>53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53</vt:i4>
      </vt:variant>
    </vt:vector>
  </HeadingPairs>
  <TitlesOfParts>
    <vt:vector size="58" baseType="lpstr">
      <vt:lpstr>Cabin</vt:lpstr>
      <vt:lpstr>Work Sans</vt:lpstr>
      <vt:lpstr>Arial</vt:lpstr>
      <vt:lpstr>Calibri</vt:lpstr>
      <vt:lpstr>Tema de Office</vt:lpstr>
      <vt:lpstr>Presentación de PowerPoint</vt:lpstr>
      <vt:lpstr>Presentación de PowerPoint</vt:lpstr>
      <vt:lpstr>Tabla de contenido</vt:lpstr>
      <vt:lpstr>Presentación de PowerPoint</vt:lpstr>
      <vt:lpstr> 1. Contextualización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Enrique Pedraza Sanchez</dc:creator>
  <cp:lastModifiedBy>Johana Sierra</cp:lastModifiedBy>
  <cp:revision>2</cp:revision>
  <dcterms:created xsi:type="dcterms:W3CDTF">2026-02-23T14:47:00Z</dcterms:created>
  <dcterms:modified xsi:type="dcterms:W3CDTF">2026-09-18T02:14:54Z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ICV">
    <vt:lpwstr>AE9F2D10B67F4E72B60DF3F605D63AAD_12</vt:lpwstr>
  </property>
  <property fmtid="{D5CDD505-2E9C-101B-9397-08002B2CF9AE}" pid="10" name="KSOProductBuildVer">
    <vt:lpwstr>2058-12.2.0.23196</vt:lpwstr>
  </property>
</Properties>
</file>